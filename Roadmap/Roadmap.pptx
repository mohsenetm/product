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73" r:id="rId9"/>
    <p:sldId id="263" r:id="rId10"/>
    <p:sldId id="272" r:id="rId11"/>
    <p:sldId id="264" r:id="rId12"/>
    <p:sldId id="265" r:id="rId13"/>
    <p:sldId id="266" r:id="rId14"/>
    <p:sldId id="267" r:id="rId15"/>
    <p:sldId id="268" r:id="rId16"/>
    <p:sldId id="274" r:id="rId17"/>
    <p:sldId id="269" r:id="rId18"/>
    <p:sldId id="275" r:id="rId19"/>
    <p:sldId id="276" r:id="rId20"/>
    <p:sldId id="277" r:id="rId21"/>
    <p:sldId id="270" r:id="rId22"/>
    <p:sldId id="271"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2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103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want to walk you through the full build-out plan for our hotel booking platform. This isn't just databases — it's the whole stack. We've mapped roughly one hundred tasks across five tracks: database schema, admin CRUD, frontend components, public APIs, and the page integrations that pull it all together. I've grouped everything into a sequenced roadmap so you know what we're building, in what order, and how the tracks depend on each other.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Five tracks. Track one is the database schema — twenty-three tables. Track two is the admin CRUD layer that lets the operations team manage those tables. Track three is the frontend component library — header, footer, hotel cards, filters, the works. Track four is the public APIs that feed the website. Track five is the three page integrations that wire everything together — home, search results, and single hotel. Tracks one and two are pure backend; track three is pure frontend; tracks four and five are the seam between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one — the database schema. Twenty-three tables, grouped into four phases by domain. Hotels and rules. Rooms, rates, and inventory. Facilities and geography. And finally marketing, users, and system configuration. I'll go through each phase on the next slides. Worth noting up front: phase one is a hard dependency for almost everything else, so we land it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 Hotel Core. Five tables. Hotel is the root record. Hotel Type categorizes properties — boutique, resort, apartment. Hotel Group captures chains like Parsian or Homa. Hotel Rules holds check-in policies and cancellation terms. And Hotel Tag is the join table for descriptive tags. This is the spine — week one priority.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 Rooms, Rates and Inventory. Four tables. Room Type defines what's bookable. Availability is the high-volume table — date by date, room by room, count and price. This will get hammered on every search query so we index it carefully. Rate Plan layers pricing schemes on top — bed-and-breakfast, refundable, packages. Provider tracks where each external feed of availability and rates came from.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combines facilities and geography. Seven tables. On the facility side we have the master Facility list, the Group Facility buckets, the Facility Hotel pivot, and the editorial Tag table. Geography gives us Location for the country-province-city-neighborhood hierarchy, Landmark for nearby points of interest, and Category for the cross-cutting taxonomy that applies to both hotels and cities. None of these block phase two, so we can run them in parallel.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ties off the schema with marketing, users, and system tables. Seven tables. Banner and Promotion drive the marketing surfaces. QA holds FAQ and user-submitted questions. Users is the internal staff identity stack; Member is the customer-side stack — kept separate. Comment captures reviews and ratings, which feeds search ranking. And Setting holds global configuration that product can edit without a redeploy.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F4EE6-99F5-F351-A7CF-FDBEF4C40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B2C05-8889-34CD-A9A8-8F81D8788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720B4-22BB-A8B9-E07D-55CC3B381631}"/>
              </a:ext>
            </a:extLst>
          </p:cNvPr>
          <p:cNvSpPr>
            <a:spLocks noGrp="1"/>
          </p:cNvSpPr>
          <p:nvPr>
            <p:ph type="body" idx="1"/>
          </p:nvPr>
        </p:nvSpPr>
        <p:spPr/>
        <p:txBody>
          <a:bodyPr/>
          <a:lstStyle/>
          <a:p>
            <a:r>
              <a:rPr lang="en-US" dirty="0"/>
              <a:t>How we sequence the CRUD work. We bundle CRUD modules in the same phases as their underlying tables — Hotel CRUD with Hotel DB, Room CRUD with Room DB, and so on. The advantage: the operations team gets a usable admin tool for each domain as soon as the table is migrated. They start seeding real data while we build the next phase. By the time phase four DBs land, the ops team has been live for weeks.</a:t>
            </a:r>
          </a:p>
        </p:txBody>
      </p:sp>
      <p:sp>
        <p:nvSpPr>
          <p:cNvPr id="4" name="Slide Number Placeholder 3">
            <a:extLst>
              <a:ext uri="{FF2B5EF4-FFF2-40B4-BE49-F238E27FC236}">
                <a16:creationId xmlns:a16="http://schemas.microsoft.com/office/drawing/2014/main" id="{A8B9BA15-4FF2-F521-2D1C-D22AC3C0639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25355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two — Admin CRUD. Twenty-three CRUD modules, one per database table. Each one needs list view, create form, edit form, delete with confirmation, and validation. We standardize the interface so every admin page feels the same. This track lights up incrementally as each table lands — Hotel CRUD goes live the day Hotel DB is ready.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82B75-462F-088F-DF45-FC2D2A331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ADC6B-A93A-D9A3-5178-3AE5DBE59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CB7AF-C317-2C0D-D1CA-8FB3B90C6239}"/>
              </a:ext>
            </a:extLst>
          </p:cNvPr>
          <p:cNvSpPr>
            <a:spLocks noGrp="1"/>
          </p:cNvSpPr>
          <p:nvPr>
            <p:ph type="body" idx="1"/>
          </p:nvPr>
        </p:nvSpPr>
        <p:spPr/>
        <p:txBody>
          <a:bodyPr/>
          <a:lstStyle/>
          <a:p>
            <a:r>
              <a:rPr lang="en-US" dirty="0"/>
              <a:t>Track two — Admin CRUD. Twenty-three CRUD modules, one per database table. Each one needs list view, create form, edit form, delete with confirmation, and validation. We standardize the interface so every admin page feels the same. This track lights up incrementally as each table lands — Hotel CRUD goes live the day Hotel DB is ready.</a:t>
            </a:r>
          </a:p>
        </p:txBody>
      </p:sp>
      <p:sp>
        <p:nvSpPr>
          <p:cNvPr id="4" name="Slide Number Placeholder 3">
            <a:extLst>
              <a:ext uri="{FF2B5EF4-FFF2-40B4-BE49-F238E27FC236}">
                <a16:creationId xmlns:a16="http://schemas.microsoft.com/office/drawing/2014/main" id="{8164D4E0-3C7C-FAD6-B1C5-CDF905A7E4B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43269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sequence the CRUD work. We bundle CRUD modules in the same phases as their underlying tables — Hotel CRUD with Hotel DB, Room CRUD with Room DB, and so on. The advantage: the operations team gets a usable admin tool for each domain as soon as the table is migrated. They start seeding real data while we build the next phase. By the time phase four DBs land, the ops team has been live for weeks.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three — Frontend Component library. Thirty-three components, grouped by where they live. Site-wide chrome — header, footer, breadcrumb. Home page surfaces — hero, banners, hotel and city cards, sliders, search box pieces. Hotel detail page — gallery, room cards, reviews, rules accordion, sidebar. Search results page — filter sidebar, result cards, sort bar, infinite scroll, shimmers. We build the library bottom-up so individual pieces are testable in isolation before assembly.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page and shared components. Eleven components. The site shell — header, footer, breadcrumb. Hero section with the search widget on top. Tab list, select box, date picker, and guest selector together form the search box. Then the marketing surfaces — banner, hotel card, city card, quick links card, slider, section title, article block. Most of these are reusable across pages, so they ship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 detail page components. Eleven components specific to the single-hotel view. Header section with name, stars, address. Sticky in-page nav. Image gallery. Room cards. Facility items. The quick info sidebar. The booking widget sidebar with date picker and search button. Rating bars and the reviews section. Accordion items for the rules and about sections. Policies section. These build on the shared library — the search widget gets reused inside the booking sidebar, for instance.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results page components. Ten components. The top search widget for filter changes without leaving the page. Filter sidebar with all the criteria — price, stars, amenities. Quick filter tags for the common cases. The hotel result card — the most-viewed surface in the product. Sort and summary bar. Infinite scroll loader and shimmers for the loading states. SEO content block at the bottom. We treat the result card as the primary surface — it gets the most design and performance attention.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D5E65-B29B-7EA5-B9CB-CEE7614FE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D3C8A-B332-FDAD-710F-9D3791F86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8849B-DF0A-35CA-6374-F598FB4D5F23}"/>
              </a:ext>
            </a:extLst>
          </p:cNvPr>
          <p:cNvSpPr>
            <a:spLocks noGrp="1"/>
          </p:cNvSpPr>
          <p:nvPr>
            <p:ph type="body" idx="1"/>
          </p:nvPr>
        </p:nvSpPr>
        <p:spPr/>
        <p:txBody>
          <a:bodyPr/>
          <a:lstStyle/>
          <a:p>
            <a:r>
              <a:rPr lang="en-US" dirty="0"/>
              <a:t>How we sequence the CRUD work. We bundle CRUD modules in the same phases as their underlying tables — Hotel CRUD with Hotel DB, Room CRUD with Room DB, and so on. The advantage: the operations team gets a usable admin tool for each domain as soon as the table is migrated. They start seeding real data while we build the next phase. By the time phase four DBs land, the ops team has been live for weeks.</a:t>
            </a:r>
          </a:p>
        </p:txBody>
      </p:sp>
      <p:sp>
        <p:nvSpPr>
          <p:cNvPr id="4" name="Slide Number Placeholder 3">
            <a:extLst>
              <a:ext uri="{FF2B5EF4-FFF2-40B4-BE49-F238E27FC236}">
                <a16:creationId xmlns:a16="http://schemas.microsoft.com/office/drawing/2014/main" id="{16401599-1C79-88C9-7313-575FDA2751F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8973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four — Public APIs. Nineteen endpoints feeding the public website. Hotel detail APIs cover details, images, facilities, rules, rooms, comments, and SEO. Search APIs cover suggestion, filters, hotel list, and city search. Discovery APIs cover special offers, popular hotels, popular domestic destinations, and popular foreign destinations. Plus banners and SEO content. Most of these read from the schema we built in track one — so they unblock as soon as the underlying tables are seeded.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E826-A9BD-19B1-9EF6-DE5A6B056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4785A-F4AC-3B25-2A68-14036B9A3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D2DEA-D147-73D5-40DC-A6E884D31E37}"/>
              </a:ext>
            </a:extLst>
          </p:cNvPr>
          <p:cNvSpPr>
            <a:spLocks noGrp="1"/>
          </p:cNvSpPr>
          <p:nvPr>
            <p:ph type="body" idx="1"/>
          </p:nvPr>
        </p:nvSpPr>
        <p:spPr/>
        <p:txBody>
          <a:bodyPr/>
          <a:lstStyle/>
          <a:p>
            <a:r>
              <a:rPr lang="en-US" dirty="0"/>
              <a:t>Track four — Public APIs. Nineteen endpoints feeding the public website. Hotel detail APIs cover details, images, facilities, rules, rooms, comments, and SEO. Search APIs cover suggestion, filters, hotel list, and city search. Discovery APIs cover special offers, popular hotels, popular domestic destinations, and popular foreign destinations. Plus banners and SEO content. Most of these read from the schema we built in track one — so they unblock as soon as the underlying tables are seeded.</a:t>
            </a:r>
          </a:p>
        </p:txBody>
      </p:sp>
      <p:sp>
        <p:nvSpPr>
          <p:cNvPr id="4" name="Slide Number Placeholder 3">
            <a:extLst>
              <a:ext uri="{FF2B5EF4-FFF2-40B4-BE49-F238E27FC236}">
                <a16:creationId xmlns:a16="http://schemas.microsoft.com/office/drawing/2014/main" id="{09A619FB-5E75-BA30-227D-53D517E5C53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37922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EE0E-8C4A-1101-C374-F51C9B69E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BF1CC-9182-58F1-73F5-2004F40C0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46302-2D29-79CE-90B2-10035A8267DD}"/>
              </a:ext>
            </a:extLst>
          </p:cNvPr>
          <p:cNvSpPr>
            <a:spLocks noGrp="1"/>
          </p:cNvSpPr>
          <p:nvPr>
            <p:ph type="body" idx="1"/>
          </p:nvPr>
        </p:nvSpPr>
        <p:spPr/>
        <p:txBody>
          <a:bodyPr/>
          <a:lstStyle/>
          <a:p>
            <a:r>
              <a:rPr lang="en-US" dirty="0"/>
              <a:t>Track four — Public APIs. Nineteen endpoints feeding the public website. Hotel detail APIs cover details, images, facilities, rules, rooms, comments, and SEO. Search APIs cover suggestion, filters, hotel list, and city search. Discovery APIs cover special offers, popular hotels, popular domestic destinations, and popular foreign destinations. Plus banners and SEO content. Most of these read from the schema we built in track one — so they unblock as soon as the underlying tables are seeded.</a:t>
            </a:r>
          </a:p>
        </p:txBody>
      </p:sp>
      <p:sp>
        <p:nvSpPr>
          <p:cNvPr id="4" name="Slide Number Placeholder 3">
            <a:extLst>
              <a:ext uri="{FF2B5EF4-FFF2-40B4-BE49-F238E27FC236}">
                <a16:creationId xmlns:a16="http://schemas.microsoft.com/office/drawing/2014/main" id="{10B0D4E7-5A78-2139-2050-3A084DAFD31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919211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DF05-BAEE-FD3E-D354-A71159856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5626D-DDF3-71E7-84E5-1B23EB9C5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8E2B9-40FF-F3AF-13AD-7E0B73548782}"/>
              </a:ext>
            </a:extLst>
          </p:cNvPr>
          <p:cNvSpPr>
            <a:spLocks noGrp="1"/>
          </p:cNvSpPr>
          <p:nvPr>
            <p:ph type="body" idx="1"/>
          </p:nvPr>
        </p:nvSpPr>
        <p:spPr/>
        <p:txBody>
          <a:bodyPr/>
          <a:lstStyle/>
          <a:p>
            <a:r>
              <a:rPr lang="en-US" dirty="0"/>
              <a:t>How we sequence the CRUD work. We bundle CRUD modules in the same phases as their underlying tables — Hotel CRUD with Hotel DB, Room CRUD with Room DB, and so on. The advantage: the operations team gets a usable admin tool for each domain as soon as the table is migrated. They start seeding real data while we build the next phase. By the time phase four DBs land, the ops team has been live for weeks.</a:t>
            </a:r>
          </a:p>
        </p:txBody>
      </p:sp>
      <p:sp>
        <p:nvSpPr>
          <p:cNvPr id="4" name="Slide Number Placeholder 3">
            <a:extLst>
              <a:ext uri="{FF2B5EF4-FFF2-40B4-BE49-F238E27FC236}">
                <a16:creationId xmlns:a16="http://schemas.microsoft.com/office/drawing/2014/main" id="{3CE1A3EA-77A9-3545-7070-8E5B9E472B8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409696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five — Page Integration. The final track, three deliverables. Home page integrates the public APIs into the homepage layout with routing. Search results page does the same for the search flow with filter state in the URL. Single hotel page wires the detail APIs into the hotel detail layout. This track only starts once the components in track three and the APIs in track four are ready — it's pure assembly and routing.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all together. Track one is the trunk — phase one DBs land first, everything cascades from there. Track two CRUD ships in lockstep with track one. Track three frontend components run in parallel from day one — they don't depend on the database. Track four APIs unblock as the underlying tables seed up. Track five page integration is last, pulling together everything from the other tracks. Realistic timeline: ten to twelve weeks for the full build with two backend engineers and two frontend engineers.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A8854A">
              <a:alpha val="13000"/>
            </a:srgbClr>
          </a:solidFill>
          <a:ln/>
        </p:spPr>
      </p:sp>
      <p:sp>
        <p:nvSpPr>
          <p:cNvPr id="5" name="Text 3"/>
          <p:cNvSpPr/>
          <p:nvPr/>
        </p:nvSpPr>
        <p:spPr>
          <a:xfrm>
            <a:off x="15792409" y="790575"/>
            <a:ext cx="4069162" cy="323850"/>
          </a:xfrm>
          <a:prstGeom prst="rect">
            <a:avLst/>
          </a:prstGeom>
          <a:noFill/>
          <a:ln/>
        </p:spPr>
        <p:txBody>
          <a:bodyPr wrap="square" lIns="25400" tIns="25400" rIns="25400" bIns="25400" rtlCol="0" anchor="t">
            <a:normAutofit lnSpcReduction="10000"/>
          </a:bodyPr>
          <a:lstStyle/>
          <a:p>
            <a:pPr marL="0" indent="0" algn="l">
              <a:buNone/>
            </a:pPr>
            <a:r>
              <a:rPr lang="en-US" sz="1950" kern="0" spc="234" dirty="0">
                <a:solidFill>
                  <a:srgbClr val="F5F1EA">
                    <a:alpha val="78000"/>
                  </a:srgbClr>
                </a:solidFill>
                <a:latin typeface="Arial" pitchFamily="34" charset="0"/>
                <a:ea typeface="Arial" pitchFamily="34" charset="-122"/>
                <a:cs typeface="Arial" pitchFamily="34" charset="-120"/>
              </a:rPr>
              <a:t>MAY 2026</a:t>
            </a:r>
            <a:endParaRPr lang="en-US" sz="1950" dirty="0"/>
          </a:p>
        </p:txBody>
      </p:sp>
      <p:sp>
        <p:nvSpPr>
          <p:cNvPr id="6" name="Text 4"/>
          <p:cNvSpPr/>
          <p:nvPr/>
        </p:nvSpPr>
        <p:spPr>
          <a:xfrm>
            <a:off x="952500" y="3660428"/>
            <a:ext cx="16874490" cy="395288"/>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C9A86A"/>
                </a:solidFill>
                <a:latin typeface="Arial" pitchFamily="34" charset="0"/>
                <a:ea typeface="Arial" pitchFamily="34" charset="-122"/>
                <a:cs typeface="Arial" pitchFamily="34" charset="-120"/>
              </a:rPr>
              <a:t>— THE BUILD-OUT</a:t>
            </a:r>
            <a:endParaRPr lang="en-US" sz="2100" dirty="0"/>
          </a:p>
        </p:txBody>
      </p:sp>
      <p:sp>
        <p:nvSpPr>
          <p:cNvPr id="7" name="Text 5"/>
          <p:cNvSpPr/>
          <p:nvPr/>
        </p:nvSpPr>
        <p:spPr>
          <a:xfrm>
            <a:off x="952500" y="4360478"/>
            <a:ext cx="14716125" cy="4097759"/>
          </a:xfrm>
          <a:prstGeom prst="rect">
            <a:avLst/>
          </a:prstGeom>
          <a:noFill/>
          <a:ln/>
        </p:spPr>
        <p:txBody>
          <a:bodyPr wrap="square" lIns="25400" tIns="25400" rIns="25400" bIns="25400" rtlCol="0" anchor="t">
            <a:normAutofit/>
          </a:bodyPr>
          <a:lstStyle/>
          <a:p>
            <a:pPr marL="0" indent="0" algn="l">
              <a:lnSpc>
                <a:spcPct val="96000"/>
              </a:lnSpc>
              <a:buNone/>
            </a:pPr>
            <a:r>
              <a:rPr lang="en-US" sz="11100" kern="0" spc="-388" dirty="0">
                <a:solidFill>
                  <a:srgbClr val="F5F1EA"/>
                </a:solidFill>
                <a:latin typeface="-apple-system" pitchFamily="34" charset="0"/>
                <a:ea typeface="-apple-system" pitchFamily="34" charset="-122"/>
                <a:cs typeface="-apple-system" pitchFamily="34" charset="-120"/>
              </a:rPr>
              <a:t>Roadmap</a:t>
            </a:r>
            <a:endParaRPr lang="en-US" sz="11100" dirty="0"/>
          </a:p>
        </p:txBody>
      </p:sp>
      <p:sp>
        <p:nvSpPr>
          <p:cNvPr id="8" name="Text 6"/>
          <p:cNvSpPr/>
          <p:nvPr/>
        </p:nvSpPr>
        <p:spPr>
          <a:xfrm>
            <a:off x="952500" y="8953500"/>
            <a:ext cx="1880852"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156" dirty="0">
                <a:solidFill>
                  <a:srgbClr val="F5F1EA">
                    <a:alpha val="78000"/>
                  </a:srgbClr>
                </a:solidFill>
                <a:latin typeface="Arial" pitchFamily="34" charset="0"/>
                <a:ea typeface="Arial" pitchFamily="34" charset="-122"/>
                <a:cs typeface="Arial" pitchFamily="34" charset="-120"/>
              </a:rPr>
              <a:t>5 SECTIONS</a:t>
            </a:r>
            <a:endParaRPr lang="en-US" sz="1950" dirty="0"/>
          </a:p>
        </p:txBody>
      </p:sp>
      <p:sp>
        <p:nvSpPr>
          <p:cNvPr id="9" name="Text 7"/>
          <p:cNvSpPr/>
          <p:nvPr/>
        </p:nvSpPr>
        <p:spPr>
          <a:xfrm>
            <a:off x="3079626" y="8953500"/>
            <a:ext cx="1690241" cy="323850"/>
          </a:xfrm>
          <a:prstGeom prst="rect">
            <a:avLst/>
          </a:prstGeom>
          <a:noFill/>
          <a:ln/>
        </p:spPr>
        <p:txBody>
          <a:bodyPr wrap="square" lIns="25400" tIns="25400" rIns="25400" bIns="25400" rtlCol="0" anchor="t">
            <a:normAutofit lnSpcReduction="10000"/>
          </a:bodyPr>
          <a:lstStyle/>
          <a:p>
            <a:pPr marL="0" indent="0" algn="l">
              <a:buNone/>
            </a:pPr>
            <a:r>
              <a:rPr lang="en-US" sz="1950" kern="0" spc="156" dirty="0">
                <a:solidFill>
                  <a:srgbClr val="F5F1EA">
                    <a:alpha val="78000"/>
                  </a:srgbClr>
                </a:solidFill>
                <a:latin typeface="Arial" pitchFamily="34" charset="0"/>
                <a:ea typeface="Arial" pitchFamily="34" charset="-122"/>
                <a:cs typeface="Arial" pitchFamily="34" charset="-120"/>
              </a:rPr>
              <a:t>~100 TASKS</a:t>
            </a:r>
            <a:endParaRPr lang="en-US" sz="1950" dirty="0"/>
          </a:p>
        </p:txBody>
      </p:sp>
      <p:sp>
        <p:nvSpPr>
          <p:cNvPr id="10" name="Text 8"/>
          <p:cNvSpPr/>
          <p:nvPr/>
        </p:nvSpPr>
        <p:spPr>
          <a:xfrm>
            <a:off x="5455667" y="8953500"/>
            <a:ext cx="2123331" cy="323850"/>
          </a:xfrm>
          <a:prstGeom prst="rect">
            <a:avLst/>
          </a:prstGeom>
          <a:noFill/>
          <a:ln/>
        </p:spPr>
        <p:txBody>
          <a:bodyPr wrap="square" lIns="25400" tIns="25400" rIns="25400" bIns="25400" rtlCol="0" anchor="t">
            <a:normAutofit lnSpcReduction="10000"/>
          </a:bodyPr>
          <a:lstStyle/>
          <a:p>
            <a:pPr marL="0" indent="0" algn="l">
              <a:buNone/>
            </a:pPr>
            <a:r>
              <a:rPr lang="en-US" sz="1950" kern="0" spc="156" dirty="0">
                <a:solidFill>
                  <a:srgbClr val="F5F1EA">
                    <a:alpha val="78000"/>
                  </a:srgbClr>
                </a:solidFill>
                <a:latin typeface="Arial" pitchFamily="34" charset="0"/>
                <a:ea typeface="Arial" pitchFamily="34" charset="-122"/>
                <a:cs typeface="Arial" pitchFamily="34" charset="-120"/>
              </a:rPr>
              <a:t>27 – 38 WEEKS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2124633" cy="347663"/>
          </a:xfrm>
          <a:prstGeom prst="rect">
            <a:avLst/>
          </a:prstGeom>
          <a:noFill/>
          <a:ln/>
        </p:spPr>
        <p:txBody>
          <a:bodyPr wrap="square" lIns="25400" tIns="25400" rIns="25400" bIns="25400" rtlCol="0" anchor="t">
            <a:normAutofit/>
          </a:bodyPr>
          <a:lstStyle/>
          <a:p>
            <a:pPr marL="0" indent="0" algn="l">
              <a:buNone/>
            </a:pP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OVERVIEW</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Five Sections, one platform.</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From schema to shipped pages — backend, frontend, and the seam between them.</a:t>
            </a:r>
            <a:endParaRPr lang="en-US" sz="2700" dirty="0"/>
          </a:p>
        </p:txBody>
      </p:sp>
      <p:sp>
        <p:nvSpPr>
          <p:cNvPr id="9" name="Shape 7"/>
          <p:cNvSpPr/>
          <p:nvPr/>
        </p:nvSpPr>
        <p:spPr>
          <a:xfrm>
            <a:off x="952500" y="8160618"/>
            <a:ext cx="16383000" cy="11906"/>
          </a:xfrm>
          <a:prstGeom prst="rect">
            <a:avLst/>
          </a:prstGeom>
          <a:solidFill>
            <a:srgbClr val="D8D1C0"/>
          </a:solidFill>
          <a:ln/>
        </p:spPr>
      </p:sp>
      <p:sp>
        <p:nvSpPr>
          <p:cNvPr id="10" name="Shape 8"/>
          <p:cNvSpPr/>
          <p:nvPr/>
        </p:nvSpPr>
        <p:spPr>
          <a:xfrm>
            <a:off x="952500" y="4801939"/>
            <a:ext cx="16383000" cy="11906"/>
          </a:xfrm>
          <a:prstGeom prst="rect">
            <a:avLst/>
          </a:prstGeom>
          <a:solidFill>
            <a:srgbClr val="D8D1C0"/>
          </a:solidFill>
          <a:ln/>
        </p:spPr>
      </p:sp>
      <p:sp>
        <p:nvSpPr>
          <p:cNvPr id="11" name="Shape 9"/>
          <p:cNvSpPr/>
          <p:nvPr/>
        </p:nvSpPr>
        <p:spPr>
          <a:xfrm>
            <a:off x="4217045" y="4813846"/>
            <a:ext cx="11906" cy="3346772"/>
          </a:xfrm>
          <a:prstGeom prst="rect">
            <a:avLst/>
          </a:prstGeom>
          <a:solidFill>
            <a:srgbClr val="D8D1C0"/>
          </a:solidFill>
          <a:ln/>
        </p:spPr>
      </p:sp>
      <p:sp>
        <p:nvSpPr>
          <p:cNvPr id="12" name="Text 10"/>
          <p:cNvSpPr/>
          <p:nvPr/>
        </p:nvSpPr>
        <p:spPr>
          <a:xfrm>
            <a:off x="1180951" y="5118571"/>
            <a:ext cx="289187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Section 1</a:t>
            </a:r>
            <a:endParaRPr lang="en-US" sz="1800" dirty="0"/>
          </a:p>
        </p:txBody>
      </p:sp>
      <p:sp>
        <p:nvSpPr>
          <p:cNvPr id="13" name="Text 11"/>
          <p:cNvSpPr/>
          <p:nvPr/>
        </p:nvSpPr>
        <p:spPr>
          <a:xfrm>
            <a:off x="1180951" y="5532872"/>
            <a:ext cx="2891872"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Database Schema</a:t>
            </a:r>
            <a:endParaRPr lang="en-US" sz="2100" dirty="0"/>
          </a:p>
        </p:txBody>
      </p:sp>
      <p:sp>
        <p:nvSpPr>
          <p:cNvPr id="14" name="Text 12"/>
          <p:cNvSpPr/>
          <p:nvPr/>
        </p:nvSpPr>
        <p:spPr>
          <a:xfrm>
            <a:off x="1180951" y="6298778"/>
            <a:ext cx="2891872" cy="10666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23 tables across 4 phases — hotels, inventory, geo, marketing, users, system.</a:t>
            </a:r>
            <a:endParaRPr lang="en-US" sz="1800" dirty="0"/>
          </a:p>
        </p:txBody>
      </p:sp>
      <p:sp>
        <p:nvSpPr>
          <p:cNvPr id="15" name="Text 13"/>
          <p:cNvSpPr/>
          <p:nvPr/>
        </p:nvSpPr>
        <p:spPr>
          <a:xfrm>
            <a:off x="1180951" y="7593955"/>
            <a:ext cx="289187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23 TABLES</a:t>
            </a:r>
            <a:endParaRPr lang="en-US" sz="1800" dirty="0"/>
          </a:p>
        </p:txBody>
      </p:sp>
      <p:sp>
        <p:nvSpPr>
          <p:cNvPr id="16" name="Shape 14"/>
          <p:cNvSpPr/>
          <p:nvPr/>
        </p:nvSpPr>
        <p:spPr>
          <a:xfrm>
            <a:off x="7493682" y="4813846"/>
            <a:ext cx="11906" cy="3346772"/>
          </a:xfrm>
          <a:prstGeom prst="rect">
            <a:avLst/>
          </a:prstGeom>
          <a:solidFill>
            <a:srgbClr val="D8D1C0"/>
          </a:solidFill>
          <a:ln/>
        </p:spPr>
      </p:sp>
      <p:sp>
        <p:nvSpPr>
          <p:cNvPr id="17" name="Text 15"/>
          <p:cNvSpPr/>
          <p:nvPr/>
        </p:nvSpPr>
        <p:spPr>
          <a:xfrm>
            <a:off x="4457402" y="5118571"/>
            <a:ext cx="2892063"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Section </a:t>
            </a:r>
            <a:r>
              <a:rPr lang="en-US" sz="1800" kern="0" spc="144" dirty="0">
                <a:solidFill>
                  <a:srgbClr val="A8854A"/>
                </a:solidFill>
                <a:latin typeface="Arial" pitchFamily="34" charset="0"/>
                <a:ea typeface="Arial" pitchFamily="34" charset="-122"/>
                <a:cs typeface="Arial" pitchFamily="34" charset="-120"/>
              </a:rPr>
              <a:t>2</a:t>
            </a:r>
            <a:endParaRPr lang="en-US" sz="1800" dirty="0"/>
          </a:p>
        </p:txBody>
      </p:sp>
      <p:sp>
        <p:nvSpPr>
          <p:cNvPr id="18" name="Text 16"/>
          <p:cNvSpPr/>
          <p:nvPr/>
        </p:nvSpPr>
        <p:spPr>
          <a:xfrm>
            <a:off x="4457402" y="5532872"/>
            <a:ext cx="2892063"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Admin CRUD</a:t>
            </a:r>
            <a:endParaRPr lang="en-US" sz="2100" dirty="0"/>
          </a:p>
        </p:txBody>
      </p:sp>
      <p:sp>
        <p:nvSpPr>
          <p:cNvPr id="19" name="Text 17"/>
          <p:cNvSpPr/>
          <p:nvPr/>
        </p:nvSpPr>
        <p:spPr>
          <a:xfrm>
            <a:off x="4457402" y="6298778"/>
            <a:ext cx="2892063" cy="10666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Operations admin — list, create, edit, delete for every table.</a:t>
            </a:r>
            <a:endParaRPr lang="en-US" sz="1800" dirty="0"/>
          </a:p>
        </p:txBody>
      </p:sp>
      <p:sp>
        <p:nvSpPr>
          <p:cNvPr id="20" name="Text 18"/>
          <p:cNvSpPr/>
          <p:nvPr/>
        </p:nvSpPr>
        <p:spPr>
          <a:xfrm>
            <a:off x="4457402" y="7593955"/>
            <a:ext cx="289206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23 MODULES</a:t>
            </a:r>
            <a:endParaRPr lang="en-US" sz="1800" dirty="0"/>
          </a:p>
        </p:txBody>
      </p:sp>
      <p:sp>
        <p:nvSpPr>
          <p:cNvPr id="21" name="Shape 19"/>
          <p:cNvSpPr/>
          <p:nvPr/>
        </p:nvSpPr>
        <p:spPr>
          <a:xfrm>
            <a:off x="10770319" y="4813846"/>
            <a:ext cx="11906" cy="3346772"/>
          </a:xfrm>
          <a:prstGeom prst="rect">
            <a:avLst/>
          </a:prstGeom>
          <a:solidFill>
            <a:srgbClr val="D8D1C0"/>
          </a:solidFill>
          <a:ln/>
        </p:spPr>
      </p:sp>
      <p:sp>
        <p:nvSpPr>
          <p:cNvPr id="22" name="Text 20"/>
          <p:cNvSpPr/>
          <p:nvPr/>
        </p:nvSpPr>
        <p:spPr>
          <a:xfrm>
            <a:off x="7734040" y="5118571"/>
            <a:ext cx="2892063"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Section </a:t>
            </a:r>
            <a:r>
              <a:rPr lang="en-US" sz="1800" kern="0" spc="144" dirty="0">
                <a:solidFill>
                  <a:srgbClr val="A8854A"/>
                </a:solidFill>
                <a:latin typeface="Arial" pitchFamily="34" charset="0"/>
                <a:ea typeface="Arial" pitchFamily="34" charset="-122"/>
                <a:cs typeface="Arial" pitchFamily="34" charset="-120"/>
              </a:rPr>
              <a:t>3</a:t>
            </a:r>
            <a:endParaRPr lang="en-US" sz="1800" dirty="0"/>
          </a:p>
        </p:txBody>
      </p:sp>
      <p:sp>
        <p:nvSpPr>
          <p:cNvPr id="23" name="Text 21"/>
          <p:cNvSpPr/>
          <p:nvPr/>
        </p:nvSpPr>
        <p:spPr>
          <a:xfrm>
            <a:off x="7734040" y="5532872"/>
            <a:ext cx="2892063" cy="651644"/>
          </a:xfrm>
          <a:prstGeom prst="rect">
            <a:avLst/>
          </a:prstGeom>
          <a:noFill/>
          <a:ln/>
        </p:spPr>
        <p:txBody>
          <a:bodyPr wrap="square" lIns="25400" tIns="25400" rIns="25400" bIns="25400" rtlCol="0" anchor="t">
            <a:normAutofit/>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Frontend Components</a:t>
            </a:r>
            <a:endParaRPr lang="en-US" sz="2100" dirty="0"/>
          </a:p>
        </p:txBody>
      </p:sp>
      <p:sp>
        <p:nvSpPr>
          <p:cNvPr id="24" name="Text 22"/>
          <p:cNvSpPr/>
          <p:nvPr/>
        </p:nvSpPr>
        <p:spPr>
          <a:xfrm>
            <a:off x="7734040" y="6298778"/>
            <a:ext cx="2892063" cy="10666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Site chrome, home, hotel detail, search results — reusable library.</a:t>
            </a:r>
            <a:endParaRPr lang="en-US" sz="1800" dirty="0"/>
          </a:p>
        </p:txBody>
      </p:sp>
      <p:sp>
        <p:nvSpPr>
          <p:cNvPr id="25" name="Text 23"/>
          <p:cNvSpPr/>
          <p:nvPr/>
        </p:nvSpPr>
        <p:spPr>
          <a:xfrm>
            <a:off x="7734040" y="7593955"/>
            <a:ext cx="289206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33 COMPONENTS</a:t>
            </a:r>
            <a:endParaRPr lang="en-US" sz="1800" dirty="0"/>
          </a:p>
        </p:txBody>
      </p:sp>
      <p:sp>
        <p:nvSpPr>
          <p:cNvPr id="26" name="Shape 24"/>
          <p:cNvSpPr/>
          <p:nvPr/>
        </p:nvSpPr>
        <p:spPr>
          <a:xfrm>
            <a:off x="14046957" y="4813846"/>
            <a:ext cx="11906" cy="3346772"/>
          </a:xfrm>
          <a:prstGeom prst="rect">
            <a:avLst/>
          </a:prstGeom>
          <a:solidFill>
            <a:srgbClr val="D8D1C0"/>
          </a:solidFill>
          <a:ln/>
        </p:spPr>
      </p:sp>
      <p:sp>
        <p:nvSpPr>
          <p:cNvPr id="27" name="Text 25"/>
          <p:cNvSpPr/>
          <p:nvPr/>
        </p:nvSpPr>
        <p:spPr>
          <a:xfrm>
            <a:off x="11010677" y="5118571"/>
            <a:ext cx="2892063"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Section </a:t>
            </a:r>
            <a:r>
              <a:rPr lang="en-US" sz="1800" kern="0" spc="144" dirty="0">
                <a:solidFill>
                  <a:srgbClr val="A8854A"/>
                </a:solidFill>
                <a:latin typeface="Arial" pitchFamily="34" charset="0"/>
                <a:ea typeface="Arial" pitchFamily="34" charset="-122"/>
                <a:cs typeface="Arial" pitchFamily="34" charset="-120"/>
              </a:rPr>
              <a:t>4</a:t>
            </a:r>
            <a:endParaRPr lang="en-US" sz="1800" dirty="0"/>
          </a:p>
        </p:txBody>
      </p:sp>
      <p:sp>
        <p:nvSpPr>
          <p:cNvPr id="28" name="Text 26"/>
          <p:cNvSpPr/>
          <p:nvPr/>
        </p:nvSpPr>
        <p:spPr>
          <a:xfrm>
            <a:off x="11010677" y="5532872"/>
            <a:ext cx="2892063"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Public APIs</a:t>
            </a:r>
            <a:endParaRPr lang="en-US" sz="2100" dirty="0"/>
          </a:p>
        </p:txBody>
      </p:sp>
      <p:sp>
        <p:nvSpPr>
          <p:cNvPr id="29" name="Text 27"/>
          <p:cNvSpPr/>
          <p:nvPr/>
        </p:nvSpPr>
        <p:spPr>
          <a:xfrm>
            <a:off x="11010677" y="6298778"/>
            <a:ext cx="2892063" cy="10666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Read endpoints feeding the public website — search, detail, discovery.</a:t>
            </a:r>
            <a:endParaRPr lang="en-US" sz="1800" dirty="0"/>
          </a:p>
        </p:txBody>
      </p:sp>
      <p:sp>
        <p:nvSpPr>
          <p:cNvPr id="30" name="Text 28"/>
          <p:cNvSpPr/>
          <p:nvPr/>
        </p:nvSpPr>
        <p:spPr>
          <a:xfrm>
            <a:off x="11010677" y="7593955"/>
            <a:ext cx="289206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19 ENDPOINTS</a:t>
            </a:r>
            <a:endParaRPr lang="en-US" sz="1800" dirty="0"/>
          </a:p>
        </p:txBody>
      </p:sp>
      <p:sp>
        <p:nvSpPr>
          <p:cNvPr id="31" name="Text 29"/>
          <p:cNvSpPr/>
          <p:nvPr/>
        </p:nvSpPr>
        <p:spPr>
          <a:xfrm>
            <a:off x="14287314" y="5118571"/>
            <a:ext cx="2904327"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Section </a:t>
            </a:r>
            <a:r>
              <a:rPr lang="en-US" sz="1800" kern="0" spc="144" dirty="0">
                <a:solidFill>
                  <a:srgbClr val="A8854A"/>
                </a:solidFill>
                <a:latin typeface="Arial" pitchFamily="34" charset="0"/>
                <a:ea typeface="Arial" pitchFamily="34" charset="-122"/>
                <a:cs typeface="Arial" pitchFamily="34" charset="-120"/>
              </a:rPr>
              <a:t>5</a:t>
            </a:r>
            <a:endParaRPr lang="en-US" sz="1800" dirty="0"/>
          </a:p>
        </p:txBody>
      </p:sp>
      <p:sp>
        <p:nvSpPr>
          <p:cNvPr id="32" name="Text 30"/>
          <p:cNvSpPr/>
          <p:nvPr/>
        </p:nvSpPr>
        <p:spPr>
          <a:xfrm>
            <a:off x="14287314" y="5532872"/>
            <a:ext cx="2904327"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Page Integration</a:t>
            </a:r>
            <a:endParaRPr lang="en-US" sz="2100" dirty="0"/>
          </a:p>
        </p:txBody>
      </p:sp>
      <p:sp>
        <p:nvSpPr>
          <p:cNvPr id="33" name="Text 31"/>
          <p:cNvSpPr/>
          <p:nvPr/>
        </p:nvSpPr>
        <p:spPr>
          <a:xfrm>
            <a:off x="14287314" y="6298778"/>
            <a:ext cx="2904327"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Home, search results, single hotel — assembly and routing.</a:t>
            </a:r>
            <a:endParaRPr lang="en-US" sz="1800" dirty="0"/>
          </a:p>
        </p:txBody>
      </p:sp>
      <p:sp>
        <p:nvSpPr>
          <p:cNvPr id="34" name="Text 32"/>
          <p:cNvSpPr/>
          <p:nvPr/>
        </p:nvSpPr>
        <p:spPr>
          <a:xfrm>
            <a:off x="14287314" y="7593955"/>
            <a:ext cx="2904327"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3 PAGES</a:t>
            </a:r>
            <a:endParaRPr lang="en-US" sz="1800" dirty="0"/>
          </a:p>
        </p:txBody>
      </p:sp>
      <p:sp>
        <p:nvSpPr>
          <p:cNvPr id="39" name="Text 1">
            <a:extLst>
              <a:ext uri="{FF2B5EF4-FFF2-40B4-BE49-F238E27FC236}">
                <a16:creationId xmlns:a16="http://schemas.microsoft.com/office/drawing/2014/main" id="{30A498DE-59A9-7749-2FBF-14410C0EB41F}"/>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02 / 22</a:t>
            </a:r>
            <a:endParaRPr lang="en-US" sz="1800" dirty="0"/>
          </a:p>
        </p:txBody>
      </p:sp>
      <p:sp>
        <p:nvSpPr>
          <p:cNvPr id="44" name="Text 0">
            <a:extLst>
              <a:ext uri="{FF2B5EF4-FFF2-40B4-BE49-F238E27FC236}">
                <a16:creationId xmlns:a16="http://schemas.microsoft.com/office/drawing/2014/main" id="{7FD0C67A-6BED-8ED8-A611-6841D22A6DBA}"/>
              </a:ext>
            </a:extLst>
          </p:cNvPr>
          <p:cNvSpPr/>
          <p:nvPr/>
        </p:nvSpPr>
        <p:spPr>
          <a:xfrm>
            <a:off x="952500" y="857250"/>
            <a:ext cx="3616756" cy="347663"/>
          </a:xfrm>
          <a:prstGeom prst="rect">
            <a:avLst/>
          </a:prstGeom>
          <a:noFill/>
          <a:ln/>
        </p:spPr>
        <p:txBody>
          <a:bodyPr wrap="square" lIns="25400" tIns="25400" rIns="25400" bIns="25400" rtlCol="0" anchor="t">
            <a:normAutofit/>
          </a:bodyPr>
          <a:lstStyle/>
          <a:p>
            <a:r>
              <a:rPr lang="en-US" sz="1800" kern="0" spc="72" dirty="0">
                <a:solidFill>
                  <a:srgbClr val="0F1419"/>
                </a:solidFill>
                <a:latin typeface="Arial" pitchFamily="34" charset="0"/>
                <a:ea typeface="Arial" pitchFamily="34" charset="-122"/>
                <a:cs typeface="Arial" pitchFamily="34" charset="-120"/>
              </a:rPr>
              <a:t>HOTEL PLATFORM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sz="1800" kern="0" spc="72" dirty="0">
                <a:solidFill>
                  <a:srgbClr val="0F1419"/>
                </a:solidFill>
                <a:latin typeface="Arial" pitchFamily="34" charset="0"/>
                <a:ea typeface="Arial" pitchFamily="34" charset="-122"/>
                <a:cs typeface="Arial" pitchFamily="34" charset="-120"/>
              </a:rPr>
              <a:t>HOTEL PLATFORM / </a:t>
            </a:r>
            <a:r>
              <a:rPr lang="en-US" kern="0" spc="72" dirty="0">
                <a:solidFill>
                  <a:srgbClr val="0F1419"/>
                </a:solidFill>
                <a:latin typeface="Arial" pitchFamily="34" charset="0"/>
                <a:ea typeface="Arial" pitchFamily="34" charset="-122"/>
                <a:cs typeface="Arial" pitchFamily="34" charset="-120"/>
              </a:rPr>
              <a:t>SECTION</a:t>
            </a:r>
            <a:r>
              <a:rPr lang="en-US" sz="1800" kern="0" spc="72" dirty="0">
                <a:solidFill>
                  <a:srgbClr val="0F1419"/>
                </a:solidFill>
                <a:latin typeface="Arial" pitchFamily="34" charset="0"/>
                <a:ea typeface="Arial" pitchFamily="34" charset="-122"/>
                <a:cs typeface="Arial" pitchFamily="34" charset="-120"/>
              </a:rPr>
              <a:t> 1</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r>
              <a:rPr lang="en-US" sz="1800" kern="0" spc="288" dirty="0">
                <a:solidFill>
                  <a:srgbClr val="A8854A"/>
                </a:solidFill>
                <a:latin typeface="Arial" pitchFamily="34" charset="0"/>
                <a:ea typeface="Arial" pitchFamily="34" charset="-122"/>
                <a:cs typeface="Arial" pitchFamily="34" charset="-120"/>
              </a:rPr>
              <a:t>— </a:t>
            </a:r>
            <a:r>
              <a:rPr lang="en-US" kern="0" spc="144" dirty="0">
                <a:solidFill>
                  <a:srgbClr val="A8854A"/>
                </a:solidFill>
                <a:latin typeface="Arial" pitchFamily="34" charset="0"/>
                <a:ea typeface="Arial" pitchFamily="34" charset="-122"/>
                <a:cs typeface="Arial" pitchFamily="34" charset="-120"/>
              </a:rPr>
              <a:t>Section</a:t>
            </a:r>
            <a:r>
              <a:rPr lang="en-US" sz="1800" kern="0" spc="288" dirty="0">
                <a:solidFill>
                  <a:srgbClr val="A8854A"/>
                </a:solidFill>
                <a:latin typeface="Arial" pitchFamily="34" charset="0"/>
                <a:ea typeface="Arial" pitchFamily="34" charset="-122"/>
                <a:cs typeface="Arial" pitchFamily="34" charset="-120"/>
              </a:rPr>
              <a:t> ONE</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Database schema.</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85000" lnSpcReduction="10000"/>
          </a:bodyPr>
          <a:lstStyle/>
          <a:p>
            <a:pPr>
              <a:lnSpc>
                <a:spcPct val="140000"/>
              </a:lnSpc>
            </a:pPr>
            <a:r>
              <a:rPr lang="en-US" sz="2800" dirty="0"/>
              <a:t>The structure consists of 23 tables. The first section serves as the backbone or the core of the system, and all other tables and components depend on it and branch out from it in a cascading manner.</a:t>
            </a:r>
            <a:endParaRPr lang="en-US" sz="2700" dirty="0"/>
          </a:p>
        </p:txBody>
      </p:sp>
      <p:sp>
        <p:nvSpPr>
          <p:cNvPr id="9" name="Shape 7"/>
          <p:cNvSpPr/>
          <p:nvPr/>
        </p:nvSpPr>
        <p:spPr>
          <a:xfrm>
            <a:off x="952500" y="10893847"/>
            <a:ext cx="9245575" cy="11906"/>
          </a:xfrm>
          <a:prstGeom prst="rect">
            <a:avLst/>
          </a:prstGeom>
          <a:solidFill>
            <a:srgbClr val="D8D1C0"/>
          </a:solidFill>
          <a:ln/>
        </p:spPr>
      </p:sp>
      <p:sp>
        <p:nvSpPr>
          <p:cNvPr id="13" name="Text 11"/>
          <p:cNvSpPr/>
          <p:nvPr/>
        </p:nvSpPr>
        <p:spPr>
          <a:xfrm>
            <a:off x="1190197" y="5119891"/>
            <a:ext cx="4278598"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Hotel Core</a:t>
            </a:r>
            <a:endParaRPr lang="en-US" sz="2100" dirty="0"/>
          </a:p>
        </p:txBody>
      </p:sp>
      <p:sp>
        <p:nvSpPr>
          <p:cNvPr id="14" name="Text 12"/>
          <p:cNvSpPr/>
          <p:nvPr/>
        </p:nvSpPr>
        <p:spPr>
          <a:xfrm>
            <a:off x="1194996" y="5578301"/>
            <a:ext cx="4278598"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Hotel · Hotel_Type Hotel_Group · Hotel_Rules Hotel_Tag</a:t>
            </a:r>
            <a:endParaRPr lang="en-US" sz="1800" dirty="0"/>
          </a:p>
        </p:txBody>
      </p:sp>
      <p:sp>
        <p:nvSpPr>
          <p:cNvPr id="15" name="Text 13"/>
          <p:cNvSpPr/>
          <p:nvPr/>
        </p:nvSpPr>
        <p:spPr>
          <a:xfrm>
            <a:off x="1194996" y="6642980"/>
            <a:ext cx="4278598"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5 TABLES</a:t>
            </a:r>
            <a:endParaRPr lang="en-US" sz="1800" dirty="0"/>
          </a:p>
        </p:txBody>
      </p:sp>
      <p:sp>
        <p:nvSpPr>
          <p:cNvPr id="17" name="Text 15"/>
          <p:cNvSpPr/>
          <p:nvPr/>
        </p:nvSpPr>
        <p:spPr>
          <a:xfrm>
            <a:off x="5803739" y="5118571"/>
            <a:ext cx="4278598"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18" name="Text 16"/>
          <p:cNvSpPr/>
          <p:nvPr/>
        </p:nvSpPr>
        <p:spPr>
          <a:xfrm>
            <a:off x="5799873" y="5119891"/>
            <a:ext cx="4278598"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Inventory &amp; Rates</a:t>
            </a:r>
            <a:endParaRPr lang="en-US" sz="2100" dirty="0"/>
          </a:p>
        </p:txBody>
      </p:sp>
      <p:sp>
        <p:nvSpPr>
          <p:cNvPr id="19" name="Text 17"/>
          <p:cNvSpPr/>
          <p:nvPr/>
        </p:nvSpPr>
        <p:spPr>
          <a:xfrm>
            <a:off x="5799873" y="5653388"/>
            <a:ext cx="4278598"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Room_Type · Availability Rate_Plan · Provider</a:t>
            </a:r>
            <a:endParaRPr lang="en-US" sz="1800" dirty="0"/>
          </a:p>
        </p:txBody>
      </p:sp>
      <p:sp>
        <p:nvSpPr>
          <p:cNvPr id="20" name="Text 18"/>
          <p:cNvSpPr/>
          <p:nvPr/>
        </p:nvSpPr>
        <p:spPr>
          <a:xfrm>
            <a:off x="5853722" y="6630430"/>
            <a:ext cx="4278598"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4 TABLES</a:t>
            </a:r>
            <a:endParaRPr lang="en-US" sz="1800" dirty="0"/>
          </a:p>
        </p:txBody>
      </p:sp>
      <p:sp>
        <p:nvSpPr>
          <p:cNvPr id="23" name="Text 21"/>
          <p:cNvSpPr/>
          <p:nvPr/>
        </p:nvSpPr>
        <p:spPr>
          <a:xfrm>
            <a:off x="1230934" y="7439989"/>
            <a:ext cx="4278598"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Facilities &amp; Geo</a:t>
            </a:r>
            <a:endParaRPr lang="en-US" sz="2100" dirty="0"/>
          </a:p>
        </p:txBody>
      </p:sp>
      <p:sp>
        <p:nvSpPr>
          <p:cNvPr id="24" name="Text 22"/>
          <p:cNvSpPr/>
          <p:nvPr/>
        </p:nvSpPr>
        <p:spPr>
          <a:xfrm>
            <a:off x="1170557" y="8200186"/>
            <a:ext cx="4278598"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Facility · Group_Facility Facility_Hotel · Tag Location · Landmark · Category</a:t>
            </a:r>
            <a:endParaRPr lang="en-US" sz="1800" dirty="0"/>
          </a:p>
        </p:txBody>
      </p:sp>
      <p:sp>
        <p:nvSpPr>
          <p:cNvPr id="25" name="Text 23"/>
          <p:cNvSpPr/>
          <p:nvPr/>
        </p:nvSpPr>
        <p:spPr>
          <a:xfrm>
            <a:off x="1194996" y="9271694"/>
            <a:ext cx="4278598"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7 TABLES</a:t>
            </a:r>
            <a:endParaRPr lang="en-US" sz="1800" dirty="0"/>
          </a:p>
        </p:txBody>
      </p:sp>
      <p:sp>
        <p:nvSpPr>
          <p:cNvPr id="27" name="Text 25"/>
          <p:cNvSpPr/>
          <p:nvPr/>
        </p:nvSpPr>
        <p:spPr>
          <a:xfrm>
            <a:off x="5841458" y="7530273"/>
            <a:ext cx="4290862"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Marketing &amp; System</a:t>
            </a:r>
            <a:endParaRPr lang="en-US" sz="2100" dirty="0"/>
          </a:p>
        </p:txBody>
      </p:sp>
      <p:sp>
        <p:nvSpPr>
          <p:cNvPr id="28" name="Text 26"/>
          <p:cNvSpPr/>
          <p:nvPr/>
        </p:nvSpPr>
        <p:spPr>
          <a:xfrm>
            <a:off x="5769174" y="8193799"/>
            <a:ext cx="4290862"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Banner · Promotion · QA Users · Member · Comment Setting</a:t>
            </a:r>
            <a:endParaRPr lang="en-US" sz="1800" dirty="0"/>
          </a:p>
        </p:txBody>
      </p:sp>
      <p:sp>
        <p:nvSpPr>
          <p:cNvPr id="29" name="Text 27"/>
          <p:cNvSpPr/>
          <p:nvPr/>
        </p:nvSpPr>
        <p:spPr>
          <a:xfrm>
            <a:off x="5803739" y="9271694"/>
            <a:ext cx="429086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7 TABLES</a:t>
            </a:r>
            <a:endParaRPr lang="en-US" sz="1800" dirty="0"/>
          </a:p>
        </p:txBody>
      </p:sp>
      <p:sp>
        <p:nvSpPr>
          <p:cNvPr id="30" name="Shape 28"/>
          <p:cNvSpPr/>
          <p:nvPr/>
        </p:nvSpPr>
        <p:spPr>
          <a:xfrm>
            <a:off x="10731438" y="4900555"/>
            <a:ext cx="6604062" cy="4601081"/>
          </a:xfrm>
          <a:prstGeom prst="rect">
            <a:avLst/>
          </a:prstGeom>
          <a:solidFill>
            <a:srgbClr val="EBE5D8"/>
          </a:solidFill>
          <a:ln w="11906">
            <a:solidFill>
              <a:srgbClr val="D8D1C0"/>
            </a:solidFill>
            <a:prstDash val="solid"/>
          </a:ln>
        </p:spPr>
      </p:sp>
      <p:sp>
        <p:nvSpPr>
          <p:cNvPr id="31" name="Text 29"/>
          <p:cNvSpPr/>
          <p:nvPr/>
        </p:nvSpPr>
        <p:spPr>
          <a:xfrm>
            <a:off x="10933695" y="5042297"/>
            <a:ext cx="1777678" cy="300038"/>
          </a:xfrm>
          <a:prstGeom prst="rect">
            <a:avLst/>
          </a:prstGeom>
          <a:noFill/>
          <a:ln/>
        </p:spPr>
        <p:txBody>
          <a:bodyPr wrap="square" lIns="25400" tIns="25400" rIns="25400" bIns="25400" rtlCol="0" anchor="t">
            <a:normAutofit lnSpcReduction="10000"/>
          </a:bodyPr>
          <a:lstStyle/>
          <a:p>
            <a:pPr marL="0" indent="0" algn="ctr">
              <a:buNone/>
            </a:pPr>
            <a:r>
              <a:rPr lang="en-US" sz="1800" kern="0" spc="216" dirty="0">
                <a:solidFill>
                  <a:srgbClr val="A8854A"/>
                </a:solidFill>
                <a:latin typeface="Arial" pitchFamily="34" charset="0"/>
                <a:ea typeface="Arial" pitchFamily="34" charset="-122"/>
                <a:cs typeface="Arial" pitchFamily="34" charset="-120"/>
              </a:rPr>
              <a:t>[ IMAGE_02 ]</a:t>
            </a:r>
            <a:endParaRPr lang="en-US" sz="1800" dirty="0"/>
          </a:p>
        </p:txBody>
      </p:sp>
      <p:sp>
        <p:nvSpPr>
          <p:cNvPr id="32" name="Text 30"/>
          <p:cNvSpPr/>
          <p:nvPr/>
        </p:nvSpPr>
        <p:spPr>
          <a:xfrm>
            <a:off x="13018219" y="6943018"/>
            <a:ext cx="2030313" cy="335756"/>
          </a:xfrm>
          <a:prstGeom prst="rect">
            <a:avLst/>
          </a:prstGeom>
          <a:noFill/>
          <a:ln/>
        </p:spPr>
        <p:txBody>
          <a:bodyPr wrap="square" lIns="25400" tIns="25400" rIns="25400" bIns="25400" rtlCol="0" anchor="t">
            <a:normAutofit lnSpcReduction="10000"/>
          </a:bodyPr>
          <a:lstStyle/>
          <a:p>
            <a:pPr marL="0" indent="0" algn="ctr">
              <a:buNone/>
            </a:pPr>
            <a:r>
              <a:rPr lang="en-US" sz="1950" kern="0" spc="-19" dirty="0">
                <a:solidFill>
                  <a:srgbClr val="0F1419"/>
                </a:solidFill>
                <a:latin typeface="Arial" pitchFamily="34" charset="0"/>
                <a:ea typeface="Arial" pitchFamily="34" charset="-122"/>
                <a:cs typeface="Arial" pitchFamily="34" charset="-120"/>
              </a:rPr>
              <a:t>Schema diagram</a:t>
            </a:r>
            <a:endParaRPr lang="en-US" sz="1950" dirty="0"/>
          </a:p>
        </p:txBody>
      </p:sp>
      <p:sp>
        <p:nvSpPr>
          <p:cNvPr id="33" name="Text 31"/>
          <p:cNvSpPr/>
          <p:nvPr/>
        </p:nvSpPr>
        <p:spPr>
          <a:xfrm>
            <a:off x="11327561" y="7393037"/>
            <a:ext cx="5411817" cy="1409551"/>
          </a:xfrm>
          <a:prstGeom prst="rect">
            <a:avLst/>
          </a:prstGeom>
          <a:noFill/>
          <a:ln/>
        </p:spPr>
        <p:txBody>
          <a:bodyPr wrap="square" lIns="25400" tIns="25400" rIns="25400" bIns="25400" rtlCol="0" anchor="t">
            <a:normAutofit fontScale="92500"/>
          </a:bodyPr>
          <a:lstStyle/>
          <a:p>
            <a:pPr marL="0" indent="0" algn="ctr">
              <a:lnSpc>
                <a:spcPct val="150000"/>
              </a:lnSpc>
              <a:buNone/>
            </a:pPr>
            <a:r>
              <a:rPr lang="en-US" sz="1800" dirty="0">
                <a:solidFill>
                  <a:srgbClr val="6B6862"/>
                </a:solidFill>
                <a:latin typeface="Arial" pitchFamily="34" charset="0"/>
                <a:ea typeface="Arial" pitchFamily="34" charset="-122"/>
                <a:cs typeface="Arial" pitchFamily="34" charset="-120"/>
              </a:rPr>
              <a:t>Minimal line illustration of an entity-relationship diagram with five connected boxes, single-stroke architectural style, ochre and dark-ink lines on warm cream paper.</a:t>
            </a:r>
            <a:endParaRPr lang="en-US" sz="1800" dirty="0"/>
          </a:p>
        </p:txBody>
      </p:sp>
      <p:sp>
        <p:nvSpPr>
          <p:cNvPr id="35" name="Text 33"/>
          <p:cNvSpPr/>
          <p:nvPr/>
        </p:nvSpPr>
        <p:spPr>
          <a:xfrm>
            <a:off x="13745580" y="9682200"/>
            <a:ext cx="3697618"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pic>
        <p:nvPicPr>
          <p:cNvPr id="39" name="Picture 38">
            <a:extLst>
              <a:ext uri="{FF2B5EF4-FFF2-40B4-BE49-F238E27FC236}">
                <a16:creationId xmlns:a16="http://schemas.microsoft.com/office/drawing/2014/main" id="{98519518-1724-76A7-4BBB-FCA75E985142}"/>
              </a:ext>
            </a:extLst>
          </p:cNvPr>
          <p:cNvPicPr>
            <a:picLocks noChangeAspect="1"/>
          </p:cNvPicPr>
          <p:nvPr/>
        </p:nvPicPr>
        <p:blipFill>
          <a:blip r:embed="rId3"/>
          <a:stretch>
            <a:fillRect/>
          </a:stretch>
        </p:blipFill>
        <p:spPr>
          <a:xfrm>
            <a:off x="10731439" y="4900555"/>
            <a:ext cx="6594750" cy="4601081"/>
          </a:xfrm>
          <a:prstGeom prst="rect">
            <a:avLst/>
          </a:prstGeom>
        </p:spPr>
      </p:pic>
      <p:sp>
        <p:nvSpPr>
          <p:cNvPr id="40" name="Text 1">
            <a:extLst>
              <a:ext uri="{FF2B5EF4-FFF2-40B4-BE49-F238E27FC236}">
                <a16:creationId xmlns:a16="http://schemas.microsoft.com/office/drawing/2014/main" id="{5466D555-53C6-A044-9623-F99E514E1CE9}"/>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03 / 22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kern="0" spc="72" dirty="0">
                <a:solidFill>
                  <a:srgbClr val="0F1419"/>
                </a:solidFill>
                <a:latin typeface="Arial" pitchFamily="34" charset="0"/>
                <a:ea typeface="Arial" pitchFamily="34" charset="-122"/>
                <a:cs typeface="Arial" pitchFamily="34" charset="-120"/>
              </a:rPr>
              <a:t>HOTEL PLATFORM / SECTION 1</a:t>
            </a:r>
            <a:endParaRPr lang="en-US" dirty="0"/>
          </a:p>
        </p:txBody>
      </p:sp>
      <p:sp>
        <p:nvSpPr>
          <p:cNvPr id="6" name="Text 4"/>
          <p:cNvSpPr/>
          <p:nvPr/>
        </p:nvSpPr>
        <p:spPr>
          <a:xfrm>
            <a:off x="952500" y="2178472"/>
            <a:ext cx="1452860" cy="1171426"/>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0500" kern="0" spc="-420" dirty="0">
                <a:solidFill>
                  <a:srgbClr val="C9A86A"/>
                </a:solidFill>
                <a:latin typeface="Arial" pitchFamily="34" charset="0"/>
                <a:ea typeface="Arial" pitchFamily="34" charset="-122"/>
                <a:cs typeface="Arial" pitchFamily="34" charset="-120"/>
              </a:rPr>
              <a:t>01</a:t>
            </a:r>
            <a:endParaRPr lang="en-US" sz="10500" dirty="0"/>
          </a:p>
        </p:txBody>
      </p:sp>
      <p:sp>
        <p:nvSpPr>
          <p:cNvPr id="7" name="Text 5"/>
          <p:cNvSpPr/>
          <p:nvPr/>
        </p:nvSpPr>
        <p:spPr>
          <a:xfrm>
            <a:off x="2786249" y="1623901"/>
            <a:ext cx="12868178"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PHASE ONE</a:t>
            </a:r>
            <a:endParaRPr lang="en-US" sz="1800" dirty="0"/>
          </a:p>
        </p:txBody>
      </p:sp>
      <p:sp>
        <p:nvSpPr>
          <p:cNvPr id="8" name="Text 6"/>
          <p:cNvSpPr/>
          <p:nvPr/>
        </p:nvSpPr>
        <p:spPr>
          <a:xfrm>
            <a:off x="2786249" y="2085826"/>
            <a:ext cx="12868178"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Hotel Core.</a:t>
            </a:r>
            <a:endParaRPr lang="en-US" sz="5400" dirty="0"/>
          </a:p>
        </p:txBody>
      </p:sp>
      <p:sp>
        <p:nvSpPr>
          <p:cNvPr id="9" name="Text 7"/>
          <p:cNvSpPr/>
          <p:nvPr/>
        </p:nvSpPr>
        <p:spPr>
          <a:xfrm>
            <a:off x="2786249" y="2940472"/>
            <a:ext cx="882967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The spine of the system — every other domain hangs off these five tables.</a:t>
            </a:r>
            <a:endParaRPr lang="en-US" sz="1950" dirty="0"/>
          </a:p>
        </p:txBody>
      </p:sp>
      <p:sp>
        <p:nvSpPr>
          <p:cNvPr id="10" name="Text 8"/>
          <p:cNvSpPr/>
          <p:nvPr/>
        </p:nvSpPr>
        <p:spPr>
          <a:xfrm>
            <a:off x="15736714" y="2557053"/>
            <a:ext cx="1674986" cy="288131"/>
          </a:xfrm>
          <a:prstGeom prst="rect">
            <a:avLst/>
          </a:prstGeom>
          <a:noFill/>
          <a:ln/>
        </p:spPr>
        <p:txBody>
          <a:bodyPr wrap="square" lIns="0" tIns="0" rIns="0" bIns="0" rtlCol="0" anchor="t">
            <a:normAutofit/>
          </a:bodyPr>
          <a:lstStyle/>
          <a:p>
            <a:pPr marL="0" indent="0" algn="r">
              <a:buNone/>
            </a:pPr>
            <a:endParaRPr lang="en-US" sz="1800" dirty="0"/>
          </a:p>
        </p:txBody>
      </p:sp>
      <p:sp>
        <p:nvSpPr>
          <p:cNvPr id="11" name="Text 9"/>
          <p:cNvSpPr/>
          <p:nvPr/>
        </p:nvSpPr>
        <p:spPr>
          <a:xfrm>
            <a:off x="15660514" y="2895079"/>
            <a:ext cx="1674986" cy="454819"/>
          </a:xfrm>
          <a:prstGeom prst="rect">
            <a:avLst/>
          </a:prstGeom>
          <a:noFill/>
          <a:ln/>
        </p:spPr>
        <p:txBody>
          <a:bodyPr wrap="square" lIns="25400" tIns="25400" rIns="25400" bIns="25400" rtlCol="0" anchor="t">
            <a:normAutofit lnSpcReduction="10000"/>
          </a:bodyPr>
          <a:lstStyle/>
          <a:p>
            <a:pPr marL="0" indent="0" algn="r">
              <a:buNone/>
            </a:pPr>
            <a:r>
              <a:rPr lang="en-US" sz="2700" kern="0" spc="-54" dirty="0">
                <a:solidFill>
                  <a:srgbClr val="0F1419"/>
                </a:solidFill>
                <a:latin typeface="Arial" pitchFamily="34" charset="0"/>
                <a:ea typeface="Arial" pitchFamily="34" charset="-122"/>
                <a:cs typeface="Arial" pitchFamily="34" charset="-120"/>
              </a:rPr>
              <a:t>5 Tables</a:t>
            </a:r>
            <a:endParaRPr lang="en-US" sz="2700" dirty="0"/>
          </a:p>
        </p:txBody>
      </p:sp>
      <p:sp>
        <p:nvSpPr>
          <p:cNvPr id="12" name="Shape 10"/>
          <p:cNvSpPr/>
          <p:nvPr/>
        </p:nvSpPr>
        <p:spPr>
          <a:xfrm>
            <a:off x="952500" y="3616523"/>
            <a:ext cx="5334000" cy="2670535"/>
          </a:xfrm>
          <a:prstGeom prst="rect">
            <a:avLst/>
          </a:prstGeom>
          <a:solidFill>
            <a:srgbClr val="FAF7F0"/>
          </a:solidFill>
          <a:ln w="11906">
            <a:solidFill>
              <a:srgbClr val="D8D1C0"/>
            </a:solidFill>
            <a:prstDash val="solid"/>
          </a:ln>
        </p:spPr>
      </p:sp>
      <p:sp>
        <p:nvSpPr>
          <p:cNvPr id="13" name="Text 11"/>
          <p:cNvSpPr/>
          <p:nvPr/>
        </p:nvSpPr>
        <p:spPr>
          <a:xfrm>
            <a:off x="12120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Hotel</a:t>
            </a:r>
            <a:endParaRPr lang="en-US" sz="1950" dirty="0"/>
          </a:p>
        </p:txBody>
      </p:sp>
      <p:sp>
        <p:nvSpPr>
          <p:cNvPr id="14" name="Text 12"/>
          <p:cNvSpPr/>
          <p:nvPr/>
        </p:nvSpPr>
        <p:spPr>
          <a:xfrm>
            <a:off x="1212019" y="4311737"/>
            <a:ext cx="4959411"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Core record per property — name, address, status.</a:t>
            </a:r>
            <a:endParaRPr lang="en-US" sz="1800" dirty="0"/>
          </a:p>
        </p:txBody>
      </p:sp>
      <p:sp>
        <p:nvSpPr>
          <p:cNvPr id="15" name="Shape 13"/>
          <p:cNvSpPr/>
          <p:nvPr/>
        </p:nvSpPr>
        <p:spPr>
          <a:xfrm>
            <a:off x="1212019" y="5658631"/>
            <a:ext cx="4814962" cy="11906"/>
          </a:xfrm>
          <a:prstGeom prst="rect">
            <a:avLst/>
          </a:prstGeom>
          <a:solidFill>
            <a:srgbClr val="D8D1C0"/>
          </a:solidFill>
          <a:ln/>
        </p:spPr>
      </p:sp>
      <p:sp>
        <p:nvSpPr>
          <p:cNvPr id="17" name="Text 15"/>
          <p:cNvSpPr/>
          <p:nvPr/>
        </p:nvSpPr>
        <p:spPr>
          <a:xfrm>
            <a:off x="5784577" y="5803739"/>
            <a:ext cx="318604"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18" name="Shape 16"/>
          <p:cNvSpPr/>
          <p:nvPr/>
        </p:nvSpPr>
        <p:spPr>
          <a:xfrm>
            <a:off x="6477000" y="3616523"/>
            <a:ext cx="5334000" cy="2670535"/>
          </a:xfrm>
          <a:prstGeom prst="rect">
            <a:avLst/>
          </a:prstGeom>
          <a:solidFill>
            <a:srgbClr val="FAF7F0"/>
          </a:solidFill>
          <a:ln w="11906">
            <a:solidFill>
              <a:srgbClr val="D8D1C0"/>
            </a:solidFill>
            <a:prstDash val="solid"/>
          </a:ln>
        </p:spPr>
      </p:sp>
      <p:sp>
        <p:nvSpPr>
          <p:cNvPr id="19" name="Text 17"/>
          <p:cNvSpPr/>
          <p:nvPr/>
        </p:nvSpPr>
        <p:spPr>
          <a:xfrm>
            <a:off x="67365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Hotel</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Type</a:t>
            </a:r>
            <a:endParaRPr lang="en-US" sz="1950" dirty="0"/>
          </a:p>
        </p:txBody>
      </p:sp>
      <p:sp>
        <p:nvSpPr>
          <p:cNvPr id="20" name="Text 18"/>
          <p:cNvSpPr/>
          <p:nvPr/>
        </p:nvSpPr>
        <p:spPr>
          <a:xfrm>
            <a:off x="6736519" y="4311737"/>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Property types — boutique, resort, apartment.</a:t>
            </a:r>
            <a:endParaRPr lang="en-US" sz="1800" dirty="0"/>
          </a:p>
        </p:txBody>
      </p:sp>
      <p:sp>
        <p:nvSpPr>
          <p:cNvPr id="21" name="Shape 19"/>
          <p:cNvSpPr/>
          <p:nvPr/>
        </p:nvSpPr>
        <p:spPr>
          <a:xfrm>
            <a:off x="6736519" y="5658631"/>
            <a:ext cx="4814962" cy="11906"/>
          </a:xfrm>
          <a:prstGeom prst="rect">
            <a:avLst/>
          </a:prstGeom>
          <a:solidFill>
            <a:srgbClr val="D8D1C0"/>
          </a:solidFill>
          <a:ln/>
        </p:spPr>
      </p:sp>
      <p:sp>
        <p:nvSpPr>
          <p:cNvPr id="23" name="Text 21"/>
          <p:cNvSpPr/>
          <p:nvPr/>
        </p:nvSpPr>
        <p:spPr>
          <a:xfrm>
            <a:off x="11309077" y="5803739"/>
            <a:ext cx="318604"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24" name="Shape 22"/>
          <p:cNvSpPr/>
          <p:nvPr/>
        </p:nvSpPr>
        <p:spPr>
          <a:xfrm>
            <a:off x="12001500" y="3616523"/>
            <a:ext cx="5334000" cy="2670535"/>
          </a:xfrm>
          <a:prstGeom prst="rect">
            <a:avLst/>
          </a:prstGeom>
          <a:solidFill>
            <a:srgbClr val="FAF7F0"/>
          </a:solidFill>
          <a:ln w="11906">
            <a:solidFill>
              <a:srgbClr val="D8D1C0"/>
            </a:solidFill>
            <a:prstDash val="solid"/>
          </a:ln>
        </p:spPr>
      </p:sp>
      <p:sp>
        <p:nvSpPr>
          <p:cNvPr id="25" name="Text 23"/>
          <p:cNvSpPr/>
          <p:nvPr/>
        </p:nvSpPr>
        <p:spPr>
          <a:xfrm>
            <a:off x="122610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Hotel</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Group</a:t>
            </a:r>
            <a:endParaRPr lang="en-US" sz="1950" dirty="0"/>
          </a:p>
        </p:txBody>
      </p:sp>
      <p:sp>
        <p:nvSpPr>
          <p:cNvPr id="26" name="Text 24"/>
          <p:cNvSpPr/>
          <p:nvPr/>
        </p:nvSpPr>
        <p:spPr>
          <a:xfrm>
            <a:off x="12261019" y="4311737"/>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Chains and brand families — Parsian, Homa.</a:t>
            </a:r>
            <a:endParaRPr lang="en-US" sz="1800" dirty="0"/>
          </a:p>
        </p:txBody>
      </p:sp>
      <p:sp>
        <p:nvSpPr>
          <p:cNvPr id="27" name="Shape 25"/>
          <p:cNvSpPr/>
          <p:nvPr/>
        </p:nvSpPr>
        <p:spPr>
          <a:xfrm>
            <a:off x="12261019" y="5658631"/>
            <a:ext cx="4814962" cy="11906"/>
          </a:xfrm>
          <a:prstGeom prst="rect">
            <a:avLst/>
          </a:prstGeom>
          <a:solidFill>
            <a:srgbClr val="D8D1C0"/>
          </a:solidFill>
          <a:ln/>
        </p:spPr>
      </p:sp>
      <p:sp>
        <p:nvSpPr>
          <p:cNvPr id="30" name="Shape 28"/>
          <p:cNvSpPr/>
          <p:nvPr/>
        </p:nvSpPr>
        <p:spPr>
          <a:xfrm>
            <a:off x="952500" y="6477558"/>
            <a:ext cx="5334000" cy="2856942"/>
          </a:xfrm>
          <a:prstGeom prst="rect">
            <a:avLst/>
          </a:prstGeom>
          <a:solidFill>
            <a:srgbClr val="FAF7F0"/>
          </a:solidFill>
          <a:ln w="11906">
            <a:solidFill>
              <a:srgbClr val="D8D1C0"/>
            </a:solidFill>
            <a:prstDash val="solid"/>
          </a:ln>
        </p:spPr>
      </p:sp>
      <p:sp>
        <p:nvSpPr>
          <p:cNvPr id="31" name="Text 29"/>
          <p:cNvSpPr/>
          <p:nvPr/>
        </p:nvSpPr>
        <p:spPr>
          <a:xfrm>
            <a:off x="1212019" y="6737077"/>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Hotel</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Rules</a:t>
            </a:r>
            <a:endParaRPr lang="en-US" sz="1950" dirty="0"/>
          </a:p>
        </p:txBody>
      </p:sp>
      <p:sp>
        <p:nvSpPr>
          <p:cNvPr id="32" name="Text 30"/>
          <p:cNvSpPr/>
          <p:nvPr/>
        </p:nvSpPr>
        <p:spPr>
          <a:xfrm>
            <a:off x="1212019" y="7172771"/>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Check-in, cancellation, age and child rules.</a:t>
            </a:r>
            <a:endParaRPr lang="en-US" sz="1800" dirty="0"/>
          </a:p>
        </p:txBody>
      </p:sp>
      <p:sp>
        <p:nvSpPr>
          <p:cNvPr id="33" name="Shape 31"/>
          <p:cNvSpPr/>
          <p:nvPr/>
        </p:nvSpPr>
        <p:spPr>
          <a:xfrm>
            <a:off x="1212019" y="8706073"/>
            <a:ext cx="4814962" cy="11906"/>
          </a:xfrm>
          <a:prstGeom prst="rect">
            <a:avLst/>
          </a:prstGeom>
          <a:solidFill>
            <a:srgbClr val="D8D1C0"/>
          </a:solidFill>
          <a:ln/>
        </p:spPr>
      </p:sp>
      <p:sp>
        <p:nvSpPr>
          <p:cNvPr id="35" name="Text 33"/>
          <p:cNvSpPr/>
          <p:nvPr/>
        </p:nvSpPr>
        <p:spPr>
          <a:xfrm>
            <a:off x="5784577" y="8851181"/>
            <a:ext cx="318604"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36" name="Shape 34"/>
          <p:cNvSpPr/>
          <p:nvPr/>
        </p:nvSpPr>
        <p:spPr>
          <a:xfrm>
            <a:off x="6477000" y="6477558"/>
            <a:ext cx="5334000" cy="2856942"/>
          </a:xfrm>
          <a:prstGeom prst="rect">
            <a:avLst/>
          </a:prstGeom>
          <a:solidFill>
            <a:srgbClr val="FAF7F0"/>
          </a:solidFill>
          <a:ln w="11906">
            <a:solidFill>
              <a:srgbClr val="D8D1C0"/>
            </a:solidFill>
            <a:prstDash val="solid"/>
          </a:ln>
        </p:spPr>
      </p:sp>
      <p:sp>
        <p:nvSpPr>
          <p:cNvPr id="37" name="Text 35"/>
          <p:cNvSpPr/>
          <p:nvPr/>
        </p:nvSpPr>
        <p:spPr>
          <a:xfrm>
            <a:off x="6736519" y="6737077"/>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Hotel</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Tag</a:t>
            </a:r>
            <a:endParaRPr lang="en-US" sz="1950" dirty="0"/>
          </a:p>
        </p:txBody>
      </p:sp>
      <p:sp>
        <p:nvSpPr>
          <p:cNvPr id="38" name="Text 36"/>
          <p:cNvSpPr/>
          <p:nvPr/>
        </p:nvSpPr>
        <p:spPr>
          <a:xfrm>
            <a:off x="6736519" y="7172771"/>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Pivot — attaches descriptive tags to any hotel.</a:t>
            </a:r>
            <a:endParaRPr lang="en-US" sz="1800" dirty="0"/>
          </a:p>
        </p:txBody>
      </p:sp>
      <p:sp>
        <p:nvSpPr>
          <p:cNvPr id="39" name="Shape 37"/>
          <p:cNvSpPr/>
          <p:nvPr/>
        </p:nvSpPr>
        <p:spPr>
          <a:xfrm>
            <a:off x="6736519" y="8706073"/>
            <a:ext cx="4814962" cy="11906"/>
          </a:xfrm>
          <a:prstGeom prst="rect">
            <a:avLst/>
          </a:prstGeom>
          <a:solidFill>
            <a:srgbClr val="D8D1C0"/>
          </a:solidFill>
          <a:ln/>
        </p:spPr>
      </p:sp>
      <p:sp>
        <p:nvSpPr>
          <p:cNvPr id="42" name="Shape 40"/>
          <p:cNvSpPr/>
          <p:nvPr/>
        </p:nvSpPr>
        <p:spPr>
          <a:xfrm>
            <a:off x="12001500" y="6477558"/>
            <a:ext cx="5334000" cy="285694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1906">
            <a:solidFill>
              <a:srgbClr val="D8D1C0"/>
            </a:solidFill>
            <a:prstDash val="solid"/>
          </a:ln>
        </p:spPr>
      </p:sp>
      <p:sp>
        <p:nvSpPr>
          <p:cNvPr id="49" name="Text 1">
            <a:extLst>
              <a:ext uri="{FF2B5EF4-FFF2-40B4-BE49-F238E27FC236}">
                <a16:creationId xmlns:a16="http://schemas.microsoft.com/office/drawing/2014/main" id="{7CB6C344-3F74-3A0A-2E6F-D1610074AE0D}"/>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04 / 22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kern="0" spc="72" dirty="0">
                <a:solidFill>
                  <a:srgbClr val="0F1419"/>
                </a:solidFill>
                <a:latin typeface="Arial" pitchFamily="34" charset="0"/>
                <a:ea typeface="Arial" pitchFamily="34" charset="-122"/>
                <a:cs typeface="Arial" pitchFamily="34" charset="-120"/>
              </a:rPr>
              <a:t>HOTEL PLATFORM / SECTION 1</a:t>
            </a:r>
            <a:endParaRPr lang="en-US" dirty="0"/>
          </a:p>
        </p:txBody>
      </p:sp>
      <p:sp>
        <p:nvSpPr>
          <p:cNvPr id="3" name="Text 1"/>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05 / 22</a:t>
            </a:r>
            <a:endParaRPr lang="en-US" sz="1800" dirty="0"/>
          </a:p>
        </p:txBody>
      </p:sp>
      <p:sp>
        <p:nvSpPr>
          <p:cNvPr id="6" name="Text 4"/>
          <p:cNvSpPr/>
          <p:nvPr/>
        </p:nvSpPr>
        <p:spPr>
          <a:xfrm>
            <a:off x="952500" y="2549798"/>
            <a:ext cx="1452860" cy="1171426"/>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0500" kern="0" spc="-420" dirty="0">
                <a:solidFill>
                  <a:srgbClr val="C9A86A"/>
                </a:solidFill>
                <a:latin typeface="Arial" pitchFamily="34" charset="0"/>
                <a:ea typeface="Arial" pitchFamily="34" charset="-122"/>
                <a:cs typeface="Arial" pitchFamily="34" charset="-120"/>
              </a:rPr>
              <a:t>02</a:t>
            </a:r>
            <a:endParaRPr lang="en-US" sz="10500" dirty="0"/>
          </a:p>
        </p:txBody>
      </p:sp>
      <p:sp>
        <p:nvSpPr>
          <p:cNvPr id="7" name="Text 5"/>
          <p:cNvSpPr/>
          <p:nvPr/>
        </p:nvSpPr>
        <p:spPr>
          <a:xfrm>
            <a:off x="2786249" y="1623901"/>
            <a:ext cx="12868178"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PHASE TWO</a:t>
            </a:r>
            <a:endParaRPr lang="en-US" sz="1800" dirty="0"/>
          </a:p>
        </p:txBody>
      </p:sp>
      <p:sp>
        <p:nvSpPr>
          <p:cNvPr id="8" name="Text 6"/>
          <p:cNvSpPr/>
          <p:nvPr/>
        </p:nvSpPr>
        <p:spPr>
          <a:xfrm>
            <a:off x="2786249" y="2085826"/>
            <a:ext cx="12868178"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Rooms, rates &amp; inventory.</a:t>
            </a:r>
            <a:endParaRPr lang="en-US" sz="5400" dirty="0"/>
          </a:p>
        </p:txBody>
      </p:sp>
      <p:sp>
        <p:nvSpPr>
          <p:cNvPr id="9" name="Text 7"/>
          <p:cNvSpPr/>
          <p:nvPr/>
        </p:nvSpPr>
        <p:spPr>
          <a:xfrm>
            <a:off x="2786249" y="2940472"/>
            <a:ext cx="8829675" cy="780752"/>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The booking engine starts here — date-by-date availability, pricing schemes, and external feeds.</a:t>
            </a:r>
            <a:endParaRPr lang="en-US" sz="1950" dirty="0"/>
          </a:p>
        </p:txBody>
      </p:sp>
      <p:sp>
        <p:nvSpPr>
          <p:cNvPr id="11" name="Text 9"/>
          <p:cNvSpPr/>
          <p:nvPr/>
        </p:nvSpPr>
        <p:spPr>
          <a:xfrm>
            <a:off x="15660514" y="3266405"/>
            <a:ext cx="1674986" cy="454819"/>
          </a:xfrm>
          <a:prstGeom prst="rect">
            <a:avLst/>
          </a:prstGeom>
          <a:noFill/>
          <a:ln/>
        </p:spPr>
        <p:txBody>
          <a:bodyPr wrap="square" lIns="25400" tIns="25400" rIns="25400" bIns="25400" rtlCol="0" anchor="t">
            <a:normAutofit lnSpcReduction="10000"/>
          </a:bodyPr>
          <a:lstStyle/>
          <a:p>
            <a:pPr marL="0" indent="0" algn="r">
              <a:buNone/>
            </a:pPr>
            <a:r>
              <a:rPr lang="en-US" sz="2700" kern="0" spc="-54" dirty="0">
                <a:solidFill>
                  <a:srgbClr val="0F1419"/>
                </a:solidFill>
                <a:latin typeface="Arial" pitchFamily="34" charset="0"/>
                <a:ea typeface="Arial" pitchFamily="34" charset="-122"/>
                <a:cs typeface="Arial" pitchFamily="34" charset="-120"/>
              </a:rPr>
              <a:t>4 Tables</a:t>
            </a:r>
            <a:endParaRPr lang="en-US" sz="2700" dirty="0"/>
          </a:p>
        </p:txBody>
      </p:sp>
      <p:sp>
        <p:nvSpPr>
          <p:cNvPr id="12" name="Shape 10"/>
          <p:cNvSpPr/>
          <p:nvPr/>
        </p:nvSpPr>
        <p:spPr>
          <a:xfrm>
            <a:off x="952500" y="3987850"/>
            <a:ext cx="6699126" cy="534665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1906">
            <a:solidFill>
              <a:srgbClr val="D8D1C0"/>
            </a:solidFill>
            <a:prstDash val="solid"/>
          </a:ln>
        </p:spPr>
      </p:sp>
      <p:sp>
        <p:nvSpPr>
          <p:cNvPr id="16" name="Shape 14"/>
          <p:cNvSpPr/>
          <p:nvPr/>
        </p:nvSpPr>
        <p:spPr>
          <a:xfrm>
            <a:off x="7956352" y="3987850"/>
            <a:ext cx="4594138" cy="2578075"/>
          </a:xfrm>
          <a:prstGeom prst="rect">
            <a:avLst/>
          </a:prstGeom>
          <a:solidFill>
            <a:srgbClr val="FAF7F0"/>
          </a:solidFill>
          <a:ln w="11906">
            <a:solidFill>
              <a:srgbClr val="D8D1C0"/>
            </a:solidFill>
            <a:prstDash val="solid"/>
          </a:ln>
        </p:spPr>
      </p:sp>
      <p:sp>
        <p:nvSpPr>
          <p:cNvPr id="17" name="Text 15"/>
          <p:cNvSpPr/>
          <p:nvPr/>
        </p:nvSpPr>
        <p:spPr>
          <a:xfrm>
            <a:off x="8215871" y="4247369"/>
            <a:ext cx="4197353"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Room</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Type</a:t>
            </a:r>
            <a:endParaRPr lang="en-US" sz="1950" dirty="0"/>
          </a:p>
        </p:txBody>
      </p:sp>
      <p:sp>
        <p:nvSpPr>
          <p:cNvPr id="18" name="Text 16"/>
          <p:cNvSpPr/>
          <p:nvPr/>
        </p:nvSpPr>
        <p:spPr>
          <a:xfrm>
            <a:off x="8215871" y="4683063"/>
            <a:ext cx="4197353"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Bookable units — single, double, suite, occupancy and bed config.</a:t>
            </a:r>
            <a:endParaRPr lang="en-US" sz="1800" dirty="0"/>
          </a:p>
        </p:txBody>
      </p:sp>
      <p:sp>
        <p:nvSpPr>
          <p:cNvPr id="19" name="Shape 17"/>
          <p:cNvSpPr/>
          <p:nvPr/>
        </p:nvSpPr>
        <p:spPr>
          <a:xfrm>
            <a:off x="8215871" y="5937498"/>
            <a:ext cx="4075100" cy="11906"/>
          </a:xfrm>
          <a:prstGeom prst="rect">
            <a:avLst/>
          </a:prstGeom>
          <a:solidFill>
            <a:srgbClr val="D8D1C0"/>
          </a:solidFill>
          <a:ln/>
        </p:spPr>
      </p:sp>
      <p:sp>
        <p:nvSpPr>
          <p:cNvPr id="22" name="Shape 20"/>
          <p:cNvSpPr/>
          <p:nvPr/>
        </p:nvSpPr>
        <p:spPr>
          <a:xfrm>
            <a:off x="12740990" y="3987850"/>
            <a:ext cx="4594324" cy="2578075"/>
          </a:xfrm>
          <a:prstGeom prst="rect">
            <a:avLst/>
          </a:prstGeom>
          <a:solidFill>
            <a:srgbClr val="FAF7F0"/>
          </a:solidFill>
          <a:ln w="11906">
            <a:solidFill>
              <a:srgbClr val="D8D1C0"/>
            </a:solidFill>
            <a:prstDash val="solid"/>
          </a:ln>
        </p:spPr>
      </p:sp>
      <p:sp>
        <p:nvSpPr>
          <p:cNvPr id="23" name="Text 21"/>
          <p:cNvSpPr/>
          <p:nvPr/>
        </p:nvSpPr>
        <p:spPr>
          <a:xfrm>
            <a:off x="13000509" y="4247369"/>
            <a:ext cx="4197545"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Availability</a:t>
            </a:r>
            <a:endParaRPr lang="en-US" sz="1950" dirty="0"/>
          </a:p>
        </p:txBody>
      </p:sp>
      <p:sp>
        <p:nvSpPr>
          <p:cNvPr id="24" name="Text 22"/>
          <p:cNvSpPr/>
          <p:nvPr/>
        </p:nvSpPr>
        <p:spPr>
          <a:xfrm>
            <a:off x="13000509" y="4683063"/>
            <a:ext cx="4197545"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Date · room · count · price. The hot table — every search hits it.</a:t>
            </a:r>
            <a:endParaRPr lang="en-US" sz="1800" dirty="0"/>
          </a:p>
        </p:txBody>
      </p:sp>
      <p:sp>
        <p:nvSpPr>
          <p:cNvPr id="25" name="Shape 23"/>
          <p:cNvSpPr/>
          <p:nvPr/>
        </p:nvSpPr>
        <p:spPr>
          <a:xfrm>
            <a:off x="13000509" y="5937498"/>
            <a:ext cx="4075286" cy="11906"/>
          </a:xfrm>
          <a:prstGeom prst="rect">
            <a:avLst/>
          </a:prstGeom>
          <a:solidFill>
            <a:srgbClr val="D8D1C0"/>
          </a:solidFill>
          <a:ln/>
        </p:spPr>
      </p:sp>
      <p:sp>
        <p:nvSpPr>
          <p:cNvPr id="28" name="Shape 26"/>
          <p:cNvSpPr/>
          <p:nvPr/>
        </p:nvSpPr>
        <p:spPr>
          <a:xfrm>
            <a:off x="7956352" y="6756425"/>
            <a:ext cx="4594138" cy="2578075"/>
          </a:xfrm>
          <a:prstGeom prst="rect">
            <a:avLst/>
          </a:prstGeom>
          <a:solidFill>
            <a:srgbClr val="FAF7F0"/>
          </a:solidFill>
          <a:ln w="11906">
            <a:solidFill>
              <a:srgbClr val="D8D1C0"/>
            </a:solidFill>
            <a:prstDash val="solid"/>
          </a:ln>
        </p:spPr>
      </p:sp>
      <p:sp>
        <p:nvSpPr>
          <p:cNvPr id="29" name="Text 27"/>
          <p:cNvSpPr/>
          <p:nvPr/>
        </p:nvSpPr>
        <p:spPr>
          <a:xfrm>
            <a:off x="8215871" y="7015944"/>
            <a:ext cx="4197353"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Rate</a:t>
            </a:r>
            <a:r>
              <a:rPr lang="fa-IR" sz="1950" kern="0" spc="-10" dirty="0">
                <a:solidFill>
                  <a:srgbClr val="0F1419"/>
                </a:solidFill>
                <a:latin typeface="Arial" pitchFamily="34" charset="0"/>
                <a:ea typeface="Arial" pitchFamily="34" charset="-122"/>
                <a:cs typeface="Arial" pitchFamily="34" charset="-120"/>
              </a:rPr>
              <a:t> </a:t>
            </a:r>
            <a:r>
              <a:rPr lang="en-US" sz="1950" kern="0" spc="-10" dirty="0">
                <a:solidFill>
                  <a:srgbClr val="0F1419"/>
                </a:solidFill>
                <a:latin typeface="Arial" pitchFamily="34" charset="0"/>
                <a:ea typeface="Arial" pitchFamily="34" charset="-122"/>
                <a:cs typeface="Arial" pitchFamily="34" charset="-120"/>
              </a:rPr>
              <a:t>Plan</a:t>
            </a:r>
            <a:endParaRPr lang="en-US" sz="1950" dirty="0"/>
          </a:p>
        </p:txBody>
      </p:sp>
      <p:sp>
        <p:nvSpPr>
          <p:cNvPr id="30" name="Text 28"/>
          <p:cNvSpPr/>
          <p:nvPr/>
        </p:nvSpPr>
        <p:spPr>
          <a:xfrm>
            <a:off x="8215871" y="7451638"/>
            <a:ext cx="4197353"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Sale conditions — bed-and-breakfast, refundable, packages.</a:t>
            </a:r>
            <a:endParaRPr lang="en-US" sz="1800" dirty="0"/>
          </a:p>
        </p:txBody>
      </p:sp>
      <p:sp>
        <p:nvSpPr>
          <p:cNvPr id="31" name="Shape 29"/>
          <p:cNvSpPr/>
          <p:nvPr/>
        </p:nvSpPr>
        <p:spPr>
          <a:xfrm>
            <a:off x="8215871" y="8706073"/>
            <a:ext cx="4075100" cy="11906"/>
          </a:xfrm>
          <a:prstGeom prst="rect">
            <a:avLst/>
          </a:prstGeom>
          <a:solidFill>
            <a:srgbClr val="D8D1C0"/>
          </a:solidFill>
          <a:ln/>
        </p:spPr>
      </p:sp>
      <p:sp>
        <p:nvSpPr>
          <p:cNvPr id="34" name="Shape 32"/>
          <p:cNvSpPr/>
          <p:nvPr/>
        </p:nvSpPr>
        <p:spPr>
          <a:xfrm>
            <a:off x="12740990" y="6756425"/>
            <a:ext cx="4594324" cy="2578075"/>
          </a:xfrm>
          <a:prstGeom prst="rect">
            <a:avLst/>
          </a:prstGeom>
          <a:solidFill>
            <a:srgbClr val="FAF7F0"/>
          </a:solidFill>
          <a:ln w="11906">
            <a:solidFill>
              <a:srgbClr val="D8D1C0"/>
            </a:solidFill>
            <a:prstDash val="solid"/>
          </a:ln>
        </p:spPr>
      </p:sp>
      <p:sp>
        <p:nvSpPr>
          <p:cNvPr id="35" name="Text 33"/>
          <p:cNvSpPr/>
          <p:nvPr/>
        </p:nvSpPr>
        <p:spPr>
          <a:xfrm>
            <a:off x="13000509" y="7015944"/>
            <a:ext cx="4197545"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Provider</a:t>
            </a:r>
            <a:endParaRPr lang="en-US" sz="1950" dirty="0"/>
          </a:p>
        </p:txBody>
      </p:sp>
      <p:sp>
        <p:nvSpPr>
          <p:cNvPr id="36" name="Text 34"/>
          <p:cNvSpPr/>
          <p:nvPr/>
        </p:nvSpPr>
        <p:spPr>
          <a:xfrm>
            <a:off x="13000509" y="7451638"/>
            <a:ext cx="4197545"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Source registry for ingested availability and rate feeds.</a:t>
            </a:r>
            <a:endParaRPr lang="en-US" sz="1800" dirty="0"/>
          </a:p>
        </p:txBody>
      </p:sp>
      <p:sp>
        <p:nvSpPr>
          <p:cNvPr id="37" name="Shape 35"/>
          <p:cNvSpPr/>
          <p:nvPr/>
        </p:nvSpPr>
        <p:spPr>
          <a:xfrm>
            <a:off x="13000509" y="8706073"/>
            <a:ext cx="4075286" cy="11906"/>
          </a:xfrm>
          <a:prstGeom prst="rect">
            <a:avLst/>
          </a:prstGeom>
          <a:solidFill>
            <a:srgbClr val="D8D1C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kern="0" spc="72" dirty="0">
                <a:solidFill>
                  <a:srgbClr val="0F1419"/>
                </a:solidFill>
                <a:latin typeface="Arial" pitchFamily="34" charset="0"/>
                <a:ea typeface="Arial" pitchFamily="34" charset="-122"/>
                <a:cs typeface="Arial" pitchFamily="34" charset="-120"/>
              </a:rPr>
              <a:t>HOTEL PLATFORM / SECTION 1</a:t>
            </a:r>
            <a:endParaRPr lang="en-US" dirty="0"/>
          </a:p>
        </p:txBody>
      </p:sp>
      <p:sp>
        <p:nvSpPr>
          <p:cNvPr id="6" name="Text 4"/>
          <p:cNvSpPr/>
          <p:nvPr/>
        </p:nvSpPr>
        <p:spPr>
          <a:xfrm>
            <a:off x="952500" y="2178472"/>
            <a:ext cx="1452860" cy="1171426"/>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0500" kern="0" spc="-420" dirty="0">
                <a:solidFill>
                  <a:srgbClr val="C9A86A"/>
                </a:solidFill>
                <a:latin typeface="Arial" pitchFamily="34" charset="0"/>
                <a:ea typeface="Arial" pitchFamily="34" charset="-122"/>
                <a:cs typeface="Arial" pitchFamily="34" charset="-120"/>
              </a:rPr>
              <a:t>03</a:t>
            </a:r>
            <a:endParaRPr lang="en-US" sz="10500" dirty="0"/>
          </a:p>
        </p:txBody>
      </p:sp>
      <p:sp>
        <p:nvSpPr>
          <p:cNvPr id="7" name="Text 5"/>
          <p:cNvSpPr/>
          <p:nvPr/>
        </p:nvSpPr>
        <p:spPr>
          <a:xfrm>
            <a:off x="2786249" y="1623901"/>
            <a:ext cx="12868178"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PHASE THREE</a:t>
            </a:r>
            <a:endParaRPr lang="en-US" sz="1800" dirty="0"/>
          </a:p>
        </p:txBody>
      </p:sp>
      <p:sp>
        <p:nvSpPr>
          <p:cNvPr id="8" name="Text 6"/>
          <p:cNvSpPr/>
          <p:nvPr/>
        </p:nvSpPr>
        <p:spPr>
          <a:xfrm>
            <a:off x="2786249" y="2085826"/>
            <a:ext cx="12868178"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Facilities &amp; geography.</a:t>
            </a:r>
            <a:endParaRPr lang="en-US" sz="5400" dirty="0"/>
          </a:p>
        </p:txBody>
      </p:sp>
      <p:sp>
        <p:nvSpPr>
          <p:cNvPr id="9" name="Text 7"/>
          <p:cNvSpPr/>
          <p:nvPr/>
        </p:nvSpPr>
        <p:spPr>
          <a:xfrm>
            <a:off x="2786249" y="2940472"/>
            <a:ext cx="1079182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Descriptive layer plus location data. Both run in parallel after phase one.</a:t>
            </a:r>
            <a:endParaRPr lang="en-US" sz="1950" dirty="0"/>
          </a:p>
        </p:txBody>
      </p:sp>
      <p:sp>
        <p:nvSpPr>
          <p:cNvPr id="11" name="Text 9"/>
          <p:cNvSpPr/>
          <p:nvPr/>
        </p:nvSpPr>
        <p:spPr>
          <a:xfrm>
            <a:off x="15660514" y="2895079"/>
            <a:ext cx="1674986" cy="454819"/>
          </a:xfrm>
          <a:prstGeom prst="rect">
            <a:avLst/>
          </a:prstGeom>
          <a:noFill/>
          <a:ln/>
        </p:spPr>
        <p:txBody>
          <a:bodyPr wrap="square" lIns="25400" tIns="25400" rIns="25400" bIns="25400" rtlCol="0" anchor="t">
            <a:normAutofit lnSpcReduction="10000"/>
          </a:bodyPr>
          <a:lstStyle/>
          <a:p>
            <a:pPr marL="0" indent="0" algn="r">
              <a:buNone/>
            </a:pPr>
            <a:r>
              <a:rPr lang="en-US" sz="2700" kern="0" spc="-54" dirty="0">
                <a:solidFill>
                  <a:srgbClr val="0F1419"/>
                </a:solidFill>
                <a:latin typeface="Arial" pitchFamily="34" charset="0"/>
                <a:ea typeface="Arial" pitchFamily="34" charset="-122"/>
                <a:cs typeface="Arial" pitchFamily="34" charset="-120"/>
              </a:rPr>
              <a:t>7 Tables</a:t>
            </a:r>
            <a:endParaRPr lang="en-US" sz="2700" dirty="0"/>
          </a:p>
        </p:txBody>
      </p:sp>
      <p:sp>
        <p:nvSpPr>
          <p:cNvPr id="13" name="Shape 11"/>
          <p:cNvSpPr/>
          <p:nvPr/>
        </p:nvSpPr>
        <p:spPr>
          <a:xfrm>
            <a:off x="952500" y="4042730"/>
            <a:ext cx="3943387" cy="1556556"/>
          </a:xfrm>
          <a:prstGeom prst="rect">
            <a:avLst/>
          </a:prstGeom>
          <a:solidFill>
            <a:srgbClr val="FAF7F0"/>
          </a:solidFill>
          <a:ln w="11906">
            <a:solidFill>
              <a:srgbClr val="D8D1C0"/>
            </a:solidFill>
            <a:prstDash val="solid"/>
          </a:ln>
        </p:spPr>
      </p:sp>
      <p:sp>
        <p:nvSpPr>
          <p:cNvPr id="14" name="Text 12"/>
          <p:cNvSpPr/>
          <p:nvPr/>
        </p:nvSpPr>
        <p:spPr>
          <a:xfrm>
            <a:off x="1212019" y="4302249"/>
            <a:ext cx="3527080"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Facility</a:t>
            </a:r>
            <a:endParaRPr lang="en-US" sz="1950" dirty="0"/>
          </a:p>
        </p:txBody>
      </p:sp>
      <p:sp>
        <p:nvSpPr>
          <p:cNvPr id="15" name="Text 13"/>
          <p:cNvSpPr/>
          <p:nvPr/>
        </p:nvSpPr>
        <p:spPr>
          <a:xfrm>
            <a:off x="1212019" y="4737943"/>
            <a:ext cx="3527080"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Master amenity list — wifi, pool, parking.</a:t>
            </a:r>
            <a:endParaRPr lang="en-US" sz="1800" dirty="0"/>
          </a:p>
        </p:txBody>
      </p:sp>
      <p:sp>
        <p:nvSpPr>
          <p:cNvPr id="16" name="Shape 14"/>
          <p:cNvSpPr/>
          <p:nvPr/>
        </p:nvSpPr>
        <p:spPr>
          <a:xfrm>
            <a:off x="5086387" y="4042730"/>
            <a:ext cx="3943387" cy="1556556"/>
          </a:xfrm>
          <a:prstGeom prst="rect">
            <a:avLst/>
          </a:prstGeom>
          <a:solidFill>
            <a:srgbClr val="FAF7F0"/>
          </a:solidFill>
          <a:ln w="11906">
            <a:solidFill>
              <a:srgbClr val="D8D1C0"/>
            </a:solidFill>
            <a:prstDash val="solid"/>
          </a:ln>
        </p:spPr>
      </p:sp>
      <p:sp>
        <p:nvSpPr>
          <p:cNvPr id="17" name="Text 15"/>
          <p:cNvSpPr/>
          <p:nvPr/>
        </p:nvSpPr>
        <p:spPr>
          <a:xfrm>
            <a:off x="5345906" y="4302249"/>
            <a:ext cx="3527080"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Group Facility</a:t>
            </a:r>
            <a:endParaRPr lang="en-US" sz="1950" dirty="0"/>
          </a:p>
        </p:txBody>
      </p:sp>
      <p:sp>
        <p:nvSpPr>
          <p:cNvPr id="18" name="Text 16"/>
          <p:cNvSpPr/>
          <p:nvPr/>
        </p:nvSpPr>
        <p:spPr>
          <a:xfrm>
            <a:off x="5345906" y="4737943"/>
            <a:ext cx="3527080" cy="6780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Buckets — room, common area, sports.</a:t>
            </a:r>
            <a:endParaRPr lang="en-US" sz="1800" dirty="0"/>
          </a:p>
        </p:txBody>
      </p:sp>
      <p:sp>
        <p:nvSpPr>
          <p:cNvPr id="22" name="Shape 20"/>
          <p:cNvSpPr/>
          <p:nvPr/>
        </p:nvSpPr>
        <p:spPr>
          <a:xfrm>
            <a:off x="952499" y="5932313"/>
            <a:ext cx="3943387" cy="1556556"/>
          </a:xfrm>
          <a:prstGeom prst="rect">
            <a:avLst/>
          </a:prstGeom>
          <a:solidFill>
            <a:srgbClr val="FAF7F0"/>
          </a:solidFill>
          <a:ln w="11906">
            <a:solidFill>
              <a:srgbClr val="D8D1C0"/>
            </a:solidFill>
            <a:prstDash val="solid"/>
          </a:ln>
        </p:spPr>
        <p:txBody>
          <a:bodyPr/>
          <a:lstStyle/>
          <a:p>
            <a:endParaRPr lang="en-US" dirty="0"/>
          </a:p>
        </p:txBody>
      </p:sp>
      <p:sp>
        <p:nvSpPr>
          <p:cNvPr id="23" name="Text 21"/>
          <p:cNvSpPr/>
          <p:nvPr/>
        </p:nvSpPr>
        <p:spPr>
          <a:xfrm>
            <a:off x="1212019" y="6151313"/>
            <a:ext cx="3527080"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Tag</a:t>
            </a:r>
            <a:endParaRPr lang="en-US" sz="1950" dirty="0"/>
          </a:p>
        </p:txBody>
      </p:sp>
      <p:sp>
        <p:nvSpPr>
          <p:cNvPr id="24" name="Text 22"/>
          <p:cNvSpPr/>
          <p:nvPr/>
        </p:nvSpPr>
        <p:spPr>
          <a:xfrm>
            <a:off x="1212019" y="6660845"/>
            <a:ext cx="3527080"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Editorial tags — luxury, budget, family.</a:t>
            </a:r>
            <a:endParaRPr lang="en-US" sz="1800" dirty="0"/>
          </a:p>
        </p:txBody>
      </p:sp>
      <p:sp>
        <p:nvSpPr>
          <p:cNvPr id="26" name="Shape 24"/>
          <p:cNvSpPr/>
          <p:nvPr/>
        </p:nvSpPr>
        <p:spPr>
          <a:xfrm>
            <a:off x="9258226" y="4042730"/>
            <a:ext cx="3943387" cy="1556556"/>
          </a:xfrm>
          <a:prstGeom prst="rect">
            <a:avLst/>
          </a:prstGeom>
          <a:solidFill>
            <a:srgbClr val="FAF7F0"/>
          </a:solidFill>
          <a:ln w="11906">
            <a:solidFill>
              <a:srgbClr val="D8D1C0"/>
            </a:solidFill>
            <a:prstDash val="solid"/>
          </a:ln>
        </p:spPr>
      </p:sp>
      <p:sp>
        <p:nvSpPr>
          <p:cNvPr id="27" name="Text 25"/>
          <p:cNvSpPr/>
          <p:nvPr/>
        </p:nvSpPr>
        <p:spPr>
          <a:xfrm>
            <a:off x="9517745" y="4302249"/>
            <a:ext cx="3527080"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Location</a:t>
            </a:r>
            <a:endParaRPr lang="en-US" sz="1950" dirty="0"/>
          </a:p>
        </p:txBody>
      </p:sp>
      <p:sp>
        <p:nvSpPr>
          <p:cNvPr id="28" name="Text 26"/>
          <p:cNvSpPr/>
          <p:nvPr/>
        </p:nvSpPr>
        <p:spPr>
          <a:xfrm>
            <a:off x="9517745" y="4737943"/>
            <a:ext cx="3527080"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Country · province · city · neighborhood tree.</a:t>
            </a:r>
            <a:endParaRPr lang="en-US" sz="1800" dirty="0"/>
          </a:p>
        </p:txBody>
      </p:sp>
      <p:sp>
        <p:nvSpPr>
          <p:cNvPr id="29" name="Shape 27"/>
          <p:cNvSpPr/>
          <p:nvPr/>
        </p:nvSpPr>
        <p:spPr>
          <a:xfrm>
            <a:off x="13392113" y="4042730"/>
            <a:ext cx="3943387" cy="1556556"/>
          </a:xfrm>
          <a:prstGeom prst="rect">
            <a:avLst/>
          </a:prstGeom>
          <a:solidFill>
            <a:srgbClr val="FAF7F0"/>
          </a:solidFill>
          <a:ln w="11906">
            <a:solidFill>
              <a:srgbClr val="D8D1C0"/>
            </a:solidFill>
            <a:prstDash val="solid"/>
          </a:ln>
        </p:spPr>
      </p:sp>
      <p:sp>
        <p:nvSpPr>
          <p:cNvPr id="30" name="Text 28"/>
          <p:cNvSpPr/>
          <p:nvPr/>
        </p:nvSpPr>
        <p:spPr>
          <a:xfrm>
            <a:off x="13651632" y="4302249"/>
            <a:ext cx="3527080"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Landmark</a:t>
            </a:r>
            <a:endParaRPr lang="en-US" sz="1950" dirty="0"/>
          </a:p>
        </p:txBody>
      </p:sp>
      <p:sp>
        <p:nvSpPr>
          <p:cNvPr id="31" name="Text 29"/>
          <p:cNvSpPr/>
          <p:nvPr/>
        </p:nvSpPr>
        <p:spPr>
          <a:xfrm>
            <a:off x="13651632" y="4737943"/>
            <a:ext cx="3527080"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Airports, metro, attractions near each hotel.</a:t>
            </a:r>
            <a:endParaRPr lang="en-US" sz="1800" dirty="0"/>
          </a:p>
        </p:txBody>
      </p:sp>
      <p:sp>
        <p:nvSpPr>
          <p:cNvPr id="32" name="Shape 30"/>
          <p:cNvSpPr/>
          <p:nvPr/>
        </p:nvSpPr>
        <p:spPr>
          <a:xfrm>
            <a:off x="4991137" y="5932313"/>
            <a:ext cx="8077274" cy="1236576"/>
          </a:xfrm>
          <a:prstGeom prst="rect">
            <a:avLst/>
          </a:prstGeom>
          <a:solidFill>
            <a:srgbClr val="FAF7F0"/>
          </a:solidFill>
          <a:ln w="11906">
            <a:solidFill>
              <a:srgbClr val="D8D1C0"/>
            </a:solidFill>
            <a:prstDash val="solid"/>
          </a:ln>
        </p:spPr>
      </p:sp>
      <p:sp>
        <p:nvSpPr>
          <p:cNvPr id="33" name="Text 31"/>
          <p:cNvSpPr/>
          <p:nvPr/>
        </p:nvSpPr>
        <p:spPr>
          <a:xfrm>
            <a:off x="5250656" y="6191832"/>
            <a:ext cx="7784983"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Category</a:t>
            </a:r>
            <a:endParaRPr lang="en-US" sz="1950" dirty="0"/>
          </a:p>
        </p:txBody>
      </p:sp>
      <p:sp>
        <p:nvSpPr>
          <p:cNvPr id="34" name="Text 32"/>
          <p:cNvSpPr/>
          <p:nvPr/>
        </p:nvSpPr>
        <p:spPr>
          <a:xfrm>
            <a:off x="5250656" y="6627527"/>
            <a:ext cx="7784983"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Cross-domain taxonomy — applies to hotels and cities.</a:t>
            </a:r>
            <a:endParaRPr lang="en-US" sz="1800" dirty="0"/>
          </a:p>
        </p:txBody>
      </p:sp>
      <p:sp>
        <p:nvSpPr>
          <p:cNvPr id="37" name="Text 1">
            <a:extLst>
              <a:ext uri="{FF2B5EF4-FFF2-40B4-BE49-F238E27FC236}">
                <a16:creationId xmlns:a16="http://schemas.microsoft.com/office/drawing/2014/main" id="{8AED70A8-3591-A2D4-23E0-BBA9F936F95D}"/>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06 / 22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kern="0" spc="72" dirty="0">
                <a:solidFill>
                  <a:srgbClr val="0F1419"/>
                </a:solidFill>
                <a:latin typeface="Arial" pitchFamily="34" charset="0"/>
                <a:ea typeface="Arial" pitchFamily="34" charset="-122"/>
                <a:cs typeface="Arial" pitchFamily="34" charset="-120"/>
              </a:rPr>
              <a:t>HOTEL PLATFORM / SECTION 1</a:t>
            </a:r>
            <a:endParaRPr lang="en-US" dirty="0"/>
          </a:p>
        </p:txBody>
      </p:sp>
      <p:sp>
        <p:nvSpPr>
          <p:cNvPr id="3" name="Text 1"/>
          <p:cNvSpPr/>
          <p:nvPr/>
        </p:nvSpPr>
        <p:spPr>
          <a:xfrm>
            <a:off x="14876115" y="881063"/>
            <a:ext cx="839316"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6" name="Text 4"/>
          <p:cNvSpPr/>
          <p:nvPr/>
        </p:nvSpPr>
        <p:spPr>
          <a:xfrm>
            <a:off x="952500" y="2178472"/>
            <a:ext cx="1452860" cy="1171426"/>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0500" kern="0" spc="-420" dirty="0">
                <a:solidFill>
                  <a:srgbClr val="C9A86A"/>
                </a:solidFill>
                <a:latin typeface="Arial" pitchFamily="34" charset="0"/>
                <a:ea typeface="Arial" pitchFamily="34" charset="-122"/>
                <a:cs typeface="Arial" pitchFamily="34" charset="-120"/>
              </a:rPr>
              <a:t>04</a:t>
            </a:r>
            <a:endParaRPr lang="en-US" sz="10500" dirty="0"/>
          </a:p>
        </p:txBody>
      </p:sp>
      <p:sp>
        <p:nvSpPr>
          <p:cNvPr id="7" name="Text 5"/>
          <p:cNvSpPr/>
          <p:nvPr/>
        </p:nvSpPr>
        <p:spPr>
          <a:xfrm>
            <a:off x="2786249" y="1623901"/>
            <a:ext cx="12868178"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PHASE FOUR</a:t>
            </a:r>
            <a:endParaRPr lang="en-US" sz="1800" dirty="0"/>
          </a:p>
        </p:txBody>
      </p:sp>
      <p:sp>
        <p:nvSpPr>
          <p:cNvPr id="8" name="Text 6"/>
          <p:cNvSpPr/>
          <p:nvPr/>
        </p:nvSpPr>
        <p:spPr>
          <a:xfrm>
            <a:off x="2786249" y="2085826"/>
            <a:ext cx="12868178"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Marketing, users &amp; system.</a:t>
            </a:r>
            <a:endParaRPr lang="en-US" sz="5400" dirty="0"/>
          </a:p>
        </p:txBody>
      </p:sp>
      <p:sp>
        <p:nvSpPr>
          <p:cNvPr id="9" name="Text 7"/>
          <p:cNvSpPr/>
          <p:nvPr/>
        </p:nvSpPr>
        <p:spPr>
          <a:xfrm>
            <a:off x="2786249" y="2940472"/>
            <a:ext cx="1079182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Closing out the schema — content, identity, reviews, and configuration.</a:t>
            </a:r>
            <a:endParaRPr lang="en-US" sz="1950" dirty="0"/>
          </a:p>
        </p:txBody>
      </p:sp>
      <p:sp>
        <p:nvSpPr>
          <p:cNvPr id="11" name="Text 9"/>
          <p:cNvSpPr/>
          <p:nvPr/>
        </p:nvSpPr>
        <p:spPr>
          <a:xfrm>
            <a:off x="15660514" y="2895079"/>
            <a:ext cx="1674986" cy="454819"/>
          </a:xfrm>
          <a:prstGeom prst="rect">
            <a:avLst/>
          </a:prstGeom>
          <a:noFill/>
          <a:ln/>
        </p:spPr>
        <p:txBody>
          <a:bodyPr wrap="square" lIns="25400" tIns="25400" rIns="25400" bIns="25400" rtlCol="0" anchor="t">
            <a:normAutofit lnSpcReduction="10000"/>
          </a:bodyPr>
          <a:lstStyle/>
          <a:p>
            <a:pPr marL="0" indent="0" algn="r">
              <a:buNone/>
            </a:pPr>
            <a:r>
              <a:rPr lang="en-US" sz="2700" kern="0" spc="-54" dirty="0">
                <a:solidFill>
                  <a:srgbClr val="0F1419"/>
                </a:solidFill>
                <a:latin typeface="Arial" pitchFamily="34" charset="0"/>
                <a:ea typeface="Arial" pitchFamily="34" charset="-122"/>
                <a:cs typeface="Arial" pitchFamily="34" charset="-120"/>
              </a:rPr>
              <a:t>7 Tables</a:t>
            </a:r>
            <a:endParaRPr lang="en-US" sz="2700" dirty="0"/>
          </a:p>
        </p:txBody>
      </p:sp>
      <p:sp>
        <p:nvSpPr>
          <p:cNvPr id="12" name="Shape 10"/>
          <p:cNvSpPr/>
          <p:nvPr/>
        </p:nvSpPr>
        <p:spPr>
          <a:xfrm>
            <a:off x="952500" y="3616523"/>
            <a:ext cx="5334000" cy="2077827"/>
          </a:xfrm>
          <a:prstGeom prst="rect">
            <a:avLst/>
          </a:prstGeom>
          <a:solidFill>
            <a:srgbClr val="FAF7F0"/>
          </a:solidFill>
          <a:ln w="11906">
            <a:solidFill>
              <a:srgbClr val="D8D1C0"/>
            </a:solidFill>
            <a:prstDash val="solid"/>
          </a:ln>
        </p:spPr>
      </p:sp>
      <p:sp>
        <p:nvSpPr>
          <p:cNvPr id="13" name="Text 11"/>
          <p:cNvSpPr/>
          <p:nvPr/>
        </p:nvSpPr>
        <p:spPr>
          <a:xfrm>
            <a:off x="12120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Banner</a:t>
            </a:r>
            <a:endParaRPr lang="en-US" sz="1950" dirty="0"/>
          </a:p>
        </p:txBody>
      </p:sp>
      <p:sp>
        <p:nvSpPr>
          <p:cNvPr id="14" name="Text 12"/>
          <p:cNvSpPr/>
          <p:nvPr/>
        </p:nvSpPr>
        <p:spPr>
          <a:xfrm>
            <a:off x="1212019" y="4311737"/>
            <a:ext cx="4959411"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Promotional banners — homepage hero, search inserts.</a:t>
            </a:r>
            <a:endParaRPr lang="en-US" sz="1800" dirty="0"/>
          </a:p>
        </p:txBody>
      </p:sp>
      <p:sp>
        <p:nvSpPr>
          <p:cNvPr id="15" name="Shape 13"/>
          <p:cNvSpPr/>
          <p:nvPr/>
        </p:nvSpPr>
        <p:spPr>
          <a:xfrm>
            <a:off x="1212019" y="5065923"/>
            <a:ext cx="4814962" cy="11906"/>
          </a:xfrm>
          <a:prstGeom prst="rect">
            <a:avLst/>
          </a:prstGeom>
          <a:solidFill>
            <a:srgbClr val="D8D1C0"/>
          </a:solidFill>
          <a:ln/>
        </p:spPr>
      </p:sp>
      <p:sp>
        <p:nvSpPr>
          <p:cNvPr id="18" name="Shape 16"/>
          <p:cNvSpPr/>
          <p:nvPr/>
        </p:nvSpPr>
        <p:spPr>
          <a:xfrm>
            <a:off x="6477000" y="3616523"/>
            <a:ext cx="5334000" cy="2077827"/>
          </a:xfrm>
          <a:prstGeom prst="rect">
            <a:avLst/>
          </a:prstGeom>
          <a:solidFill>
            <a:srgbClr val="FAF7F0"/>
          </a:solidFill>
          <a:ln w="11906">
            <a:solidFill>
              <a:srgbClr val="D8D1C0"/>
            </a:solidFill>
            <a:prstDash val="solid"/>
          </a:ln>
        </p:spPr>
      </p:sp>
      <p:sp>
        <p:nvSpPr>
          <p:cNvPr id="19" name="Text 17"/>
          <p:cNvSpPr/>
          <p:nvPr/>
        </p:nvSpPr>
        <p:spPr>
          <a:xfrm>
            <a:off x="67365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Promotion</a:t>
            </a:r>
            <a:endParaRPr lang="en-US" sz="1950" dirty="0"/>
          </a:p>
        </p:txBody>
      </p:sp>
      <p:sp>
        <p:nvSpPr>
          <p:cNvPr id="20" name="Text 18"/>
          <p:cNvSpPr/>
          <p:nvPr/>
        </p:nvSpPr>
        <p:spPr>
          <a:xfrm>
            <a:off x="6736519" y="4311737"/>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Campaigns — discount codes, seasonal deals.</a:t>
            </a:r>
            <a:endParaRPr lang="en-US" sz="1800" dirty="0"/>
          </a:p>
        </p:txBody>
      </p:sp>
      <p:sp>
        <p:nvSpPr>
          <p:cNvPr id="21" name="Shape 19"/>
          <p:cNvSpPr/>
          <p:nvPr/>
        </p:nvSpPr>
        <p:spPr>
          <a:xfrm>
            <a:off x="6736519" y="5065923"/>
            <a:ext cx="4814962" cy="11906"/>
          </a:xfrm>
          <a:prstGeom prst="rect">
            <a:avLst/>
          </a:prstGeom>
          <a:solidFill>
            <a:srgbClr val="D8D1C0"/>
          </a:solidFill>
          <a:ln/>
        </p:spPr>
      </p:sp>
      <p:sp>
        <p:nvSpPr>
          <p:cNvPr id="24" name="Shape 22"/>
          <p:cNvSpPr/>
          <p:nvPr/>
        </p:nvSpPr>
        <p:spPr>
          <a:xfrm>
            <a:off x="12001500" y="3616523"/>
            <a:ext cx="5334000" cy="2077827"/>
          </a:xfrm>
          <a:prstGeom prst="rect">
            <a:avLst/>
          </a:prstGeom>
          <a:solidFill>
            <a:srgbClr val="FAF7F0"/>
          </a:solidFill>
          <a:ln w="11906">
            <a:solidFill>
              <a:srgbClr val="D8D1C0"/>
            </a:solidFill>
            <a:prstDash val="solid"/>
          </a:ln>
        </p:spPr>
      </p:sp>
      <p:sp>
        <p:nvSpPr>
          <p:cNvPr id="25" name="Text 23"/>
          <p:cNvSpPr/>
          <p:nvPr/>
        </p:nvSpPr>
        <p:spPr>
          <a:xfrm>
            <a:off x="12261019" y="3876042"/>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QA</a:t>
            </a:r>
            <a:endParaRPr lang="en-US" sz="1950" dirty="0"/>
          </a:p>
        </p:txBody>
      </p:sp>
      <p:sp>
        <p:nvSpPr>
          <p:cNvPr id="26" name="Text 24"/>
          <p:cNvSpPr/>
          <p:nvPr/>
        </p:nvSpPr>
        <p:spPr>
          <a:xfrm>
            <a:off x="12261019" y="4311737"/>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FAQ and user-submitted Q&amp;A.</a:t>
            </a:r>
            <a:endParaRPr lang="en-US" sz="1800" dirty="0"/>
          </a:p>
        </p:txBody>
      </p:sp>
      <p:sp>
        <p:nvSpPr>
          <p:cNvPr id="27" name="Shape 25"/>
          <p:cNvSpPr/>
          <p:nvPr/>
        </p:nvSpPr>
        <p:spPr>
          <a:xfrm>
            <a:off x="12261019" y="5065923"/>
            <a:ext cx="4814962" cy="11906"/>
          </a:xfrm>
          <a:prstGeom prst="rect">
            <a:avLst/>
          </a:prstGeom>
          <a:solidFill>
            <a:srgbClr val="D8D1C0"/>
          </a:solidFill>
          <a:ln/>
        </p:spPr>
      </p:sp>
      <p:sp>
        <p:nvSpPr>
          <p:cNvPr id="30" name="Shape 28"/>
          <p:cNvSpPr/>
          <p:nvPr/>
        </p:nvSpPr>
        <p:spPr>
          <a:xfrm>
            <a:off x="952500" y="5884850"/>
            <a:ext cx="5334000" cy="1757846"/>
          </a:xfrm>
          <a:prstGeom prst="rect">
            <a:avLst/>
          </a:prstGeom>
          <a:solidFill>
            <a:srgbClr val="FAF7F0"/>
          </a:solidFill>
          <a:ln w="11906">
            <a:solidFill>
              <a:srgbClr val="D8D1C0"/>
            </a:solidFill>
            <a:prstDash val="solid"/>
          </a:ln>
        </p:spPr>
      </p:sp>
      <p:sp>
        <p:nvSpPr>
          <p:cNvPr id="31" name="Text 29"/>
          <p:cNvSpPr/>
          <p:nvPr/>
        </p:nvSpPr>
        <p:spPr>
          <a:xfrm>
            <a:off x="1212019" y="6144369"/>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Users</a:t>
            </a:r>
            <a:endParaRPr lang="en-US" sz="1950" dirty="0"/>
          </a:p>
        </p:txBody>
      </p:sp>
      <p:sp>
        <p:nvSpPr>
          <p:cNvPr id="32" name="Text 30"/>
          <p:cNvSpPr/>
          <p:nvPr/>
        </p:nvSpPr>
        <p:spPr>
          <a:xfrm>
            <a:off x="1212019" y="6580063"/>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Internal staff — admins, operators, editors.</a:t>
            </a:r>
            <a:endParaRPr lang="en-US" sz="1800" dirty="0"/>
          </a:p>
        </p:txBody>
      </p:sp>
      <p:sp>
        <p:nvSpPr>
          <p:cNvPr id="33" name="Shape 31"/>
          <p:cNvSpPr/>
          <p:nvPr/>
        </p:nvSpPr>
        <p:spPr>
          <a:xfrm>
            <a:off x="1212019" y="7014270"/>
            <a:ext cx="4814962" cy="11906"/>
          </a:xfrm>
          <a:prstGeom prst="rect">
            <a:avLst/>
          </a:prstGeom>
          <a:solidFill>
            <a:srgbClr val="D8D1C0"/>
          </a:solidFill>
          <a:ln/>
        </p:spPr>
      </p:sp>
      <p:sp>
        <p:nvSpPr>
          <p:cNvPr id="36" name="Shape 34"/>
          <p:cNvSpPr/>
          <p:nvPr/>
        </p:nvSpPr>
        <p:spPr>
          <a:xfrm>
            <a:off x="6477000" y="5884850"/>
            <a:ext cx="5334000" cy="1757846"/>
          </a:xfrm>
          <a:prstGeom prst="rect">
            <a:avLst/>
          </a:prstGeom>
          <a:solidFill>
            <a:srgbClr val="FAF7F0"/>
          </a:solidFill>
          <a:ln w="11906">
            <a:solidFill>
              <a:srgbClr val="D8D1C0"/>
            </a:solidFill>
            <a:prstDash val="solid"/>
          </a:ln>
        </p:spPr>
      </p:sp>
      <p:sp>
        <p:nvSpPr>
          <p:cNvPr id="37" name="Text 35"/>
          <p:cNvSpPr/>
          <p:nvPr/>
        </p:nvSpPr>
        <p:spPr>
          <a:xfrm>
            <a:off x="6736519" y="6144369"/>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Member</a:t>
            </a:r>
            <a:endParaRPr lang="en-US" sz="1950" dirty="0"/>
          </a:p>
        </p:txBody>
      </p:sp>
      <p:sp>
        <p:nvSpPr>
          <p:cNvPr id="38" name="Text 36"/>
          <p:cNvSpPr/>
          <p:nvPr/>
        </p:nvSpPr>
        <p:spPr>
          <a:xfrm>
            <a:off x="6736519" y="6580063"/>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Customer accounts — travelers who book.</a:t>
            </a:r>
            <a:endParaRPr lang="en-US" sz="1800" dirty="0"/>
          </a:p>
        </p:txBody>
      </p:sp>
      <p:sp>
        <p:nvSpPr>
          <p:cNvPr id="39" name="Shape 37"/>
          <p:cNvSpPr/>
          <p:nvPr/>
        </p:nvSpPr>
        <p:spPr>
          <a:xfrm>
            <a:off x="6736519" y="7014270"/>
            <a:ext cx="4814962" cy="11906"/>
          </a:xfrm>
          <a:prstGeom prst="rect">
            <a:avLst/>
          </a:prstGeom>
          <a:solidFill>
            <a:srgbClr val="D8D1C0"/>
          </a:solidFill>
          <a:ln/>
        </p:spPr>
      </p:sp>
      <p:sp>
        <p:nvSpPr>
          <p:cNvPr id="42" name="Shape 40"/>
          <p:cNvSpPr/>
          <p:nvPr/>
        </p:nvSpPr>
        <p:spPr>
          <a:xfrm>
            <a:off x="12001500" y="5884850"/>
            <a:ext cx="5334000" cy="1757846"/>
          </a:xfrm>
          <a:prstGeom prst="rect">
            <a:avLst/>
          </a:prstGeom>
          <a:solidFill>
            <a:srgbClr val="FAF7F0"/>
          </a:solidFill>
          <a:ln w="11906">
            <a:solidFill>
              <a:srgbClr val="D8D1C0"/>
            </a:solidFill>
            <a:prstDash val="solid"/>
          </a:ln>
        </p:spPr>
      </p:sp>
      <p:sp>
        <p:nvSpPr>
          <p:cNvPr id="43" name="Text 41"/>
          <p:cNvSpPr/>
          <p:nvPr/>
        </p:nvSpPr>
        <p:spPr>
          <a:xfrm>
            <a:off x="12261019" y="6144369"/>
            <a:ext cx="495941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Comment</a:t>
            </a:r>
            <a:endParaRPr lang="en-US" sz="1950" dirty="0"/>
          </a:p>
        </p:txBody>
      </p:sp>
      <p:sp>
        <p:nvSpPr>
          <p:cNvPr id="44" name="Text 42"/>
          <p:cNvSpPr/>
          <p:nvPr/>
        </p:nvSpPr>
        <p:spPr>
          <a:xfrm>
            <a:off x="12261019" y="6580063"/>
            <a:ext cx="495941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Reviews and ratings — feeds search ranking.</a:t>
            </a:r>
            <a:endParaRPr lang="en-US" sz="1800" dirty="0"/>
          </a:p>
        </p:txBody>
      </p:sp>
      <p:sp>
        <p:nvSpPr>
          <p:cNvPr id="45" name="Shape 43"/>
          <p:cNvSpPr/>
          <p:nvPr/>
        </p:nvSpPr>
        <p:spPr>
          <a:xfrm>
            <a:off x="12261019" y="7014270"/>
            <a:ext cx="4814962" cy="11906"/>
          </a:xfrm>
          <a:prstGeom prst="rect">
            <a:avLst/>
          </a:prstGeom>
          <a:solidFill>
            <a:srgbClr val="D8D1C0"/>
          </a:solidFill>
          <a:ln/>
        </p:spPr>
      </p:sp>
      <p:sp>
        <p:nvSpPr>
          <p:cNvPr id="48" name="Shape 46"/>
          <p:cNvSpPr/>
          <p:nvPr/>
        </p:nvSpPr>
        <p:spPr>
          <a:xfrm>
            <a:off x="952500" y="7833196"/>
            <a:ext cx="16383000" cy="1757846"/>
          </a:xfrm>
          <a:prstGeom prst="rect">
            <a:avLst/>
          </a:prstGeom>
          <a:solidFill>
            <a:srgbClr val="FAF7F0"/>
          </a:solidFill>
          <a:ln w="11906">
            <a:solidFill>
              <a:srgbClr val="D8D1C0"/>
            </a:solidFill>
            <a:prstDash val="solid"/>
          </a:ln>
        </p:spPr>
      </p:sp>
      <p:sp>
        <p:nvSpPr>
          <p:cNvPr id="49" name="Text 47"/>
          <p:cNvSpPr/>
          <p:nvPr/>
        </p:nvSpPr>
        <p:spPr>
          <a:xfrm>
            <a:off x="1212019" y="8092715"/>
            <a:ext cx="16339881"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0F1419"/>
                </a:solidFill>
                <a:latin typeface="Arial" pitchFamily="34" charset="0"/>
                <a:ea typeface="Arial" pitchFamily="34" charset="-122"/>
                <a:cs typeface="Arial" pitchFamily="34" charset="-120"/>
              </a:rPr>
              <a:t>Setting</a:t>
            </a:r>
            <a:endParaRPr lang="en-US" sz="1950" dirty="0"/>
          </a:p>
        </p:txBody>
      </p:sp>
      <p:sp>
        <p:nvSpPr>
          <p:cNvPr id="50" name="Text 48"/>
          <p:cNvSpPr/>
          <p:nvPr/>
        </p:nvSpPr>
        <p:spPr>
          <a:xfrm>
            <a:off x="1212019" y="8528410"/>
            <a:ext cx="1633988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pple-system" pitchFamily="34" charset="0"/>
                <a:ea typeface="-apple-system" pitchFamily="34" charset="-122"/>
                <a:cs typeface="-apple-system" pitchFamily="34" charset="-120"/>
              </a:rPr>
              <a:t>Global configuration — payment gateways, social links, contact info, feature flags. Editable without redeploy.</a:t>
            </a:r>
            <a:endParaRPr lang="en-US" sz="1800" dirty="0"/>
          </a:p>
        </p:txBody>
      </p:sp>
      <p:sp>
        <p:nvSpPr>
          <p:cNvPr id="51" name="Shape 49"/>
          <p:cNvSpPr/>
          <p:nvPr/>
        </p:nvSpPr>
        <p:spPr>
          <a:xfrm>
            <a:off x="1212019" y="8962616"/>
            <a:ext cx="15863962" cy="11906"/>
          </a:xfrm>
          <a:prstGeom prst="rect">
            <a:avLst/>
          </a:prstGeom>
          <a:solidFill>
            <a:srgbClr val="D8D1C0"/>
          </a:solidFill>
          <a:ln/>
        </p:spPr>
      </p:sp>
      <p:sp>
        <p:nvSpPr>
          <p:cNvPr id="56" name="Text 1">
            <a:extLst>
              <a:ext uri="{FF2B5EF4-FFF2-40B4-BE49-F238E27FC236}">
                <a16:creationId xmlns:a16="http://schemas.microsoft.com/office/drawing/2014/main" id="{1502B6A9-CE1F-8B79-E5BF-925C1D229303}"/>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07 / 22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492739DC-334F-51C6-FC7D-7BB0B69365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F92F58-3098-9036-0DB7-FA51EF4991E0}"/>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1</a:t>
            </a:r>
            <a:endParaRPr lang="en-US" sz="1800" dirty="0"/>
          </a:p>
        </p:txBody>
      </p:sp>
      <p:sp>
        <p:nvSpPr>
          <p:cNvPr id="6" name="Text 4">
            <a:extLst>
              <a:ext uri="{FF2B5EF4-FFF2-40B4-BE49-F238E27FC236}">
                <a16:creationId xmlns:a16="http://schemas.microsoft.com/office/drawing/2014/main" id="{FE1B0847-595F-7ED5-C6DC-459FB88374DC}"/>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DATABASE SCHEMA PHASING</a:t>
            </a:r>
            <a:endParaRPr lang="en-US" sz="1800" dirty="0"/>
          </a:p>
        </p:txBody>
      </p:sp>
      <p:sp>
        <p:nvSpPr>
          <p:cNvPr id="7" name="Text 5">
            <a:extLst>
              <a:ext uri="{FF2B5EF4-FFF2-40B4-BE49-F238E27FC236}">
                <a16:creationId xmlns:a16="http://schemas.microsoft.com/office/drawing/2014/main" id="{C1ED49D0-3063-B7A7-699D-052684C315CB}"/>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Database schema </a:t>
            </a:r>
            <a:endParaRPr lang="en-US" sz="6600" dirty="0"/>
          </a:p>
        </p:txBody>
      </p:sp>
      <p:sp>
        <p:nvSpPr>
          <p:cNvPr id="8" name="Text 6">
            <a:extLst>
              <a:ext uri="{FF2B5EF4-FFF2-40B4-BE49-F238E27FC236}">
                <a16:creationId xmlns:a16="http://schemas.microsoft.com/office/drawing/2014/main" id="{6E72657A-4F1A-B0F6-AAA0-A93E92CF0BC5}"/>
              </a:ext>
            </a:extLst>
          </p:cNvPr>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a:lnSpc>
                <a:spcPct val="140000"/>
              </a:lnSpc>
            </a:pPr>
            <a:r>
              <a:rPr lang="en-US" sz="2800" dirty="0"/>
              <a:t>In essence, parts of the database structure (tables, relationships, constraints, etc.) are designed and implemented</a:t>
            </a:r>
            <a:endParaRPr lang="en-US" sz="2700" dirty="0"/>
          </a:p>
        </p:txBody>
      </p:sp>
      <p:sp>
        <p:nvSpPr>
          <p:cNvPr id="9" name="Shape 7">
            <a:extLst>
              <a:ext uri="{FF2B5EF4-FFF2-40B4-BE49-F238E27FC236}">
                <a16:creationId xmlns:a16="http://schemas.microsoft.com/office/drawing/2014/main" id="{EA128D83-8396-38D3-7B7B-EAC2074F2601}"/>
              </a:ext>
            </a:extLst>
          </p:cNvPr>
          <p:cNvSpPr/>
          <p:nvPr/>
        </p:nvSpPr>
        <p:spPr>
          <a:xfrm>
            <a:off x="952500" y="9322594"/>
            <a:ext cx="16383000" cy="11906"/>
          </a:xfrm>
          <a:prstGeom prst="rect">
            <a:avLst/>
          </a:prstGeom>
          <a:solidFill>
            <a:srgbClr val="D8D1C0"/>
          </a:solidFill>
          <a:ln/>
        </p:spPr>
      </p:sp>
      <p:sp>
        <p:nvSpPr>
          <p:cNvPr id="10" name="Shape 8">
            <a:extLst>
              <a:ext uri="{FF2B5EF4-FFF2-40B4-BE49-F238E27FC236}">
                <a16:creationId xmlns:a16="http://schemas.microsoft.com/office/drawing/2014/main" id="{C47B0951-0418-844A-BB45-707A34CCD84A}"/>
              </a:ext>
            </a:extLst>
          </p:cNvPr>
          <p:cNvSpPr/>
          <p:nvPr/>
        </p:nvSpPr>
        <p:spPr>
          <a:xfrm>
            <a:off x="952500" y="4725665"/>
            <a:ext cx="16383000" cy="11906"/>
          </a:xfrm>
          <a:prstGeom prst="rect">
            <a:avLst/>
          </a:prstGeom>
          <a:solidFill>
            <a:srgbClr val="D8D1C0"/>
          </a:solidFill>
          <a:ln/>
        </p:spPr>
      </p:sp>
      <p:sp>
        <p:nvSpPr>
          <p:cNvPr id="11" name="Shape 9">
            <a:extLst>
              <a:ext uri="{FF2B5EF4-FFF2-40B4-BE49-F238E27FC236}">
                <a16:creationId xmlns:a16="http://schemas.microsoft.com/office/drawing/2014/main" id="{90E0071D-F70B-1271-8AF2-92FC2A7CF5D2}"/>
              </a:ext>
            </a:extLst>
          </p:cNvPr>
          <p:cNvSpPr/>
          <p:nvPr/>
        </p:nvSpPr>
        <p:spPr>
          <a:xfrm>
            <a:off x="5036344" y="4737571"/>
            <a:ext cx="11906" cy="4585022"/>
          </a:xfrm>
          <a:prstGeom prst="rect">
            <a:avLst/>
          </a:prstGeom>
          <a:solidFill>
            <a:srgbClr val="D8D1C0"/>
          </a:solidFill>
          <a:ln/>
        </p:spPr>
      </p:sp>
      <p:sp>
        <p:nvSpPr>
          <p:cNvPr id="12" name="Text 10">
            <a:extLst>
              <a:ext uri="{FF2B5EF4-FFF2-40B4-BE49-F238E27FC236}">
                <a16:creationId xmlns:a16="http://schemas.microsoft.com/office/drawing/2014/main" id="{728BDF1B-0F78-7BA0-8B97-E3D6312B1660}"/>
              </a:ext>
            </a:extLst>
          </p:cNvPr>
          <p:cNvSpPr/>
          <p:nvPr/>
        </p:nvSpPr>
        <p:spPr>
          <a:xfrm>
            <a:off x="11809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P1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a:t>
            </a:r>
            <a:endParaRPr lang="en-US" sz="1800" dirty="0"/>
          </a:p>
        </p:txBody>
      </p:sp>
      <p:sp>
        <p:nvSpPr>
          <p:cNvPr id="13" name="Text 11">
            <a:extLst>
              <a:ext uri="{FF2B5EF4-FFF2-40B4-BE49-F238E27FC236}">
                <a16:creationId xmlns:a16="http://schemas.microsoft.com/office/drawing/2014/main" id="{736EB1EC-EB32-F271-C679-39FDCA6A2A8F}"/>
              </a:ext>
            </a:extLst>
          </p:cNvPr>
          <p:cNvSpPr/>
          <p:nvPr/>
        </p:nvSpPr>
        <p:spPr>
          <a:xfrm>
            <a:off x="118095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Hotel Core</a:t>
            </a:r>
            <a:endParaRPr lang="en-US" sz="2100" dirty="0"/>
          </a:p>
        </p:txBody>
      </p:sp>
      <p:sp>
        <p:nvSpPr>
          <p:cNvPr id="14" name="Text 12">
            <a:extLst>
              <a:ext uri="{FF2B5EF4-FFF2-40B4-BE49-F238E27FC236}">
                <a16:creationId xmlns:a16="http://schemas.microsoft.com/office/drawing/2014/main" id="{16270927-420E-BCC4-DBC0-6784B18E1320}"/>
              </a:ext>
            </a:extLst>
          </p:cNvPr>
          <p:cNvSpPr/>
          <p:nvPr/>
        </p:nvSpPr>
        <p:spPr>
          <a:xfrm>
            <a:off x="1180951" y="7803617"/>
            <a:ext cx="373575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Hotel, Hotel Type, Hotel Group, Hotel Rules, Hotel Tag</a:t>
            </a:r>
            <a:endParaRPr lang="en-US" sz="1800" dirty="0"/>
          </a:p>
        </p:txBody>
      </p:sp>
      <p:sp>
        <p:nvSpPr>
          <p:cNvPr id="15" name="Text 13">
            <a:extLst>
              <a:ext uri="{FF2B5EF4-FFF2-40B4-BE49-F238E27FC236}">
                <a16:creationId xmlns:a16="http://schemas.microsoft.com/office/drawing/2014/main" id="{B5010011-CA2E-72C5-11C3-E651650D07EF}"/>
              </a:ext>
            </a:extLst>
          </p:cNvPr>
          <p:cNvSpPr/>
          <p:nvPr/>
        </p:nvSpPr>
        <p:spPr>
          <a:xfrm>
            <a:off x="11809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5 TABLES</a:t>
            </a:r>
            <a:endParaRPr lang="en-US" sz="1800" dirty="0"/>
          </a:p>
        </p:txBody>
      </p:sp>
      <p:sp>
        <p:nvSpPr>
          <p:cNvPr id="16" name="Shape 14">
            <a:extLst>
              <a:ext uri="{FF2B5EF4-FFF2-40B4-BE49-F238E27FC236}">
                <a16:creationId xmlns:a16="http://schemas.microsoft.com/office/drawing/2014/main" id="{48CDB118-C4D8-B237-DF90-70DAA23A0360}"/>
              </a:ext>
            </a:extLst>
          </p:cNvPr>
          <p:cNvSpPr/>
          <p:nvPr/>
        </p:nvSpPr>
        <p:spPr>
          <a:xfrm>
            <a:off x="9132094" y="4737571"/>
            <a:ext cx="11906" cy="4585022"/>
          </a:xfrm>
          <a:prstGeom prst="rect">
            <a:avLst/>
          </a:prstGeom>
          <a:solidFill>
            <a:srgbClr val="D8D1C0"/>
          </a:solidFill>
          <a:ln/>
        </p:spPr>
      </p:sp>
      <p:sp>
        <p:nvSpPr>
          <p:cNvPr id="17" name="Text 15">
            <a:extLst>
              <a:ext uri="{FF2B5EF4-FFF2-40B4-BE49-F238E27FC236}">
                <a16:creationId xmlns:a16="http://schemas.microsoft.com/office/drawing/2014/main" id="{2944F131-1590-0333-D559-BB7439E96C32}"/>
              </a:ext>
            </a:extLst>
          </p:cNvPr>
          <p:cNvSpPr/>
          <p:nvPr/>
        </p:nvSpPr>
        <p:spPr>
          <a:xfrm>
            <a:off x="527670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P2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a:t>
            </a:r>
            <a:r>
              <a:rPr lang="en-US" kern="0" spc="144" dirty="0">
                <a:solidFill>
                  <a:srgbClr val="A8854A"/>
                </a:solidFill>
                <a:latin typeface="Arial" pitchFamily="34" charset="0"/>
                <a:ea typeface="Arial" pitchFamily="34" charset="-122"/>
                <a:cs typeface="Arial" pitchFamily="34" charset="-120"/>
              </a:rPr>
              <a:t>1</a:t>
            </a:r>
            <a:endParaRPr lang="en-US" sz="1800" dirty="0"/>
          </a:p>
        </p:txBody>
      </p:sp>
      <p:sp>
        <p:nvSpPr>
          <p:cNvPr id="18" name="Text 16">
            <a:extLst>
              <a:ext uri="{FF2B5EF4-FFF2-40B4-BE49-F238E27FC236}">
                <a16:creationId xmlns:a16="http://schemas.microsoft.com/office/drawing/2014/main" id="{F7EBC437-8F18-460F-95B4-2EB35E1C25F2}"/>
              </a:ext>
            </a:extLst>
          </p:cNvPr>
          <p:cNvSpPr/>
          <p:nvPr/>
        </p:nvSpPr>
        <p:spPr>
          <a:xfrm>
            <a:off x="527670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Rooms, rates &amp; inventory</a:t>
            </a:r>
            <a:endParaRPr lang="en-US" sz="2100" dirty="0"/>
          </a:p>
        </p:txBody>
      </p:sp>
      <p:sp>
        <p:nvSpPr>
          <p:cNvPr id="19" name="Text 17">
            <a:extLst>
              <a:ext uri="{FF2B5EF4-FFF2-40B4-BE49-F238E27FC236}">
                <a16:creationId xmlns:a16="http://schemas.microsoft.com/office/drawing/2014/main" id="{762A371C-A799-7986-1C49-BE3287089FD6}"/>
              </a:ext>
            </a:extLst>
          </p:cNvPr>
          <p:cNvSpPr/>
          <p:nvPr/>
        </p:nvSpPr>
        <p:spPr>
          <a:xfrm>
            <a:off x="5276701" y="7803617"/>
            <a:ext cx="373575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Room Type, Availability, Rate Plan, Provider</a:t>
            </a:r>
            <a:endParaRPr lang="en-US" sz="1800" dirty="0"/>
          </a:p>
        </p:txBody>
      </p:sp>
      <p:sp>
        <p:nvSpPr>
          <p:cNvPr id="20" name="Text 18">
            <a:extLst>
              <a:ext uri="{FF2B5EF4-FFF2-40B4-BE49-F238E27FC236}">
                <a16:creationId xmlns:a16="http://schemas.microsoft.com/office/drawing/2014/main" id="{AD0E59F6-3D9D-EC73-FD2C-A79CDAE4F554}"/>
              </a:ext>
            </a:extLst>
          </p:cNvPr>
          <p:cNvSpPr/>
          <p:nvPr/>
        </p:nvSpPr>
        <p:spPr>
          <a:xfrm>
            <a:off x="527670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4 </a:t>
            </a:r>
            <a:r>
              <a:rPr lang="en-US" kern="0" spc="144" dirty="0">
                <a:solidFill>
                  <a:srgbClr val="A8854A"/>
                </a:solidFill>
                <a:latin typeface="Arial" pitchFamily="34" charset="0"/>
                <a:ea typeface="Arial" pitchFamily="34" charset="-122"/>
                <a:cs typeface="Arial" pitchFamily="34" charset="-120"/>
              </a:rPr>
              <a:t>TABLES</a:t>
            </a:r>
            <a:endParaRPr lang="en-US" sz="1800" dirty="0"/>
          </a:p>
        </p:txBody>
      </p:sp>
      <p:sp>
        <p:nvSpPr>
          <p:cNvPr id="21" name="Shape 19">
            <a:extLst>
              <a:ext uri="{FF2B5EF4-FFF2-40B4-BE49-F238E27FC236}">
                <a16:creationId xmlns:a16="http://schemas.microsoft.com/office/drawing/2014/main" id="{B4DDE55E-90FF-8BD0-E258-5BD05236145D}"/>
              </a:ext>
            </a:extLst>
          </p:cNvPr>
          <p:cNvSpPr/>
          <p:nvPr/>
        </p:nvSpPr>
        <p:spPr>
          <a:xfrm>
            <a:off x="13227844" y="4737571"/>
            <a:ext cx="11906" cy="4585022"/>
          </a:xfrm>
          <a:prstGeom prst="rect">
            <a:avLst/>
          </a:prstGeom>
          <a:solidFill>
            <a:srgbClr val="D8D1C0"/>
          </a:solidFill>
          <a:ln/>
        </p:spPr>
      </p:sp>
      <p:sp>
        <p:nvSpPr>
          <p:cNvPr id="22" name="Text 20">
            <a:extLst>
              <a:ext uri="{FF2B5EF4-FFF2-40B4-BE49-F238E27FC236}">
                <a16:creationId xmlns:a16="http://schemas.microsoft.com/office/drawing/2014/main" id="{732C1ED8-14FA-233C-A9F6-D21B4403EC4D}"/>
              </a:ext>
            </a:extLst>
          </p:cNvPr>
          <p:cNvSpPr/>
          <p:nvPr/>
        </p:nvSpPr>
        <p:spPr>
          <a:xfrm>
            <a:off x="93724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P3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a:t>
            </a:r>
            <a:r>
              <a:rPr lang="en-US" kern="0" spc="144" dirty="0">
                <a:solidFill>
                  <a:srgbClr val="A8854A"/>
                </a:solidFill>
                <a:latin typeface="Arial" pitchFamily="34" charset="0"/>
                <a:ea typeface="Arial" pitchFamily="34" charset="-122"/>
                <a:cs typeface="Arial" pitchFamily="34" charset="-120"/>
              </a:rPr>
              <a:t>1</a:t>
            </a:r>
            <a:endParaRPr lang="en-US" sz="1800" dirty="0"/>
          </a:p>
        </p:txBody>
      </p:sp>
      <p:sp>
        <p:nvSpPr>
          <p:cNvPr id="23" name="Text 21">
            <a:extLst>
              <a:ext uri="{FF2B5EF4-FFF2-40B4-BE49-F238E27FC236}">
                <a16:creationId xmlns:a16="http://schemas.microsoft.com/office/drawing/2014/main" id="{4C36B8BA-3EFC-6E62-936A-5DB2D86DFDDB}"/>
              </a:ext>
            </a:extLst>
          </p:cNvPr>
          <p:cNvSpPr/>
          <p:nvPr/>
        </p:nvSpPr>
        <p:spPr>
          <a:xfrm>
            <a:off x="937245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Facilities &amp; geography.</a:t>
            </a:r>
          </a:p>
        </p:txBody>
      </p:sp>
      <p:sp>
        <p:nvSpPr>
          <p:cNvPr id="24" name="Text 22">
            <a:extLst>
              <a:ext uri="{FF2B5EF4-FFF2-40B4-BE49-F238E27FC236}">
                <a16:creationId xmlns:a16="http://schemas.microsoft.com/office/drawing/2014/main" id="{875CBD50-472B-83FD-766B-C65644B92AFD}"/>
              </a:ext>
            </a:extLst>
          </p:cNvPr>
          <p:cNvSpPr/>
          <p:nvPr/>
        </p:nvSpPr>
        <p:spPr>
          <a:xfrm>
            <a:off x="9372451" y="7803617"/>
            <a:ext cx="373575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Facility, Group Facility, Location, Landmark, Tag, Category</a:t>
            </a:r>
            <a:endParaRPr lang="en-US" sz="1800" dirty="0"/>
          </a:p>
        </p:txBody>
      </p:sp>
      <p:sp>
        <p:nvSpPr>
          <p:cNvPr id="25" name="Text 23">
            <a:extLst>
              <a:ext uri="{FF2B5EF4-FFF2-40B4-BE49-F238E27FC236}">
                <a16:creationId xmlns:a16="http://schemas.microsoft.com/office/drawing/2014/main" id="{AE5A9ED7-20DE-0ABF-FB89-1FCEDAD10DB7}"/>
              </a:ext>
            </a:extLst>
          </p:cNvPr>
          <p:cNvSpPr/>
          <p:nvPr/>
        </p:nvSpPr>
        <p:spPr>
          <a:xfrm>
            <a:off x="93724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6</a:t>
            </a:r>
            <a:r>
              <a:rPr lang="en-US" sz="1800" kern="0" spc="144" dirty="0">
                <a:solidFill>
                  <a:srgbClr val="A8854A"/>
                </a:solidFill>
                <a:latin typeface="Arial" pitchFamily="34" charset="0"/>
                <a:ea typeface="Arial" pitchFamily="34" charset="-122"/>
                <a:cs typeface="Arial" pitchFamily="34" charset="-120"/>
              </a:rPr>
              <a:t> </a:t>
            </a:r>
            <a:r>
              <a:rPr lang="en-US" kern="0" spc="144" dirty="0">
                <a:solidFill>
                  <a:srgbClr val="A8854A"/>
                </a:solidFill>
                <a:latin typeface="Arial" pitchFamily="34" charset="0"/>
                <a:ea typeface="Arial" pitchFamily="34" charset="-122"/>
                <a:cs typeface="Arial" pitchFamily="34" charset="-120"/>
              </a:rPr>
              <a:t>TABLES</a:t>
            </a:r>
            <a:endParaRPr lang="en-US" sz="1800" dirty="0"/>
          </a:p>
        </p:txBody>
      </p:sp>
      <p:sp>
        <p:nvSpPr>
          <p:cNvPr id="26" name="Text 24">
            <a:extLst>
              <a:ext uri="{FF2B5EF4-FFF2-40B4-BE49-F238E27FC236}">
                <a16:creationId xmlns:a16="http://schemas.microsoft.com/office/drawing/2014/main" id="{76736D95-1CBC-E6EB-DBCE-64CADB1AE63C}"/>
              </a:ext>
            </a:extLst>
          </p:cNvPr>
          <p:cNvSpPr/>
          <p:nvPr/>
        </p:nvSpPr>
        <p:spPr>
          <a:xfrm>
            <a:off x="13468201" y="5042297"/>
            <a:ext cx="374801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P4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2 – 3</a:t>
            </a:r>
            <a:endParaRPr lang="en-US" sz="1800" dirty="0"/>
          </a:p>
        </p:txBody>
      </p:sp>
      <p:sp>
        <p:nvSpPr>
          <p:cNvPr id="27" name="Text 25">
            <a:extLst>
              <a:ext uri="{FF2B5EF4-FFF2-40B4-BE49-F238E27FC236}">
                <a16:creationId xmlns:a16="http://schemas.microsoft.com/office/drawing/2014/main" id="{7E9CC4D3-A3A8-733B-A4B6-17721FFC42C4}"/>
              </a:ext>
            </a:extLst>
          </p:cNvPr>
          <p:cNvSpPr/>
          <p:nvPr/>
        </p:nvSpPr>
        <p:spPr>
          <a:xfrm>
            <a:off x="13468201" y="5456597"/>
            <a:ext cx="3748013"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Marketing, users &amp; system.</a:t>
            </a:r>
          </a:p>
        </p:txBody>
      </p:sp>
      <p:sp>
        <p:nvSpPr>
          <p:cNvPr id="28" name="Text 26">
            <a:extLst>
              <a:ext uri="{FF2B5EF4-FFF2-40B4-BE49-F238E27FC236}">
                <a16:creationId xmlns:a16="http://schemas.microsoft.com/office/drawing/2014/main" id="{F4C53F09-2A00-716F-565C-13D6CAEBBAA1}"/>
              </a:ext>
            </a:extLst>
          </p:cNvPr>
          <p:cNvSpPr/>
          <p:nvPr/>
        </p:nvSpPr>
        <p:spPr>
          <a:xfrm>
            <a:off x="13468201" y="7460754"/>
            <a:ext cx="3748013"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Banner, Promotion, QA, User, Member, Comment, Setting</a:t>
            </a:r>
            <a:endParaRPr lang="en-US" sz="1800" dirty="0"/>
          </a:p>
        </p:txBody>
      </p:sp>
      <p:sp>
        <p:nvSpPr>
          <p:cNvPr id="29" name="Text 27">
            <a:extLst>
              <a:ext uri="{FF2B5EF4-FFF2-40B4-BE49-F238E27FC236}">
                <a16:creationId xmlns:a16="http://schemas.microsoft.com/office/drawing/2014/main" id="{86CC860B-3FBD-D1E2-28DA-5B98752256E8}"/>
              </a:ext>
            </a:extLst>
          </p:cNvPr>
          <p:cNvSpPr/>
          <p:nvPr/>
        </p:nvSpPr>
        <p:spPr>
          <a:xfrm>
            <a:off x="13468201" y="8755931"/>
            <a:ext cx="3748013" cy="300038"/>
          </a:xfrm>
          <a:prstGeom prst="rect">
            <a:avLst/>
          </a:prstGeom>
          <a:noFill/>
          <a:ln/>
        </p:spPr>
        <p:txBody>
          <a:bodyPr wrap="square" lIns="25400" tIns="25400" rIns="25400" bIns="25400" rtlCol="0" anchor="t">
            <a:normAutofit lnSpcReduction="10000"/>
          </a:bodyPr>
          <a:lstStyle/>
          <a:p>
            <a:r>
              <a:rPr lang="en-US" sz="1800" kern="0" spc="144" dirty="0">
                <a:solidFill>
                  <a:srgbClr val="A8854A"/>
                </a:solidFill>
                <a:latin typeface="Arial" pitchFamily="34" charset="0"/>
                <a:ea typeface="Arial" pitchFamily="34" charset="-122"/>
                <a:cs typeface="Arial" pitchFamily="34" charset="-120"/>
              </a:rPr>
              <a:t>7 </a:t>
            </a:r>
            <a:r>
              <a:rPr lang="en-US" kern="0" spc="144" dirty="0">
                <a:solidFill>
                  <a:srgbClr val="A8854A"/>
                </a:solidFill>
                <a:latin typeface="Arial" pitchFamily="34" charset="0"/>
                <a:ea typeface="Arial" pitchFamily="34" charset="-122"/>
                <a:cs typeface="Arial" pitchFamily="34" charset="-120"/>
              </a:rPr>
              <a:t>TABLES</a:t>
            </a:r>
            <a:endParaRPr lang="en-US" sz="1800" dirty="0"/>
          </a:p>
        </p:txBody>
      </p:sp>
      <p:sp>
        <p:nvSpPr>
          <p:cNvPr id="32" name="Text 1">
            <a:extLst>
              <a:ext uri="{FF2B5EF4-FFF2-40B4-BE49-F238E27FC236}">
                <a16:creationId xmlns:a16="http://schemas.microsoft.com/office/drawing/2014/main" id="{836F76A2-B5C4-222C-955E-7049A5ECB279}"/>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08 / 22</a:t>
            </a:r>
            <a:endParaRPr lang="en-US" sz="1800" dirty="0"/>
          </a:p>
        </p:txBody>
      </p:sp>
    </p:spTree>
    <p:extLst>
      <p:ext uri="{BB962C8B-B14F-4D97-AF65-F5344CB8AC3E}">
        <p14:creationId xmlns:p14="http://schemas.microsoft.com/office/powerpoint/2010/main" val="3644067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sz="1800" kern="0" spc="72" dirty="0">
                <a:solidFill>
                  <a:srgbClr val="0F1419"/>
                </a:solidFill>
                <a:latin typeface="Arial" pitchFamily="34" charset="0"/>
                <a:ea typeface="Arial" pitchFamily="34" charset="-122"/>
                <a:cs typeface="Arial" pitchFamily="34" charset="-120"/>
              </a:rPr>
              <a:t>HOTEL PLATFORM / </a:t>
            </a:r>
            <a:r>
              <a:rPr lang="en-US" kern="0" spc="72" dirty="0">
                <a:solidFill>
                  <a:srgbClr val="0F1419"/>
                </a:solidFill>
                <a:latin typeface="Arial" pitchFamily="34" charset="0"/>
                <a:ea typeface="Arial" pitchFamily="34" charset="-122"/>
                <a:cs typeface="Arial" pitchFamily="34" charset="-120"/>
              </a:rPr>
              <a:t>SECTION</a:t>
            </a:r>
            <a:r>
              <a:rPr lang="en-US" sz="1800" kern="0" spc="72" dirty="0">
                <a:solidFill>
                  <a:srgbClr val="0F1419"/>
                </a:solidFill>
                <a:latin typeface="Arial" pitchFamily="34" charset="0"/>
                <a:ea typeface="Arial" pitchFamily="34" charset="-122"/>
                <a:cs typeface="Arial" pitchFamily="34" charset="-120"/>
              </a:rPr>
              <a:t> 2</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TWO</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Admin CRUD layer.</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One CRUD module per table. Standard list / create / edit / delete with validation. Ships in lockstep with the underlying schema.</a:t>
            </a:r>
            <a:endParaRPr lang="en-US" sz="2700" dirty="0"/>
          </a:p>
        </p:txBody>
      </p:sp>
      <p:sp>
        <p:nvSpPr>
          <p:cNvPr id="9" name="Shape 7"/>
          <p:cNvSpPr/>
          <p:nvPr/>
        </p:nvSpPr>
        <p:spPr>
          <a:xfrm>
            <a:off x="952500" y="4725665"/>
            <a:ext cx="2911636" cy="1099096"/>
          </a:xfrm>
          <a:prstGeom prst="rect">
            <a:avLst/>
          </a:prstGeom>
          <a:solidFill>
            <a:srgbClr val="FAF7F0"/>
          </a:solidFill>
          <a:ln w="11906">
            <a:solidFill>
              <a:srgbClr val="D8D1C0"/>
            </a:solidFill>
            <a:prstDash val="solid"/>
          </a:ln>
        </p:spPr>
      </p:sp>
      <p:sp>
        <p:nvSpPr>
          <p:cNvPr id="10" name="Text 8"/>
          <p:cNvSpPr/>
          <p:nvPr/>
        </p:nvSpPr>
        <p:spPr>
          <a:xfrm>
            <a:off x="1173882" y="4928071"/>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a:t>
            </a:r>
            <a:endParaRPr lang="en-US" sz="1800" dirty="0"/>
          </a:p>
        </p:txBody>
      </p:sp>
      <p:sp>
        <p:nvSpPr>
          <p:cNvPr id="12" name="Shape 10"/>
          <p:cNvSpPr/>
          <p:nvPr/>
        </p:nvSpPr>
        <p:spPr>
          <a:xfrm>
            <a:off x="3997337" y="4725665"/>
            <a:ext cx="2911636" cy="1099096"/>
          </a:xfrm>
          <a:prstGeom prst="rect">
            <a:avLst/>
          </a:prstGeom>
          <a:solidFill>
            <a:srgbClr val="FAF7F0"/>
          </a:solidFill>
          <a:ln w="11906">
            <a:solidFill>
              <a:srgbClr val="D8D1C0"/>
            </a:solidFill>
            <a:prstDash val="solid"/>
          </a:ln>
        </p:spPr>
      </p:sp>
      <p:sp>
        <p:nvSpPr>
          <p:cNvPr id="13" name="Text 11"/>
          <p:cNvSpPr/>
          <p:nvPr/>
        </p:nvSpPr>
        <p:spPr>
          <a:xfrm>
            <a:off x="4218719" y="4928071"/>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Type</a:t>
            </a:r>
            <a:endParaRPr lang="en-US" sz="1800" dirty="0"/>
          </a:p>
        </p:txBody>
      </p:sp>
      <p:sp>
        <p:nvSpPr>
          <p:cNvPr id="15" name="Shape 13"/>
          <p:cNvSpPr/>
          <p:nvPr/>
        </p:nvSpPr>
        <p:spPr>
          <a:xfrm>
            <a:off x="7042175" y="4725665"/>
            <a:ext cx="2911636" cy="1099096"/>
          </a:xfrm>
          <a:prstGeom prst="rect">
            <a:avLst/>
          </a:prstGeom>
          <a:solidFill>
            <a:srgbClr val="FAF7F0"/>
          </a:solidFill>
          <a:ln w="11906">
            <a:solidFill>
              <a:srgbClr val="D8D1C0"/>
            </a:solidFill>
            <a:prstDash val="solid"/>
          </a:ln>
        </p:spPr>
      </p:sp>
      <p:sp>
        <p:nvSpPr>
          <p:cNvPr id="16" name="Text 14"/>
          <p:cNvSpPr/>
          <p:nvPr/>
        </p:nvSpPr>
        <p:spPr>
          <a:xfrm>
            <a:off x="7263557" y="4928071"/>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Group</a:t>
            </a:r>
            <a:endParaRPr lang="en-US" sz="1800" dirty="0"/>
          </a:p>
        </p:txBody>
      </p:sp>
      <p:sp>
        <p:nvSpPr>
          <p:cNvPr id="18" name="Shape 16"/>
          <p:cNvSpPr/>
          <p:nvPr/>
        </p:nvSpPr>
        <p:spPr>
          <a:xfrm>
            <a:off x="952500" y="5957962"/>
            <a:ext cx="2911636" cy="1099096"/>
          </a:xfrm>
          <a:prstGeom prst="rect">
            <a:avLst/>
          </a:prstGeom>
          <a:solidFill>
            <a:srgbClr val="FAF7F0"/>
          </a:solidFill>
          <a:ln w="11906">
            <a:solidFill>
              <a:srgbClr val="D8D1C0"/>
            </a:solidFill>
            <a:prstDash val="solid"/>
          </a:ln>
        </p:spPr>
      </p:sp>
      <p:sp>
        <p:nvSpPr>
          <p:cNvPr id="19" name="Text 17"/>
          <p:cNvSpPr/>
          <p:nvPr/>
        </p:nvSpPr>
        <p:spPr>
          <a:xfrm>
            <a:off x="1173882" y="6160368"/>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Rule</a:t>
            </a:r>
            <a:endParaRPr lang="en-US" sz="1800" dirty="0"/>
          </a:p>
        </p:txBody>
      </p:sp>
      <p:sp>
        <p:nvSpPr>
          <p:cNvPr id="21" name="Shape 19"/>
          <p:cNvSpPr/>
          <p:nvPr/>
        </p:nvSpPr>
        <p:spPr>
          <a:xfrm>
            <a:off x="3997337" y="5957962"/>
            <a:ext cx="2911636" cy="1099096"/>
          </a:xfrm>
          <a:prstGeom prst="rect">
            <a:avLst/>
          </a:prstGeom>
          <a:solidFill>
            <a:srgbClr val="FAF7F0"/>
          </a:solidFill>
          <a:ln w="11906">
            <a:solidFill>
              <a:srgbClr val="D8D1C0"/>
            </a:solidFill>
            <a:prstDash val="solid"/>
          </a:ln>
        </p:spPr>
      </p:sp>
      <p:sp>
        <p:nvSpPr>
          <p:cNvPr id="22" name="Text 20"/>
          <p:cNvSpPr/>
          <p:nvPr/>
        </p:nvSpPr>
        <p:spPr>
          <a:xfrm>
            <a:off x="4218719" y="6160368"/>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Tag</a:t>
            </a:r>
            <a:endParaRPr lang="en-US" sz="1800" dirty="0"/>
          </a:p>
        </p:txBody>
      </p:sp>
      <p:sp>
        <p:nvSpPr>
          <p:cNvPr id="24" name="Shape 22"/>
          <p:cNvSpPr/>
          <p:nvPr/>
        </p:nvSpPr>
        <p:spPr>
          <a:xfrm>
            <a:off x="7042175" y="5957962"/>
            <a:ext cx="2911636" cy="1099096"/>
          </a:xfrm>
          <a:prstGeom prst="rect">
            <a:avLst/>
          </a:prstGeom>
          <a:solidFill>
            <a:srgbClr val="FAF7F0"/>
          </a:solidFill>
          <a:ln w="11906">
            <a:solidFill>
              <a:srgbClr val="D8D1C0"/>
            </a:solidFill>
            <a:prstDash val="solid"/>
          </a:ln>
        </p:spPr>
      </p:sp>
      <p:sp>
        <p:nvSpPr>
          <p:cNvPr id="25" name="Text 23"/>
          <p:cNvSpPr/>
          <p:nvPr/>
        </p:nvSpPr>
        <p:spPr>
          <a:xfrm>
            <a:off x="7263557" y="6160368"/>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Room Type</a:t>
            </a:r>
            <a:endParaRPr lang="en-US" sz="1800" dirty="0"/>
          </a:p>
        </p:txBody>
      </p:sp>
      <p:sp>
        <p:nvSpPr>
          <p:cNvPr id="27" name="Shape 25"/>
          <p:cNvSpPr/>
          <p:nvPr/>
        </p:nvSpPr>
        <p:spPr>
          <a:xfrm>
            <a:off x="952500" y="7190259"/>
            <a:ext cx="2911636" cy="1099096"/>
          </a:xfrm>
          <a:prstGeom prst="rect">
            <a:avLst/>
          </a:prstGeom>
          <a:solidFill>
            <a:srgbClr val="FAF7F0"/>
          </a:solidFill>
          <a:ln w="11906">
            <a:solidFill>
              <a:srgbClr val="D8D1C0"/>
            </a:solidFill>
            <a:prstDash val="solid"/>
          </a:ln>
        </p:spPr>
      </p:sp>
      <p:sp>
        <p:nvSpPr>
          <p:cNvPr id="28" name="Text 26"/>
          <p:cNvSpPr/>
          <p:nvPr/>
        </p:nvSpPr>
        <p:spPr>
          <a:xfrm>
            <a:off x="1173882" y="739266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Availability</a:t>
            </a:r>
            <a:endParaRPr lang="en-US" sz="1800" dirty="0"/>
          </a:p>
        </p:txBody>
      </p:sp>
      <p:sp>
        <p:nvSpPr>
          <p:cNvPr id="30" name="Shape 28"/>
          <p:cNvSpPr/>
          <p:nvPr/>
        </p:nvSpPr>
        <p:spPr>
          <a:xfrm>
            <a:off x="3997337" y="7190259"/>
            <a:ext cx="2911636" cy="1099096"/>
          </a:xfrm>
          <a:prstGeom prst="rect">
            <a:avLst/>
          </a:prstGeom>
          <a:solidFill>
            <a:srgbClr val="FAF7F0"/>
          </a:solidFill>
          <a:ln w="11906">
            <a:solidFill>
              <a:srgbClr val="D8D1C0"/>
            </a:solidFill>
            <a:prstDash val="solid"/>
          </a:ln>
        </p:spPr>
      </p:sp>
      <p:sp>
        <p:nvSpPr>
          <p:cNvPr id="31" name="Text 29"/>
          <p:cNvSpPr/>
          <p:nvPr/>
        </p:nvSpPr>
        <p:spPr>
          <a:xfrm>
            <a:off x="4218719" y="739266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Rate Plan</a:t>
            </a:r>
            <a:endParaRPr lang="en-US" sz="1800" dirty="0"/>
          </a:p>
        </p:txBody>
      </p:sp>
      <p:sp>
        <p:nvSpPr>
          <p:cNvPr id="33" name="Shape 31"/>
          <p:cNvSpPr/>
          <p:nvPr/>
        </p:nvSpPr>
        <p:spPr>
          <a:xfrm>
            <a:off x="7042175" y="7190259"/>
            <a:ext cx="2911636" cy="1099096"/>
          </a:xfrm>
          <a:prstGeom prst="rect">
            <a:avLst/>
          </a:prstGeom>
          <a:solidFill>
            <a:srgbClr val="FAF7F0"/>
          </a:solidFill>
          <a:ln w="11906">
            <a:solidFill>
              <a:srgbClr val="D8D1C0"/>
            </a:solidFill>
            <a:prstDash val="solid"/>
          </a:ln>
        </p:spPr>
      </p:sp>
      <p:sp>
        <p:nvSpPr>
          <p:cNvPr id="34" name="Text 32"/>
          <p:cNvSpPr/>
          <p:nvPr/>
        </p:nvSpPr>
        <p:spPr>
          <a:xfrm>
            <a:off x="7263557" y="739266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Provider</a:t>
            </a:r>
            <a:endParaRPr lang="en-US" sz="1800" dirty="0"/>
          </a:p>
        </p:txBody>
      </p:sp>
      <p:sp>
        <p:nvSpPr>
          <p:cNvPr id="72" name="Shape 70"/>
          <p:cNvSpPr/>
          <p:nvPr/>
        </p:nvSpPr>
        <p:spPr>
          <a:xfrm>
            <a:off x="952500" y="13351743"/>
            <a:ext cx="2911636" cy="1099096"/>
          </a:xfrm>
          <a:prstGeom prst="rect">
            <a:avLst/>
          </a:prstGeom>
          <a:solidFill>
            <a:srgbClr val="FAF7F0"/>
          </a:solidFill>
          <a:ln w="11906">
            <a:solidFill>
              <a:srgbClr val="D8D1C0"/>
            </a:solidFill>
            <a:prstDash val="solid"/>
          </a:ln>
        </p:spPr>
      </p:sp>
      <p:sp>
        <p:nvSpPr>
          <p:cNvPr id="73" name="Text 71"/>
          <p:cNvSpPr/>
          <p:nvPr/>
        </p:nvSpPr>
        <p:spPr>
          <a:xfrm>
            <a:off x="1173882" y="1355414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Comment</a:t>
            </a:r>
            <a:endParaRPr lang="en-US" sz="1800" dirty="0"/>
          </a:p>
        </p:txBody>
      </p:sp>
      <p:sp>
        <p:nvSpPr>
          <p:cNvPr id="74" name="Text 72"/>
          <p:cNvSpPr/>
          <p:nvPr/>
        </p:nvSpPr>
        <p:spPr>
          <a:xfrm>
            <a:off x="1173882" y="13939800"/>
            <a:ext cx="2545073"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Reviews</a:t>
            </a:r>
            <a:endParaRPr lang="en-US" sz="1800" dirty="0"/>
          </a:p>
        </p:txBody>
      </p:sp>
      <p:sp>
        <p:nvSpPr>
          <p:cNvPr id="75" name="Shape 73"/>
          <p:cNvSpPr/>
          <p:nvPr/>
        </p:nvSpPr>
        <p:spPr>
          <a:xfrm>
            <a:off x="3997337" y="13351743"/>
            <a:ext cx="2911636" cy="1099096"/>
          </a:xfrm>
          <a:prstGeom prst="rect">
            <a:avLst/>
          </a:prstGeom>
          <a:solidFill>
            <a:srgbClr val="FAF7F0"/>
          </a:solidFill>
          <a:ln w="11906">
            <a:solidFill>
              <a:srgbClr val="D8D1C0"/>
            </a:solidFill>
            <a:prstDash val="solid"/>
          </a:ln>
        </p:spPr>
      </p:sp>
      <p:sp>
        <p:nvSpPr>
          <p:cNvPr id="76" name="Text 74"/>
          <p:cNvSpPr/>
          <p:nvPr/>
        </p:nvSpPr>
        <p:spPr>
          <a:xfrm>
            <a:off x="4218719" y="1355414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Setting</a:t>
            </a:r>
            <a:endParaRPr lang="en-US" sz="1800" dirty="0"/>
          </a:p>
        </p:txBody>
      </p:sp>
      <p:sp>
        <p:nvSpPr>
          <p:cNvPr id="77" name="Text 75"/>
          <p:cNvSpPr/>
          <p:nvPr/>
        </p:nvSpPr>
        <p:spPr>
          <a:xfrm>
            <a:off x="4218719" y="13939800"/>
            <a:ext cx="2545073"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System</a:t>
            </a:r>
            <a:endParaRPr lang="en-US" sz="1800" dirty="0"/>
          </a:p>
        </p:txBody>
      </p:sp>
      <p:sp>
        <p:nvSpPr>
          <p:cNvPr id="78" name="Shape 76"/>
          <p:cNvSpPr/>
          <p:nvPr/>
        </p:nvSpPr>
        <p:spPr>
          <a:xfrm>
            <a:off x="10411085" y="4725666"/>
            <a:ext cx="6924415" cy="487412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1906">
            <a:solidFill>
              <a:srgbClr val="D8D1C0"/>
            </a:solidFill>
            <a:prstDash val="solid"/>
          </a:ln>
        </p:spPr>
      </p:sp>
      <p:sp>
        <p:nvSpPr>
          <p:cNvPr id="82" name="Shape 80"/>
          <p:cNvSpPr/>
          <p:nvPr/>
        </p:nvSpPr>
        <p:spPr>
          <a:xfrm>
            <a:off x="10411085" y="12894283"/>
            <a:ext cx="6924415" cy="1556556"/>
          </a:xfrm>
          <a:prstGeom prst="rect">
            <a:avLst/>
          </a:prstGeom>
          <a:solidFill>
            <a:srgbClr val="0F1419"/>
          </a:solidFill>
          <a:ln w="11906">
            <a:solidFill>
              <a:srgbClr val="0F1419"/>
            </a:solidFill>
            <a:prstDash val="solid"/>
          </a:ln>
        </p:spPr>
      </p:sp>
      <p:sp>
        <p:nvSpPr>
          <p:cNvPr id="83" name="Text 81"/>
          <p:cNvSpPr/>
          <p:nvPr/>
        </p:nvSpPr>
        <p:spPr>
          <a:xfrm>
            <a:off x="10670604" y="13153802"/>
            <a:ext cx="6597538"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C9A86A"/>
                </a:solidFill>
                <a:latin typeface="Arial" pitchFamily="34" charset="0"/>
                <a:ea typeface="Arial" pitchFamily="34" charset="-122"/>
                <a:cs typeface="Arial" pitchFamily="34" charset="-120"/>
              </a:rPr>
              <a:t>Pattern</a:t>
            </a:r>
            <a:endParaRPr lang="en-US" sz="1950" dirty="0"/>
          </a:p>
        </p:txBody>
      </p:sp>
      <p:sp>
        <p:nvSpPr>
          <p:cNvPr id="84" name="Text 82"/>
          <p:cNvSpPr/>
          <p:nvPr/>
        </p:nvSpPr>
        <p:spPr>
          <a:xfrm>
            <a:off x="10670604" y="13589496"/>
            <a:ext cx="6597538"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5F1EA"/>
                </a:solidFill>
                <a:latin typeface="-apple-system" pitchFamily="34" charset="0"/>
                <a:ea typeface="-apple-system" pitchFamily="34" charset="-122"/>
                <a:cs typeface="-apple-system" pitchFamily="34" charset="-120"/>
              </a:rPr>
              <a:t>List view · Create form · Edit form · Delete with confirmation · Validation. Same shape across all 23 modules.</a:t>
            </a:r>
            <a:endParaRPr lang="en-US" sz="1800" dirty="0"/>
          </a:p>
        </p:txBody>
      </p:sp>
      <p:sp>
        <p:nvSpPr>
          <p:cNvPr id="87" name="Text 1">
            <a:extLst>
              <a:ext uri="{FF2B5EF4-FFF2-40B4-BE49-F238E27FC236}">
                <a16:creationId xmlns:a16="http://schemas.microsoft.com/office/drawing/2014/main" id="{5E5D0EE4-610E-F915-7CBF-C6F29CBFE365}"/>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09 / 22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82343498-03F7-7770-6D81-AEA2FDD870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F9BF7F-7AD8-8C11-EBD2-56921959A314}"/>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r>
              <a:rPr lang="en-US" sz="1800" kern="0" spc="72" dirty="0">
                <a:solidFill>
                  <a:srgbClr val="0F1419"/>
                </a:solidFill>
                <a:latin typeface="Arial" pitchFamily="34" charset="0"/>
                <a:ea typeface="Arial" pitchFamily="34" charset="-122"/>
                <a:cs typeface="Arial" pitchFamily="34" charset="-120"/>
              </a:rPr>
              <a:t>HOTEL PLATFORM / </a:t>
            </a:r>
            <a:r>
              <a:rPr lang="en-US" kern="0" spc="72" dirty="0">
                <a:solidFill>
                  <a:srgbClr val="0F1419"/>
                </a:solidFill>
                <a:latin typeface="Arial" pitchFamily="34" charset="0"/>
                <a:ea typeface="Arial" pitchFamily="34" charset="-122"/>
                <a:cs typeface="Arial" pitchFamily="34" charset="-120"/>
              </a:rPr>
              <a:t>SECTION</a:t>
            </a:r>
            <a:r>
              <a:rPr lang="en-US" sz="1800" kern="0" spc="72" dirty="0">
                <a:solidFill>
                  <a:srgbClr val="0F1419"/>
                </a:solidFill>
                <a:latin typeface="Arial" pitchFamily="34" charset="0"/>
                <a:ea typeface="Arial" pitchFamily="34" charset="-122"/>
                <a:cs typeface="Arial" pitchFamily="34" charset="-120"/>
              </a:rPr>
              <a:t> 2</a:t>
            </a:r>
            <a:endParaRPr lang="en-US" sz="1800" dirty="0"/>
          </a:p>
        </p:txBody>
      </p:sp>
      <p:sp>
        <p:nvSpPr>
          <p:cNvPr id="6" name="Text 4">
            <a:extLst>
              <a:ext uri="{FF2B5EF4-FFF2-40B4-BE49-F238E27FC236}">
                <a16:creationId xmlns:a16="http://schemas.microsoft.com/office/drawing/2014/main" id="{7DA08B0E-C971-9B5A-48CC-DB476D9354AD}"/>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TRACK TWO</a:t>
            </a:r>
            <a:endParaRPr lang="en-US" sz="1800" dirty="0"/>
          </a:p>
        </p:txBody>
      </p:sp>
      <p:sp>
        <p:nvSpPr>
          <p:cNvPr id="7" name="Text 5">
            <a:extLst>
              <a:ext uri="{FF2B5EF4-FFF2-40B4-BE49-F238E27FC236}">
                <a16:creationId xmlns:a16="http://schemas.microsoft.com/office/drawing/2014/main" id="{EF5E0287-E029-1018-65AD-A550C8451590}"/>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Admin CRUD layer.</a:t>
            </a:r>
            <a:endParaRPr lang="en-US" sz="6600" dirty="0"/>
          </a:p>
        </p:txBody>
      </p:sp>
      <p:sp>
        <p:nvSpPr>
          <p:cNvPr id="8" name="Text 6">
            <a:extLst>
              <a:ext uri="{FF2B5EF4-FFF2-40B4-BE49-F238E27FC236}">
                <a16:creationId xmlns:a16="http://schemas.microsoft.com/office/drawing/2014/main" id="{4B61DE45-C93F-CC98-ECF3-7B2AD90C7360}"/>
              </a:ext>
            </a:extLst>
          </p:cNvPr>
          <p:cNvSpPr/>
          <p:nvPr/>
        </p:nvSpPr>
        <p:spPr>
          <a:xfrm>
            <a:off x="952500" y="3308635"/>
            <a:ext cx="12753975" cy="998041"/>
          </a:xfrm>
          <a:prstGeom prst="rect">
            <a:avLst/>
          </a:prstGeom>
          <a:noFill/>
          <a:ln/>
        </p:spPr>
        <p:txBody>
          <a:bodyPr wrap="square" lIns="25400" tIns="25400" rIns="25400" bIns="25400" rtlCol="0" anchor="t">
            <a:normAutofit/>
          </a:bodyPr>
          <a:lstStyle/>
          <a:p>
            <a:pPr marL="0" indent="0" algn="l">
              <a:lnSpc>
                <a:spcPct val="140000"/>
              </a:lnSpc>
              <a:buNone/>
            </a:pPr>
            <a:endParaRPr lang="en-US" sz="2700" dirty="0"/>
          </a:p>
        </p:txBody>
      </p:sp>
      <p:sp>
        <p:nvSpPr>
          <p:cNvPr id="36" name="Shape 34">
            <a:extLst>
              <a:ext uri="{FF2B5EF4-FFF2-40B4-BE49-F238E27FC236}">
                <a16:creationId xmlns:a16="http://schemas.microsoft.com/office/drawing/2014/main" id="{7F761EA3-6953-6017-8317-67C750896BAE}"/>
              </a:ext>
            </a:extLst>
          </p:cNvPr>
          <p:cNvSpPr/>
          <p:nvPr/>
        </p:nvSpPr>
        <p:spPr>
          <a:xfrm>
            <a:off x="952500" y="3458813"/>
            <a:ext cx="2911636" cy="1099096"/>
          </a:xfrm>
          <a:prstGeom prst="rect">
            <a:avLst/>
          </a:prstGeom>
          <a:solidFill>
            <a:srgbClr val="FAF7F0"/>
          </a:solidFill>
          <a:ln w="11906">
            <a:solidFill>
              <a:srgbClr val="D8D1C0"/>
            </a:solidFill>
            <a:prstDash val="solid"/>
          </a:ln>
        </p:spPr>
      </p:sp>
      <p:sp>
        <p:nvSpPr>
          <p:cNvPr id="37" name="Text 35">
            <a:extLst>
              <a:ext uri="{FF2B5EF4-FFF2-40B4-BE49-F238E27FC236}">
                <a16:creationId xmlns:a16="http://schemas.microsoft.com/office/drawing/2014/main" id="{7C4F1255-20BE-526B-A721-813AFCE58D01}"/>
              </a:ext>
            </a:extLst>
          </p:cNvPr>
          <p:cNvSpPr/>
          <p:nvPr/>
        </p:nvSpPr>
        <p:spPr>
          <a:xfrm>
            <a:off x="1173882" y="366121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Facility</a:t>
            </a:r>
            <a:endParaRPr lang="en-US" sz="1800" dirty="0"/>
          </a:p>
        </p:txBody>
      </p:sp>
      <p:sp>
        <p:nvSpPr>
          <p:cNvPr id="39" name="Shape 37">
            <a:extLst>
              <a:ext uri="{FF2B5EF4-FFF2-40B4-BE49-F238E27FC236}">
                <a16:creationId xmlns:a16="http://schemas.microsoft.com/office/drawing/2014/main" id="{4AD53989-0206-55C9-E8BF-B89AFA50FC8F}"/>
              </a:ext>
            </a:extLst>
          </p:cNvPr>
          <p:cNvSpPr/>
          <p:nvPr/>
        </p:nvSpPr>
        <p:spPr>
          <a:xfrm>
            <a:off x="3997337" y="3458813"/>
            <a:ext cx="2911636" cy="1099096"/>
          </a:xfrm>
          <a:prstGeom prst="rect">
            <a:avLst/>
          </a:prstGeom>
          <a:solidFill>
            <a:srgbClr val="FAF7F0"/>
          </a:solidFill>
          <a:ln w="11906">
            <a:solidFill>
              <a:srgbClr val="D8D1C0"/>
            </a:solidFill>
            <a:prstDash val="solid"/>
          </a:ln>
        </p:spPr>
      </p:sp>
      <p:sp>
        <p:nvSpPr>
          <p:cNvPr id="40" name="Text 38">
            <a:extLst>
              <a:ext uri="{FF2B5EF4-FFF2-40B4-BE49-F238E27FC236}">
                <a16:creationId xmlns:a16="http://schemas.microsoft.com/office/drawing/2014/main" id="{4D500F77-285F-E846-6082-4B1EF26B53FF}"/>
              </a:ext>
            </a:extLst>
          </p:cNvPr>
          <p:cNvSpPr/>
          <p:nvPr/>
        </p:nvSpPr>
        <p:spPr>
          <a:xfrm>
            <a:off x="4218719" y="366121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Group_Facility</a:t>
            </a:r>
            <a:endParaRPr lang="en-US" sz="1800" dirty="0"/>
          </a:p>
        </p:txBody>
      </p:sp>
      <p:sp>
        <p:nvSpPr>
          <p:cNvPr id="42" name="Shape 40">
            <a:extLst>
              <a:ext uri="{FF2B5EF4-FFF2-40B4-BE49-F238E27FC236}">
                <a16:creationId xmlns:a16="http://schemas.microsoft.com/office/drawing/2014/main" id="{9D8FCECB-AC3B-04E7-CEF5-298B1D87E262}"/>
              </a:ext>
            </a:extLst>
          </p:cNvPr>
          <p:cNvSpPr/>
          <p:nvPr/>
        </p:nvSpPr>
        <p:spPr>
          <a:xfrm>
            <a:off x="7042175" y="3458813"/>
            <a:ext cx="2911636" cy="1099096"/>
          </a:xfrm>
          <a:prstGeom prst="rect">
            <a:avLst/>
          </a:prstGeom>
          <a:solidFill>
            <a:srgbClr val="FAF7F0"/>
          </a:solidFill>
          <a:ln w="11906">
            <a:solidFill>
              <a:srgbClr val="D8D1C0"/>
            </a:solidFill>
            <a:prstDash val="solid"/>
          </a:ln>
        </p:spPr>
      </p:sp>
      <p:sp>
        <p:nvSpPr>
          <p:cNvPr id="43" name="Text 41">
            <a:extLst>
              <a:ext uri="{FF2B5EF4-FFF2-40B4-BE49-F238E27FC236}">
                <a16:creationId xmlns:a16="http://schemas.microsoft.com/office/drawing/2014/main" id="{B3952F7A-D8F3-B483-EEF4-301D97A12CBB}"/>
              </a:ext>
            </a:extLst>
          </p:cNvPr>
          <p:cNvSpPr/>
          <p:nvPr/>
        </p:nvSpPr>
        <p:spPr>
          <a:xfrm>
            <a:off x="7263557" y="366121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Facility_Hotel</a:t>
            </a:r>
            <a:endParaRPr lang="en-US" sz="1800" dirty="0"/>
          </a:p>
        </p:txBody>
      </p:sp>
      <p:sp>
        <p:nvSpPr>
          <p:cNvPr id="45" name="Shape 43">
            <a:extLst>
              <a:ext uri="{FF2B5EF4-FFF2-40B4-BE49-F238E27FC236}">
                <a16:creationId xmlns:a16="http://schemas.microsoft.com/office/drawing/2014/main" id="{154948EE-B824-1B8B-5BD3-460084C4DFC0}"/>
              </a:ext>
            </a:extLst>
          </p:cNvPr>
          <p:cNvSpPr/>
          <p:nvPr/>
        </p:nvSpPr>
        <p:spPr>
          <a:xfrm>
            <a:off x="10087013" y="3453450"/>
            <a:ext cx="2911636" cy="1099096"/>
          </a:xfrm>
          <a:prstGeom prst="rect">
            <a:avLst/>
          </a:prstGeom>
          <a:solidFill>
            <a:srgbClr val="FAF7F0"/>
          </a:solidFill>
          <a:ln w="11906">
            <a:solidFill>
              <a:srgbClr val="D8D1C0"/>
            </a:solidFill>
            <a:prstDash val="solid"/>
          </a:ln>
        </p:spPr>
      </p:sp>
      <p:sp>
        <p:nvSpPr>
          <p:cNvPr id="46" name="Text 44">
            <a:extLst>
              <a:ext uri="{FF2B5EF4-FFF2-40B4-BE49-F238E27FC236}">
                <a16:creationId xmlns:a16="http://schemas.microsoft.com/office/drawing/2014/main" id="{E239E61F-3C58-0F0B-3194-787A68A19741}"/>
              </a:ext>
            </a:extLst>
          </p:cNvPr>
          <p:cNvSpPr/>
          <p:nvPr/>
        </p:nvSpPr>
        <p:spPr>
          <a:xfrm>
            <a:off x="10556240" y="366121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Tag</a:t>
            </a:r>
            <a:endParaRPr lang="en-US" sz="1800" dirty="0"/>
          </a:p>
        </p:txBody>
      </p:sp>
      <p:sp>
        <p:nvSpPr>
          <p:cNvPr id="48" name="Shape 46">
            <a:extLst>
              <a:ext uri="{FF2B5EF4-FFF2-40B4-BE49-F238E27FC236}">
                <a16:creationId xmlns:a16="http://schemas.microsoft.com/office/drawing/2014/main" id="{667F0FB7-B927-5A31-62EF-FB3E422B18D8}"/>
              </a:ext>
            </a:extLst>
          </p:cNvPr>
          <p:cNvSpPr/>
          <p:nvPr/>
        </p:nvSpPr>
        <p:spPr>
          <a:xfrm>
            <a:off x="13134596" y="3467099"/>
            <a:ext cx="2911636" cy="1099096"/>
          </a:xfrm>
          <a:prstGeom prst="rect">
            <a:avLst/>
          </a:prstGeom>
          <a:solidFill>
            <a:srgbClr val="FAF7F0"/>
          </a:solidFill>
          <a:ln w="11906">
            <a:solidFill>
              <a:srgbClr val="D8D1C0"/>
            </a:solidFill>
            <a:prstDash val="solid"/>
          </a:ln>
        </p:spPr>
      </p:sp>
      <p:sp>
        <p:nvSpPr>
          <p:cNvPr id="49" name="Text 47">
            <a:extLst>
              <a:ext uri="{FF2B5EF4-FFF2-40B4-BE49-F238E27FC236}">
                <a16:creationId xmlns:a16="http://schemas.microsoft.com/office/drawing/2014/main" id="{98139660-F2CF-F931-9D7A-A1E06D1390ED}"/>
              </a:ext>
            </a:extLst>
          </p:cNvPr>
          <p:cNvSpPr/>
          <p:nvPr/>
        </p:nvSpPr>
        <p:spPr>
          <a:xfrm>
            <a:off x="13601077" y="366121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Location</a:t>
            </a:r>
            <a:endParaRPr lang="en-US" sz="1800" dirty="0"/>
          </a:p>
        </p:txBody>
      </p:sp>
      <p:sp>
        <p:nvSpPr>
          <p:cNvPr id="51" name="Shape 49">
            <a:extLst>
              <a:ext uri="{FF2B5EF4-FFF2-40B4-BE49-F238E27FC236}">
                <a16:creationId xmlns:a16="http://schemas.microsoft.com/office/drawing/2014/main" id="{92E0E09F-D56F-319F-0C34-81F649DC58F5}"/>
              </a:ext>
            </a:extLst>
          </p:cNvPr>
          <p:cNvSpPr/>
          <p:nvPr/>
        </p:nvSpPr>
        <p:spPr>
          <a:xfrm>
            <a:off x="952500" y="4738873"/>
            <a:ext cx="2911636" cy="1099096"/>
          </a:xfrm>
          <a:prstGeom prst="rect">
            <a:avLst/>
          </a:prstGeom>
          <a:solidFill>
            <a:srgbClr val="FAF7F0"/>
          </a:solidFill>
          <a:ln w="11906">
            <a:solidFill>
              <a:srgbClr val="D8D1C0"/>
            </a:solidFill>
            <a:prstDash val="solid"/>
          </a:ln>
        </p:spPr>
      </p:sp>
      <p:sp>
        <p:nvSpPr>
          <p:cNvPr id="52" name="Text 50">
            <a:extLst>
              <a:ext uri="{FF2B5EF4-FFF2-40B4-BE49-F238E27FC236}">
                <a16:creationId xmlns:a16="http://schemas.microsoft.com/office/drawing/2014/main" id="{4CB718AC-484C-B876-1A0D-A4C53CCFFDF8}"/>
              </a:ext>
            </a:extLst>
          </p:cNvPr>
          <p:cNvSpPr/>
          <p:nvPr/>
        </p:nvSpPr>
        <p:spPr>
          <a:xfrm>
            <a:off x="1173882" y="494127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Landmark</a:t>
            </a:r>
            <a:endParaRPr lang="en-US" sz="1800" dirty="0"/>
          </a:p>
        </p:txBody>
      </p:sp>
      <p:sp>
        <p:nvSpPr>
          <p:cNvPr id="54" name="Shape 52">
            <a:extLst>
              <a:ext uri="{FF2B5EF4-FFF2-40B4-BE49-F238E27FC236}">
                <a16:creationId xmlns:a16="http://schemas.microsoft.com/office/drawing/2014/main" id="{420CFACD-1E88-8D91-8639-01F2B767CB9C}"/>
              </a:ext>
            </a:extLst>
          </p:cNvPr>
          <p:cNvSpPr/>
          <p:nvPr/>
        </p:nvSpPr>
        <p:spPr>
          <a:xfrm>
            <a:off x="3997338" y="4735828"/>
            <a:ext cx="2911636" cy="1099096"/>
          </a:xfrm>
          <a:prstGeom prst="rect">
            <a:avLst/>
          </a:prstGeom>
          <a:solidFill>
            <a:srgbClr val="FAF7F0"/>
          </a:solidFill>
          <a:ln w="11906">
            <a:solidFill>
              <a:srgbClr val="D8D1C0"/>
            </a:solidFill>
            <a:prstDash val="solid"/>
          </a:ln>
        </p:spPr>
      </p:sp>
      <p:sp>
        <p:nvSpPr>
          <p:cNvPr id="55" name="Text 53">
            <a:extLst>
              <a:ext uri="{FF2B5EF4-FFF2-40B4-BE49-F238E27FC236}">
                <a16:creationId xmlns:a16="http://schemas.microsoft.com/office/drawing/2014/main" id="{828CD465-D44B-4ACD-6599-DF8C6341E665}"/>
              </a:ext>
            </a:extLst>
          </p:cNvPr>
          <p:cNvSpPr/>
          <p:nvPr/>
        </p:nvSpPr>
        <p:spPr>
          <a:xfrm>
            <a:off x="4218720" y="493823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Category</a:t>
            </a:r>
            <a:endParaRPr lang="en-US" sz="1800" dirty="0"/>
          </a:p>
        </p:txBody>
      </p:sp>
      <p:sp>
        <p:nvSpPr>
          <p:cNvPr id="57" name="Shape 55">
            <a:extLst>
              <a:ext uri="{FF2B5EF4-FFF2-40B4-BE49-F238E27FC236}">
                <a16:creationId xmlns:a16="http://schemas.microsoft.com/office/drawing/2014/main" id="{84E663FD-1060-0E52-FC71-5C61908D3796}"/>
              </a:ext>
            </a:extLst>
          </p:cNvPr>
          <p:cNvSpPr/>
          <p:nvPr/>
        </p:nvSpPr>
        <p:spPr>
          <a:xfrm>
            <a:off x="7042175" y="4735828"/>
            <a:ext cx="2911636" cy="1099096"/>
          </a:xfrm>
          <a:prstGeom prst="rect">
            <a:avLst/>
          </a:prstGeom>
          <a:solidFill>
            <a:srgbClr val="FAF7F0"/>
          </a:solidFill>
          <a:ln w="11906">
            <a:solidFill>
              <a:srgbClr val="D8D1C0"/>
            </a:solidFill>
            <a:prstDash val="solid"/>
          </a:ln>
        </p:spPr>
      </p:sp>
      <p:sp>
        <p:nvSpPr>
          <p:cNvPr id="58" name="Text 56">
            <a:extLst>
              <a:ext uri="{FF2B5EF4-FFF2-40B4-BE49-F238E27FC236}">
                <a16:creationId xmlns:a16="http://schemas.microsoft.com/office/drawing/2014/main" id="{9D0C7A33-C6AB-208F-26A0-309D980F245E}"/>
              </a:ext>
            </a:extLst>
          </p:cNvPr>
          <p:cNvSpPr/>
          <p:nvPr/>
        </p:nvSpPr>
        <p:spPr>
          <a:xfrm>
            <a:off x="7263557" y="493823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Banner</a:t>
            </a:r>
            <a:endParaRPr lang="en-US" sz="1800" dirty="0"/>
          </a:p>
        </p:txBody>
      </p:sp>
      <p:sp>
        <p:nvSpPr>
          <p:cNvPr id="60" name="Shape 58">
            <a:extLst>
              <a:ext uri="{FF2B5EF4-FFF2-40B4-BE49-F238E27FC236}">
                <a16:creationId xmlns:a16="http://schemas.microsoft.com/office/drawing/2014/main" id="{4CB202A6-DCBB-122E-15D8-E4219D4D33AE}"/>
              </a:ext>
            </a:extLst>
          </p:cNvPr>
          <p:cNvSpPr/>
          <p:nvPr/>
        </p:nvSpPr>
        <p:spPr>
          <a:xfrm>
            <a:off x="10087013" y="4735828"/>
            <a:ext cx="2911636" cy="1099096"/>
          </a:xfrm>
          <a:prstGeom prst="rect">
            <a:avLst/>
          </a:prstGeom>
          <a:solidFill>
            <a:srgbClr val="FAF7F0"/>
          </a:solidFill>
          <a:ln w="11906">
            <a:solidFill>
              <a:srgbClr val="D8D1C0"/>
            </a:solidFill>
            <a:prstDash val="solid"/>
          </a:ln>
        </p:spPr>
      </p:sp>
      <p:sp>
        <p:nvSpPr>
          <p:cNvPr id="61" name="Text 59">
            <a:extLst>
              <a:ext uri="{FF2B5EF4-FFF2-40B4-BE49-F238E27FC236}">
                <a16:creationId xmlns:a16="http://schemas.microsoft.com/office/drawing/2014/main" id="{95345BBD-65E0-DE98-D36D-F5CF9B695CF3}"/>
              </a:ext>
            </a:extLst>
          </p:cNvPr>
          <p:cNvSpPr/>
          <p:nvPr/>
        </p:nvSpPr>
        <p:spPr>
          <a:xfrm>
            <a:off x="10308395" y="493823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Promotion</a:t>
            </a:r>
            <a:endParaRPr lang="en-US" sz="1800" dirty="0"/>
          </a:p>
        </p:txBody>
      </p:sp>
      <p:sp>
        <p:nvSpPr>
          <p:cNvPr id="63" name="Shape 61">
            <a:extLst>
              <a:ext uri="{FF2B5EF4-FFF2-40B4-BE49-F238E27FC236}">
                <a16:creationId xmlns:a16="http://schemas.microsoft.com/office/drawing/2014/main" id="{174FD717-DA3F-10AF-C3CC-D666BA7B3FF3}"/>
              </a:ext>
            </a:extLst>
          </p:cNvPr>
          <p:cNvSpPr/>
          <p:nvPr/>
        </p:nvSpPr>
        <p:spPr>
          <a:xfrm>
            <a:off x="13134596" y="4738872"/>
            <a:ext cx="2911636" cy="1099096"/>
          </a:xfrm>
          <a:prstGeom prst="rect">
            <a:avLst/>
          </a:prstGeom>
          <a:solidFill>
            <a:srgbClr val="FAF7F0"/>
          </a:solidFill>
          <a:ln w="11906">
            <a:solidFill>
              <a:srgbClr val="D8D1C0"/>
            </a:solidFill>
            <a:prstDash val="solid"/>
          </a:ln>
        </p:spPr>
      </p:sp>
      <p:sp>
        <p:nvSpPr>
          <p:cNvPr id="64" name="Text 62">
            <a:extLst>
              <a:ext uri="{FF2B5EF4-FFF2-40B4-BE49-F238E27FC236}">
                <a16:creationId xmlns:a16="http://schemas.microsoft.com/office/drawing/2014/main" id="{F224E7FC-E26E-7246-B047-3E32AA1DE6BC}"/>
              </a:ext>
            </a:extLst>
          </p:cNvPr>
          <p:cNvSpPr/>
          <p:nvPr/>
        </p:nvSpPr>
        <p:spPr>
          <a:xfrm>
            <a:off x="13355978" y="4941279"/>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QA</a:t>
            </a:r>
            <a:endParaRPr lang="en-US" sz="1800" dirty="0"/>
          </a:p>
        </p:txBody>
      </p:sp>
      <p:sp>
        <p:nvSpPr>
          <p:cNvPr id="66" name="Shape 64">
            <a:extLst>
              <a:ext uri="{FF2B5EF4-FFF2-40B4-BE49-F238E27FC236}">
                <a16:creationId xmlns:a16="http://schemas.microsoft.com/office/drawing/2014/main" id="{D9A6E8BA-920F-D852-17C1-B2611B1E1687}"/>
              </a:ext>
            </a:extLst>
          </p:cNvPr>
          <p:cNvSpPr/>
          <p:nvPr/>
        </p:nvSpPr>
        <p:spPr>
          <a:xfrm>
            <a:off x="952500" y="5992173"/>
            <a:ext cx="2911636" cy="1099096"/>
          </a:xfrm>
          <a:prstGeom prst="rect">
            <a:avLst/>
          </a:prstGeom>
          <a:solidFill>
            <a:srgbClr val="FAF7F0"/>
          </a:solidFill>
          <a:ln w="11906">
            <a:solidFill>
              <a:srgbClr val="D8D1C0"/>
            </a:solidFill>
            <a:prstDash val="solid"/>
          </a:ln>
        </p:spPr>
      </p:sp>
      <p:sp>
        <p:nvSpPr>
          <p:cNvPr id="67" name="Text 65">
            <a:extLst>
              <a:ext uri="{FF2B5EF4-FFF2-40B4-BE49-F238E27FC236}">
                <a16:creationId xmlns:a16="http://schemas.microsoft.com/office/drawing/2014/main" id="{F570FA91-F5BB-5EE4-E035-BC11EA11696A}"/>
              </a:ext>
            </a:extLst>
          </p:cNvPr>
          <p:cNvSpPr/>
          <p:nvPr/>
        </p:nvSpPr>
        <p:spPr>
          <a:xfrm>
            <a:off x="1173882" y="6194580"/>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User</a:t>
            </a:r>
            <a:endParaRPr lang="en-US" sz="1800" dirty="0"/>
          </a:p>
        </p:txBody>
      </p:sp>
      <p:sp>
        <p:nvSpPr>
          <p:cNvPr id="69" name="Shape 67">
            <a:extLst>
              <a:ext uri="{FF2B5EF4-FFF2-40B4-BE49-F238E27FC236}">
                <a16:creationId xmlns:a16="http://schemas.microsoft.com/office/drawing/2014/main" id="{43DFD8DA-A21E-F870-5718-4E592AA61EC2}"/>
              </a:ext>
            </a:extLst>
          </p:cNvPr>
          <p:cNvSpPr/>
          <p:nvPr/>
        </p:nvSpPr>
        <p:spPr>
          <a:xfrm>
            <a:off x="3997337" y="5989128"/>
            <a:ext cx="2911636" cy="1099096"/>
          </a:xfrm>
          <a:prstGeom prst="rect">
            <a:avLst/>
          </a:prstGeom>
          <a:solidFill>
            <a:srgbClr val="FAF7F0"/>
          </a:solidFill>
          <a:ln w="11906">
            <a:solidFill>
              <a:srgbClr val="D8D1C0"/>
            </a:solidFill>
            <a:prstDash val="solid"/>
          </a:ln>
        </p:spPr>
      </p:sp>
      <p:sp>
        <p:nvSpPr>
          <p:cNvPr id="70" name="Text 68">
            <a:extLst>
              <a:ext uri="{FF2B5EF4-FFF2-40B4-BE49-F238E27FC236}">
                <a16:creationId xmlns:a16="http://schemas.microsoft.com/office/drawing/2014/main" id="{8AD36634-BC11-FDBD-8E26-EA00A0E4659B}"/>
              </a:ext>
            </a:extLst>
          </p:cNvPr>
          <p:cNvSpPr/>
          <p:nvPr/>
        </p:nvSpPr>
        <p:spPr>
          <a:xfrm>
            <a:off x="4218719" y="6191535"/>
            <a:ext cx="2545073"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Member</a:t>
            </a:r>
            <a:endParaRPr lang="en-US" sz="1800" dirty="0"/>
          </a:p>
        </p:txBody>
      </p:sp>
      <p:sp>
        <p:nvSpPr>
          <p:cNvPr id="72" name="Shape 70">
            <a:extLst>
              <a:ext uri="{FF2B5EF4-FFF2-40B4-BE49-F238E27FC236}">
                <a16:creationId xmlns:a16="http://schemas.microsoft.com/office/drawing/2014/main" id="{0F85F9F3-9103-6166-29D5-454AA05B72BD}"/>
              </a:ext>
            </a:extLst>
          </p:cNvPr>
          <p:cNvSpPr/>
          <p:nvPr/>
        </p:nvSpPr>
        <p:spPr>
          <a:xfrm>
            <a:off x="952500" y="13351743"/>
            <a:ext cx="2911636" cy="1099096"/>
          </a:xfrm>
          <a:prstGeom prst="rect">
            <a:avLst/>
          </a:prstGeom>
          <a:solidFill>
            <a:srgbClr val="FAF7F0"/>
          </a:solidFill>
          <a:ln w="11906">
            <a:solidFill>
              <a:srgbClr val="D8D1C0"/>
            </a:solidFill>
            <a:prstDash val="solid"/>
          </a:ln>
        </p:spPr>
      </p:sp>
      <p:sp>
        <p:nvSpPr>
          <p:cNvPr id="74" name="Text 72">
            <a:extLst>
              <a:ext uri="{FF2B5EF4-FFF2-40B4-BE49-F238E27FC236}">
                <a16:creationId xmlns:a16="http://schemas.microsoft.com/office/drawing/2014/main" id="{492D9221-B383-02C5-73B8-B36E38B46F21}"/>
              </a:ext>
            </a:extLst>
          </p:cNvPr>
          <p:cNvSpPr/>
          <p:nvPr/>
        </p:nvSpPr>
        <p:spPr>
          <a:xfrm>
            <a:off x="1173882" y="13939800"/>
            <a:ext cx="2545073"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Reviews</a:t>
            </a:r>
            <a:endParaRPr lang="en-US" sz="1800" dirty="0"/>
          </a:p>
        </p:txBody>
      </p:sp>
      <p:sp>
        <p:nvSpPr>
          <p:cNvPr id="75" name="Shape 73">
            <a:extLst>
              <a:ext uri="{FF2B5EF4-FFF2-40B4-BE49-F238E27FC236}">
                <a16:creationId xmlns:a16="http://schemas.microsoft.com/office/drawing/2014/main" id="{078F8263-E039-1393-09D1-8F889966FD4A}"/>
              </a:ext>
            </a:extLst>
          </p:cNvPr>
          <p:cNvSpPr/>
          <p:nvPr/>
        </p:nvSpPr>
        <p:spPr>
          <a:xfrm>
            <a:off x="3997337" y="13351743"/>
            <a:ext cx="2911636" cy="1099096"/>
          </a:xfrm>
          <a:prstGeom prst="rect">
            <a:avLst/>
          </a:prstGeom>
          <a:solidFill>
            <a:srgbClr val="FAF7F0"/>
          </a:solidFill>
          <a:ln w="11906">
            <a:solidFill>
              <a:srgbClr val="D8D1C0"/>
            </a:solidFill>
            <a:prstDash val="solid"/>
          </a:ln>
        </p:spPr>
      </p:sp>
      <p:sp>
        <p:nvSpPr>
          <p:cNvPr id="77" name="Text 75">
            <a:extLst>
              <a:ext uri="{FF2B5EF4-FFF2-40B4-BE49-F238E27FC236}">
                <a16:creationId xmlns:a16="http://schemas.microsoft.com/office/drawing/2014/main" id="{62335E7E-6B01-D6E7-6D4D-68C37947F897}"/>
              </a:ext>
            </a:extLst>
          </p:cNvPr>
          <p:cNvSpPr/>
          <p:nvPr/>
        </p:nvSpPr>
        <p:spPr>
          <a:xfrm>
            <a:off x="4218719" y="13939800"/>
            <a:ext cx="2545073"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System</a:t>
            </a:r>
            <a:endParaRPr lang="en-US" sz="1800" dirty="0"/>
          </a:p>
        </p:txBody>
      </p:sp>
      <p:sp>
        <p:nvSpPr>
          <p:cNvPr id="82" name="Shape 80">
            <a:extLst>
              <a:ext uri="{FF2B5EF4-FFF2-40B4-BE49-F238E27FC236}">
                <a16:creationId xmlns:a16="http://schemas.microsoft.com/office/drawing/2014/main" id="{4FC27D7A-1060-C118-A927-097732A9D471}"/>
              </a:ext>
            </a:extLst>
          </p:cNvPr>
          <p:cNvSpPr/>
          <p:nvPr/>
        </p:nvSpPr>
        <p:spPr>
          <a:xfrm>
            <a:off x="10411085" y="12894283"/>
            <a:ext cx="6924415" cy="1556556"/>
          </a:xfrm>
          <a:prstGeom prst="rect">
            <a:avLst/>
          </a:prstGeom>
          <a:solidFill>
            <a:srgbClr val="0F1419"/>
          </a:solidFill>
          <a:ln w="11906">
            <a:solidFill>
              <a:srgbClr val="0F1419"/>
            </a:solidFill>
            <a:prstDash val="solid"/>
          </a:ln>
        </p:spPr>
      </p:sp>
      <p:sp>
        <p:nvSpPr>
          <p:cNvPr id="83" name="Text 81">
            <a:extLst>
              <a:ext uri="{FF2B5EF4-FFF2-40B4-BE49-F238E27FC236}">
                <a16:creationId xmlns:a16="http://schemas.microsoft.com/office/drawing/2014/main" id="{A7EA202B-E4FA-DB95-8FAE-B4B098CE00A2}"/>
              </a:ext>
            </a:extLst>
          </p:cNvPr>
          <p:cNvSpPr/>
          <p:nvPr/>
        </p:nvSpPr>
        <p:spPr>
          <a:xfrm>
            <a:off x="10670604" y="13153802"/>
            <a:ext cx="6597538" cy="359569"/>
          </a:xfrm>
          <a:prstGeom prst="rect">
            <a:avLst/>
          </a:prstGeom>
          <a:noFill/>
          <a:ln/>
        </p:spPr>
        <p:txBody>
          <a:bodyPr wrap="square" lIns="25400" tIns="25400" rIns="25400" bIns="25400" rtlCol="0" anchor="t">
            <a:normAutofit/>
          </a:bodyPr>
          <a:lstStyle/>
          <a:p>
            <a:pPr marL="0" indent="0" algn="l">
              <a:buNone/>
            </a:pPr>
            <a:r>
              <a:rPr lang="en-US" sz="1950" kern="0" spc="-10" dirty="0">
                <a:solidFill>
                  <a:srgbClr val="C9A86A"/>
                </a:solidFill>
                <a:latin typeface="Arial" pitchFamily="34" charset="0"/>
                <a:ea typeface="Arial" pitchFamily="34" charset="-122"/>
                <a:cs typeface="Arial" pitchFamily="34" charset="-120"/>
              </a:rPr>
              <a:t>Pattern</a:t>
            </a:r>
            <a:endParaRPr lang="en-US" sz="1950" dirty="0"/>
          </a:p>
        </p:txBody>
      </p:sp>
      <p:sp>
        <p:nvSpPr>
          <p:cNvPr id="84" name="Text 82">
            <a:extLst>
              <a:ext uri="{FF2B5EF4-FFF2-40B4-BE49-F238E27FC236}">
                <a16:creationId xmlns:a16="http://schemas.microsoft.com/office/drawing/2014/main" id="{AC1E47A7-E797-24E9-5644-FA6195B50D0B}"/>
              </a:ext>
            </a:extLst>
          </p:cNvPr>
          <p:cNvSpPr/>
          <p:nvPr/>
        </p:nvSpPr>
        <p:spPr>
          <a:xfrm>
            <a:off x="10670604" y="13589496"/>
            <a:ext cx="6597538"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5F1EA"/>
                </a:solidFill>
                <a:latin typeface="-apple-system" pitchFamily="34" charset="0"/>
                <a:ea typeface="-apple-system" pitchFamily="34" charset="-122"/>
                <a:cs typeface="-apple-system" pitchFamily="34" charset="-120"/>
              </a:rPr>
              <a:t>List view · Create form · Edit form · Delete with confirmation · Validation. Same shape across all 23 modules.</a:t>
            </a:r>
            <a:endParaRPr lang="en-US" sz="1800" dirty="0"/>
          </a:p>
        </p:txBody>
      </p:sp>
      <p:sp>
        <p:nvSpPr>
          <p:cNvPr id="89" name="Shape 61">
            <a:extLst>
              <a:ext uri="{FF2B5EF4-FFF2-40B4-BE49-F238E27FC236}">
                <a16:creationId xmlns:a16="http://schemas.microsoft.com/office/drawing/2014/main" id="{E2BCBE4A-F834-A31B-03DB-4A65176D68D9}"/>
              </a:ext>
            </a:extLst>
          </p:cNvPr>
          <p:cNvSpPr/>
          <p:nvPr/>
        </p:nvSpPr>
        <p:spPr>
          <a:xfrm>
            <a:off x="7042174" y="5985239"/>
            <a:ext cx="2911636" cy="1099096"/>
          </a:xfrm>
          <a:prstGeom prst="rect">
            <a:avLst/>
          </a:prstGeom>
          <a:solidFill>
            <a:srgbClr val="FAF7F0"/>
          </a:solidFill>
          <a:ln w="11906">
            <a:solidFill>
              <a:srgbClr val="D8D1C0"/>
            </a:solidFill>
            <a:prstDash val="solid"/>
          </a:ln>
        </p:spPr>
      </p:sp>
      <p:sp>
        <p:nvSpPr>
          <p:cNvPr id="90" name="Text 62">
            <a:extLst>
              <a:ext uri="{FF2B5EF4-FFF2-40B4-BE49-F238E27FC236}">
                <a16:creationId xmlns:a16="http://schemas.microsoft.com/office/drawing/2014/main" id="{85FD4139-0685-ECA4-0B87-EA4E64002408}"/>
              </a:ext>
            </a:extLst>
          </p:cNvPr>
          <p:cNvSpPr/>
          <p:nvPr/>
        </p:nvSpPr>
        <p:spPr>
          <a:xfrm>
            <a:off x="7263556" y="6215250"/>
            <a:ext cx="2545073" cy="347663"/>
          </a:xfrm>
          <a:prstGeom prst="rect">
            <a:avLst/>
          </a:prstGeom>
          <a:noFill/>
          <a:ln/>
        </p:spPr>
        <p:txBody>
          <a:bodyPr wrap="square" lIns="25400" tIns="25400" rIns="25400" bIns="25400" rtlCol="0" anchor="t">
            <a:normAutofit/>
          </a:bodyPr>
          <a:lstStyle/>
          <a:p>
            <a:r>
              <a:rPr lang="en-US" dirty="0">
                <a:solidFill>
                  <a:srgbClr val="0F1419"/>
                </a:solidFill>
                <a:latin typeface="Arial" pitchFamily="34" charset="0"/>
                <a:ea typeface="Arial" pitchFamily="34" charset="-122"/>
                <a:cs typeface="Arial" pitchFamily="34" charset="-120"/>
              </a:rPr>
              <a:t>Comment</a:t>
            </a:r>
            <a:endParaRPr lang="en-US" sz="1800" dirty="0"/>
          </a:p>
        </p:txBody>
      </p:sp>
      <p:sp>
        <p:nvSpPr>
          <p:cNvPr id="93" name="Shape 61">
            <a:extLst>
              <a:ext uri="{FF2B5EF4-FFF2-40B4-BE49-F238E27FC236}">
                <a16:creationId xmlns:a16="http://schemas.microsoft.com/office/drawing/2014/main" id="{6EA5FFE2-F30C-131B-E87E-87025CCFC53D}"/>
              </a:ext>
            </a:extLst>
          </p:cNvPr>
          <p:cNvSpPr/>
          <p:nvPr/>
        </p:nvSpPr>
        <p:spPr>
          <a:xfrm>
            <a:off x="10087011" y="5980167"/>
            <a:ext cx="2911636" cy="1099096"/>
          </a:xfrm>
          <a:prstGeom prst="rect">
            <a:avLst/>
          </a:prstGeom>
          <a:solidFill>
            <a:srgbClr val="FAF7F0"/>
          </a:solidFill>
          <a:ln w="11906">
            <a:solidFill>
              <a:srgbClr val="D8D1C0"/>
            </a:solidFill>
            <a:prstDash val="solid"/>
          </a:ln>
        </p:spPr>
      </p:sp>
      <p:sp>
        <p:nvSpPr>
          <p:cNvPr id="94" name="Text 62">
            <a:extLst>
              <a:ext uri="{FF2B5EF4-FFF2-40B4-BE49-F238E27FC236}">
                <a16:creationId xmlns:a16="http://schemas.microsoft.com/office/drawing/2014/main" id="{976BB19E-B8D9-3C40-C99E-EE510EE65D2D}"/>
              </a:ext>
            </a:extLst>
          </p:cNvPr>
          <p:cNvSpPr/>
          <p:nvPr/>
        </p:nvSpPr>
        <p:spPr>
          <a:xfrm>
            <a:off x="10308393" y="6182574"/>
            <a:ext cx="2545073" cy="347663"/>
          </a:xfrm>
          <a:prstGeom prst="rect">
            <a:avLst/>
          </a:prstGeom>
          <a:noFill/>
          <a:ln/>
        </p:spPr>
        <p:txBody>
          <a:bodyPr wrap="square" lIns="25400" tIns="25400" rIns="25400" bIns="25400" rtlCol="0" anchor="t">
            <a:normAutofit/>
          </a:bodyPr>
          <a:lstStyle/>
          <a:p>
            <a:r>
              <a:rPr lang="en-US" dirty="0">
                <a:solidFill>
                  <a:srgbClr val="0F1419"/>
                </a:solidFill>
                <a:latin typeface="Arial" pitchFamily="34" charset="0"/>
                <a:ea typeface="Arial" pitchFamily="34" charset="-122"/>
                <a:cs typeface="Arial" pitchFamily="34" charset="-120"/>
              </a:rPr>
              <a:t>Setting</a:t>
            </a:r>
            <a:endParaRPr lang="en-US" sz="1800" dirty="0"/>
          </a:p>
        </p:txBody>
      </p:sp>
      <p:sp>
        <p:nvSpPr>
          <p:cNvPr id="95" name="Text 63">
            <a:extLst>
              <a:ext uri="{FF2B5EF4-FFF2-40B4-BE49-F238E27FC236}">
                <a16:creationId xmlns:a16="http://schemas.microsoft.com/office/drawing/2014/main" id="{B1BBBCAF-AB50-1863-EE1A-C3BA18A8C3B3}"/>
              </a:ext>
            </a:extLst>
          </p:cNvPr>
          <p:cNvSpPr/>
          <p:nvPr/>
        </p:nvSpPr>
        <p:spPr>
          <a:xfrm>
            <a:off x="10308393" y="6568224"/>
            <a:ext cx="2545073"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endParaRPr lang="en-US" sz="1800" dirty="0"/>
          </a:p>
        </p:txBody>
      </p:sp>
      <p:sp>
        <p:nvSpPr>
          <p:cNvPr id="96" name="Text 1">
            <a:extLst>
              <a:ext uri="{FF2B5EF4-FFF2-40B4-BE49-F238E27FC236}">
                <a16:creationId xmlns:a16="http://schemas.microsoft.com/office/drawing/2014/main" id="{1139D372-502D-B396-18BE-5B771E1BF8C0}"/>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10 / 22</a:t>
            </a:r>
            <a:endParaRPr lang="en-US" sz="1800" dirty="0"/>
          </a:p>
        </p:txBody>
      </p:sp>
    </p:spTree>
    <p:extLst>
      <p:ext uri="{BB962C8B-B14F-4D97-AF65-F5344CB8AC3E}">
        <p14:creationId xmlns:p14="http://schemas.microsoft.com/office/powerpoint/2010/main" val="3633480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2</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CRUD PHASING</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CRUD ships with its tables.</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Each CRUD module follows its underlying schema by one week. Ops gets a usable admin tool per domain as soon as it's seeded.</a:t>
            </a:r>
            <a:endParaRPr lang="en-US" sz="2700" dirty="0"/>
          </a:p>
        </p:txBody>
      </p:sp>
      <p:sp>
        <p:nvSpPr>
          <p:cNvPr id="9" name="Shape 7"/>
          <p:cNvSpPr/>
          <p:nvPr/>
        </p:nvSpPr>
        <p:spPr>
          <a:xfrm>
            <a:off x="952500" y="9322594"/>
            <a:ext cx="16383000" cy="11906"/>
          </a:xfrm>
          <a:prstGeom prst="rect">
            <a:avLst/>
          </a:prstGeom>
          <a:solidFill>
            <a:srgbClr val="D8D1C0"/>
          </a:solidFill>
          <a:ln/>
        </p:spPr>
      </p:sp>
      <p:sp>
        <p:nvSpPr>
          <p:cNvPr id="10" name="Shape 8"/>
          <p:cNvSpPr/>
          <p:nvPr/>
        </p:nvSpPr>
        <p:spPr>
          <a:xfrm>
            <a:off x="952500" y="4725665"/>
            <a:ext cx="16383000" cy="11906"/>
          </a:xfrm>
          <a:prstGeom prst="rect">
            <a:avLst/>
          </a:prstGeom>
          <a:solidFill>
            <a:srgbClr val="D8D1C0"/>
          </a:solidFill>
          <a:ln/>
        </p:spPr>
      </p:sp>
      <p:sp>
        <p:nvSpPr>
          <p:cNvPr id="11" name="Shape 9"/>
          <p:cNvSpPr/>
          <p:nvPr/>
        </p:nvSpPr>
        <p:spPr>
          <a:xfrm>
            <a:off x="5036344" y="4737571"/>
            <a:ext cx="11906" cy="4585022"/>
          </a:xfrm>
          <a:prstGeom prst="rect">
            <a:avLst/>
          </a:prstGeom>
          <a:solidFill>
            <a:srgbClr val="D8D1C0"/>
          </a:solidFill>
          <a:ln/>
        </p:spPr>
      </p:sp>
      <p:sp>
        <p:nvSpPr>
          <p:cNvPr id="12" name="Text 10"/>
          <p:cNvSpPr/>
          <p:nvPr/>
        </p:nvSpPr>
        <p:spPr>
          <a:xfrm>
            <a:off x="11809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P1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13" name="Text 11"/>
          <p:cNvSpPr/>
          <p:nvPr/>
        </p:nvSpPr>
        <p:spPr>
          <a:xfrm>
            <a:off x="118095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Hotel CRUD</a:t>
            </a:r>
            <a:endParaRPr lang="en-US" sz="2100" dirty="0"/>
          </a:p>
        </p:txBody>
      </p:sp>
      <p:sp>
        <p:nvSpPr>
          <p:cNvPr id="14" name="Text 12"/>
          <p:cNvSpPr/>
          <p:nvPr/>
        </p:nvSpPr>
        <p:spPr>
          <a:xfrm>
            <a:off x="1180951" y="7803617"/>
            <a:ext cx="3735750" cy="723826"/>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Hotel · Type · Group Rule · Tag</a:t>
            </a:r>
            <a:endParaRPr lang="en-US" sz="1800" dirty="0"/>
          </a:p>
        </p:txBody>
      </p:sp>
      <p:sp>
        <p:nvSpPr>
          <p:cNvPr id="15" name="Text 13"/>
          <p:cNvSpPr/>
          <p:nvPr/>
        </p:nvSpPr>
        <p:spPr>
          <a:xfrm>
            <a:off x="11809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5 MODULES</a:t>
            </a:r>
            <a:endParaRPr lang="en-US" sz="1800" dirty="0"/>
          </a:p>
        </p:txBody>
      </p:sp>
      <p:sp>
        <p:nvSpPr>
          <p:cNvPr id="16" name="Shape 14"/>
          <p:cNvSpPr/>
          <p:nvPr/>
        </p:nvSpPr>
        <p:spPr>
          <a:xfrm>
            <a:off x="9132094" y="4737571"/>
            <a:ext cx="11906" cy="4585022"/>
          </a:xfrm>
          <a:prstGeom prst="rect">
            <a:avLst/>
          </a:prstGeom>
          <a:solidFill>
            <a:srgbClr val="D8D1C0"/>
          </a:solidFill>
          <a:ln/>
        </p:spPr>
      </p:sp>
      <p:sp>
        <p:nvSpPr>
          <p:cNvPr id="17" name="Text 15"/>
          <p:cNvSpPr/>
          <p:nvPr/>
        </p:nvSpPr>
        <p:spPr>
          <a:xfrm>
            <a:off x="527670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P2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3 – </a:t>
            </a:r>
            <a:r>
              <a:rPr lang="en-US" kern="0" spc="144" dirty="0">
                <a:solidFill>
                  <a:srgbClr val="A8854A"/>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527670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Inventory CRUD</a:t>
            </a:r>
            <a:endParaRPr lang="en-US" sz="2100" dirty="0"/>
          </a:p>
        </p:txBody>
      </p:sp>
      <p:sp>
        <p:nvSpPr>
          <p:cNvPr id="19" name="Text 17"/>
          <p:cNvSpPr/>
          <p:nvPr/>
        </p:nvSpPr>
        <p:spPr>
          <a:xfrm>
            <a:off x="5276701" y="7803617"/>
            <a:ext cx="373575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Room Type · Availability Rate Plan · Provider</a:t>
            </a:r>
            <a:endParaRPr lang="en-US" sz="1800" dirty="0"/>
          </a:p>
        </p:txBody>
      </p:sp>
      <p:sp>
        <p:nvSpPr>
          <p:cNvPr id="20" name="Text 18"/>
          <p:cNvSpPr/>
          <p:nvPr/>
        </p:nvSpPr>
        <p:spPr>
          <a:xfrm>
            <a:off x="527670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4 MODULES</a:t>
            </a:r>
            <a:endParaRPr lang="en-US" sz="1800" dirty="0"/>
          </a:p>
        </p:txBody>
      </p:sp>
      <p:sp>
        <p:nvSpPr>
          <p:cNvPr id="21" name="Shape 19"/>
          <p:cNvSpPr/>
          <p:nvPr/>
        </p:nvSpPr>
        <p:spPr>
          <a:xfrm>
            <a:off x="13227844" y="4737571"/>
            <a:ext cx="11906" cy="4585022"/>
          </a:xfrm>
          <a:prstGeom prst="rect">
            <a:avLst/>
          </a:prstGeom>
          <a:solidFill>
            <a:srgbClr val="D8D1C0"/>
          </a:solidFill>
          <a:ln/>
        </p:spPr>
      </p:sp>
      <p:sp>
        <p:nvSpPr>
          <p:cNvPr id="22" name="Text 20"/>
          <p:cNvSpPr/>
          <p:nvPr/>
        </p:nvSpPr>
        <p:spPr>
          <a:xfrm>
            <a:off x="93724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P3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23" name="Text 21"/>
          <p:cNvSpPr/>
          <p:nvPr/>
        </p:nvSpPr>
        <p:spPr>
          <a:xfrm>
            <a:off x="937245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Facility &amp; Geo CRUD</a:t>
            </a:r>
            <a:endParaRPr lang="en-US" sz="2100" dirty="0"/>
          </a:p>
        </p:txBody>
      </p:sp>
      <p:sp>
        <p:nvSpPr>
          <p:cNvPr id="24" name="Text 22"/>
          <p:cNvSpPr/>
          <p:nvPr/>
        </p:nvSpPr>
        <p:spPr>
          <a:xfrm>
            <a:off x="9372451" y="7803617"/>
            <a:ext cx="373575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Facility · Group · Pivot · Tag Location · Landmark · Category</a:t>
            </a:r>
            <a:endParaRPr lang="en-US" sz="1800" dirty="0"/>
          </a:p>
        </p:txBody>
      </p:sp>
      <p:sp>
        <p:nvSpPr>
          <p:cNvPr id="25" name="Text 23"/>
          <p:cNvSpPr/>
          <p:nvPr/>
        </p:nvSpPr>
        <p:spPr>
          <a:xfrm>
            <a:off x="93724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7 MODULES</a:t>
            </a:r>
            <a:endParaRPr lang="en-US" sz="1800" dirty="0"/>
          </a:p>
        </p:txBody>
      </p:sp>
      <p:sp>
        <p:nvSpPr>
          <p:cNvPr id="26" name="Text 24"/>
          <p:cNvSpPr/>
          <p:nvPr/>
        </p:nvSpPr>
        <p:spPr>
          <a:xfrm>
            <a:off x="13468201" y="5042297"/>
            <a:ext cx="374801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P4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27" name="Text 25"/>
          <p:cNvSpPr/>
          <p:nvPr/>
        </p:nvSpPr>
        <p:spPr>
          <a:xfrm>
            <a:off x="13468201" y="5456597"/>
            <a:ext cx="3748013"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Marketing &amp; System CRUD</a:t>
            </a:r>
            <a:endParaRPr lang="en-US" sz="2100" dirty="0"/>
          </a:p>
        </p:txBody>
      </p:sp>
      <p:sp>
        <p:nvSpPr>
          <p:cNvPr id="28" name="Text 26"/>
          <p:cNvSpPr/>
          <p:nvPr/>
        </p:nvSpPr>
        <p:spPr>
          <a:xfrm>
            <a:off x="13468201" y="7460754"/>
            <a:ext cx="3748013"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Banner · Promotion · QA User · Member · Comment Setting</a:t>
            </a:r>
            <a:endParaRPr lang="en-US" sz="1800" dirty="0"/>
          </a:p>
        </p:txBody>
      </p:sp>
      <p:sp>
        <p:nvSpPr>
          <p:cNvPr id="29" name="Text 27"/>
          <p:cNvSpPr/>
          <p:nvPr/>
        </p:nvSpPr>
        <p:spPr>
          <a:xfrm>
            <a:off x="13468201" y="8755931"/>
            <a:ext cx="3748013"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7 MODULES</a:t>
            </a:r>
            <a:endParaRPr lang="en-US" sz="1800" dirty="0"/>
          </a:p>
        </p:txBody>
      </p:sp>
      <p:sp>
        <p:nvSpPr>
          <p:cNvPr id="32" name="Text 1">
            <a:extLst>
              <a:ext uri="{FF2B5EF4-FFF2-40B4-BE49-F238E27FC236}">
                <a16:creationId xmlns:a16="http://schemas.microsoft.com/office/drawing/2014/main" id="{8D57BCAD-FA4E-7EC9-31E4-A82713A7E700}"/>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kern="0" spc="72" dirty="0">
                <a:solidFill>
                  <a:srgbClr val="6B6862"/>
                </a:solidFill>
                <a:latin typeface="Arial" pitchFamily="34" charset="0"/>
                <a:ea typeface="Arial" pitchFamily="34" charset="-122"/>
                <a:cs typeface="Arial" pitchFamily="34" charset="-120"/>
              </a:rPr>
              <a:t>11</a:t>
            </a:r>
            <a:r>
              <a:rPr lang="en-US" sz="1800" kern="0" spc="72" dirty="0">
                <a:solidFill>
                  <a:srgbClr val="6B6862"/>
                </a:solidFill>
                <a:latin typeface="Arial" pitchFamily="34" charset="0"/>
                <a:ea typeface="Arial" pitchFamily="34" charset="-122"/>
                <a:cs typeface="Arial" pitchFamily="34" charset="-120"/>
              </a:rPr>
              <a:t> / 22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3</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THREE</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Frontend component library.</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Thirty-three components grouped by surface. Built bottom-up — each piece testable in isolation before assembly.</a:t>
            </a:r>
            <a:endParaRPr lang="en-US" sz="2700" dirty="0"/>
          </a:p>
        </p:txBody>
      </p:sp>
      <p:sp>
        <p:nvSpPr>
          <p:cNvPr id="12" name="Text 10"/>
          <p:cNvSpPr/>
          <p:nvPr/>
        </p:nvSpPr>
        <p:spPr>
          <a:xfrm>
            <a:off x="1180951" y="5118571"/>
            <a:ext cx="3969330"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13" name="Text 11"/>
          <p:cNvSpPr/>
          <p:nvPr/>
        </p:nvSpPr>
        <p:spPr>
          <a:xfrm>
            <a:off x="1180951" y="4979083"/>
            <a:ext cx="396933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Home &amp; Shared</a:t>
            </a:r>
            <a:endParaRPr lang="en-US" sz="2100" dirty="0"/>
          </a:p>
        </p:txBody>
      </p:sp>
      <p:sp>
        <p:nvSpPr>
          <p:cNvPr id="14" name="Text 12"/>
          <p:cNvSpPr/>
          <p:nvPr/>
        </p:nvSpPr>
        <p:spPr>
          <a:xfrm>
            <a:off x="1180951" y="5438217"/>
            <a:ext cx="3969330" cy="1066688"/>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Header, footer, breadcrumb, hero, banner, hotel/city cards, search inputs.</a:t>
            </a:r>
            <a:endParaRPr lang="en-US" sz="1800" dirty="0"/>
          </a:p>
        </p:txBody>
      </p:sp>
      <p:sp>
        <p:nvSpPr>
          <p:cNvPr id="15" name="Text 13"/>
          <p:cNvSpPr/>
          <p:nvPr/>
        </p:nvSpPr>
        <p:spPr>
          <a:xfrm>
            <a:off x="1180951" y="6733394"/>
            <a:ext cx="396933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12 COMPONENTS</a:t>
            </a:r>
            <a:endParaRPr lang="en-US" sz="1800" dirty="0"/>
          </a:p>
        </p:txBody>
      </p:sp>
      <p:sp>
        <p:nvSpPr>
          <p:cNvPr id="17" name="Text 15"/>
          <p:cNvSpPr/>
          <p:nvPr/>
        </p:nvSpPr>
        <p:spPr>
          <a:xfrm>
            <a:off x="5503478" y="5118571"/>
            <a:ext cx="3969521"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18" name="Text 16"/>
          <p:cNvSpPr/>
          <p:nvPr/>
        </p:nvSpPr>
        <p:spPr>
          <a:xfrm>
            <a:off x="5503478" y="5004842"/>
            <a:ext cx="3969521"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Hotel Detail</a:t>
            </a:r>
            <a:endParaRPr lang="en-US" sz="2100" dirty="0"/>
          </a:p>
        </p:txBody>
      </p:sp>
      <p:sp>
        <p:nvSpPr>
          <p:cNvPr id="19" name="Text 17"/>
          <p:cNvSpPr/>
          <p:nvPr/>
        </p:nvSpPr>
        <p:spPr>
          <a:xfrm>
            <a:off x="5503478" y="5806839"/>
            <a:ext cx="3969521"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Header section, gallery, room cards, reviews, accordions, sidebars.</a:t>
            </a:r>
            <a:endParaRPr lang="en-US" sz="1800" dirty="0"/>
          </a:p>
        </p:txBody>
      </p:sp>
      <p:sp>
        <p:nvSpPr>
          <p:cNvPr id="20" name="Text 18"/>
          <p:cNvSpPr/>
          <p:nvPr/>
        </p:nvSpPr>
        <p:spPr>
          <a:xfrm>
            <a:off x="5503478" y="6759153"/>
            <a:ext cx="3969521"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11 COMPONENTS</a:t>
            </a:r>
            <a:endParaRPr lang="en-US" sz="1800" dirty="0"/>
          </a:p>
        </p:txBody>
      </p:sp>
      <p:sp>
        <p:nvSpPr>
          <p:cNvPr id="22" name="Text 20"/>
          <p:cNvSpPr/>
          <p:nvPr/>
        </p:nvSpPr>
        <p:spPr>
          <a:xfrm>
            <a:off x="1180951" y="8158572"/>
            <a:ext cx="3969330"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23" name="Text 21"/>
          <p:cNvSpPr/>
          <p:nvPr/>
        </p:nvSpPr>
        <p:spPr>
          <a:xfrm>
            <a:off x="1180951" y="7542568"/>
            <a:ext cx="396933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Search Results</a:t>
            </a:r>
            <a:endParaRPr lang="en-US" sz="2100" dirty="0"/>
          </a:p>
        </p:txBody>
      </p:sp>
      <p:sp>
        <p:nvSpPr>
          <p:cNvPr id="24" name="Text 22"/>
          <p:cNvSpPr/>
          <p:nvPr/>
        </p:nvSpPr>
        <p:spPr>
          <a:xfrm>
            <a:off x="1180951" y="8001703"/>
            <a:ext cx="3969330" cy="72382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6B6862"/>
                </a:solidFill>
                <a:latin typeface="-apple-system" pitchFamily="34" charset="0"/>
                <a:ea typeface="-apple-system" pitchFamily="34" charset="-122"/>
                <a:cs typeface="-apple-system" pitchFamily="34" charset="-120"/>
              </a:rPr>
              <a:t>Filter sidebar, result cards, sort bar, infinite scroll, shimmers.</a:t>
            </a:r>
            <a:endParaRPr lang="en-US" sz="1800" dirty="0"/>
          </a:p>
        </p:txBody>
      </p:sp>
      <p:sp>
        <p:nvSpPr>
          <p:cNvPr id="25" name="Text 23"/>
          <p:cNvSpPr/>
          <p:nvPr/>
        </p:nvSpPr>
        <p:spPr>
          <a:xfrm>
            <a:off x="1180951" y="8954017"/>
            <a:ext cx="396933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10 COMPONENTS</a:t>
            </a:r>
            <a:endParaRPr lang="en-US" sz="1800" dirty="0"/>
          </a:p>
        </p:txBody>
      </p:sp>
      <p:sp>
        <p:nvSpPr>
          <p:cNvPr id="26" name="Text 24"/>
          <p:cNvSpPr/>
          <p:nvPr/>
        </p:nvSpPr>
        <p:spPr>
          <a:xfrm>
            <a:off x="5503478" y="8158572"/>
            <a:ext cx="3981785" cy="300038"/>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30" name="Shape 28"/>
          <p:cNvSpPr/>
          <p:nvPr/>
        </p:nvSpPr>
        <p:spPr>
          <a:xfrm>
            <a:off x="10131103" y="4801939"/>
            <a:ext cx="7204397" cy="461472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1906">
            <a:solidFill>
              <a:srgbClr val="D8D1C0"/>
            </a:solidFill>
            <a:prstDash val="solid"/>
          </a:ln>
        </p:spPr>
      </p:sp>
      <p:sp>
        <p:nvSpPr>
          <p:cNvPr id="36" name="Text 1">
            <a:extLst>
              <a:ext uri="{FF2B5EF4-FFF2-40B4-BE49-F238E27FC236}">
                <a16:creationId xmlns:a16="http://schemas.microsoft.com/office/drawing/2014/main" id="{4EC8522F-6B13-D50B-E9ED-2F63B986D187}"/>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12 / 22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3</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COMPONENT GROUP 1</a:t>
            </a:r>
            <a:endParaRPr lang="en-US" sz="1800" dirty="0"/>
          </a:p>
        </p:txBody>
      </p:sp>
      <p:sp>
        <p:nvSpPr>
          <p:cNvPr id="7" name="Text 5"/>
          <p:cNvSpPr/>
          <p:nvPr/>
        </p:nvSpPr>
        <p:spPr>
          <a:xfrm>
            <a:off x="952500" y="2200052"/>
            <a:ext cx="16874490"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Home &amp; shared.</a:t>
            </a:r>
            <a:endParaRPr lang="en-US" sz="5400" dirty="0"/>
          </a:p>
        </p:txBody>
      </p:sp>
      <p:sp>
        <p:nvSpPr>
          <p:cNvPr id="8" name="Text 6"/>
          <p:cNvSpPr/>
          <p:nvPr/>
        </p:nvSpPr>
        <p:spPr>
          <a:xfrm>
            <a:off x="952500" y="3092834"/>
            <a:ext cx="1275397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Site-wide chrome plus the homepage building blocks. Most ship first — they're reused across pages.</a:t>
            </a:r>
            <a:endParaRPr lang="en-US" sz="1950" dirty="0"/>
          </a:p>
        </p:txBody>
      </p:sp>
      <p:sp>
        <p:nvSpPr>
          <p:cNvPr id="9" name="Shape 7"/>
          <p:cNvSpPr/>
          <p:nvPr/>
        </p:nvSpPr>
        <p:spPr>
          <a:xfrm>
            <a:off x="952500" y="3845161"/>
            <a:ext cx="3995849" cy="1407728"/>
          </a:xfrm>
          <a:prstGeom prst="rect">
            <a:avLst/>
          </a:prstGeom>
          <a:solidFill>
            <a:srgbClr val="FAF7F0"/>
          </a:solidFill>
          <a:ln w="11906">
            <a:solidFill>
              <a:srgbClr val="D8D1C0"/>
            </a:solidFill>
            <a:prstDash val="solid"/>
          </a:ln>
        </p:spPr>
      </p:sp>
      <p:sp>
        <p:nvSpPr>
          <p:cNvPr id="10" name="Text 8"/>
          <p:cNvSpPr/>
          <p:nvPr/>
        </p:nvSpPr>
        <p:spPr>
          <a:xfrm>
            <a:off x="11738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Header</a:t>
            </a:r>
            <a:endParaRPr lang="en-US" sz="1800" dirty="0"/>
          </a:p>
        </p:txBody>
      </p:sp>
      <p:sp>
        <p:nvSpPr>
          <p:cNvPr id="11" name="Text 9"/>
          <p:cNvSpPr/>
          <p:nvPr/>
        </p:nvSpPr>
        <p:spPr>
          <a:xfrm>
            <a:off x="1173882" y="4433218"/>
            <a:ext cx="3659678" cy="655365"/>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Site-wide top bar — logo, nav, account.</a:t>
            </a:r>
            <a:endParaRPr lang="en-US" sz="1800" dirty="0"/>
          </a:p>
        </p:txBody>
      </p:sp>
      <p:sp>
        <p:nvSpPr>
          <p:cNvPr id="12" name="Shape 10"/>
          <p:cNvSpPr/>
          <p:nvPr/>
        </p:nvSpPr>
        <p:spPr>
          <a:xfrm>
            <a:off x="5081550" y="3845161"/>
            <a:ext cx="3995849" cy="1407728"/>
          </a:xfrm>
          <a:prstGeom prst="rect">
            <a:avLst/>
          </a:prstGeom>
          <a:solidFill>
            <a:srgbClr val="FAF7F0"/>
          </a:solidFill>
          <a:ln w="11906">
            <a:solidFill>
              <a:srgbClr val="D8D1C0"/>
            </a:solidFill>
            <a:prstDash val="solid"/>
          </a:ln>
        </p:spPr>
      </p:sp>
      <p:sp>
        <p:nvSpPr>
          <p:cNvPr id="13" name="Text 11"/>
          <p:cNvSpPr/>
          <p:nvPr/>
        </p:nvSpPr>
        <p:spPr>
          <a:xfrm>
            <a:off x="530293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Footer</a:t>
            </a:r>
            <a:endParaRPr lang="en-US" sz="1800" dirty="0"/>
          </a:p>
        </p:txBody>
      </p:sp>
      <p:sp>
        <p:nvSpPr>
          <p:cNvPr id="14" name="Text 12"/>
          <p:cNvSpPr/>
          <p:nvPr/>
        </p:nvSpPr>
        <p:spPr>
          <a:xfrm>
            <a:off x="5302932" y="4433218"/>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Quick links, trust marks, contact info.</a:t>
            </a:r>
            <a:endParaRPr lang="en-US" sz="1800" dirty="0"/>
          </a:p>
        </p:txBody>
      </p:sp>
      <p:sp>
        <p:nvSpPr>
          <p:cNvPr id="15" name="Shape 13"/>
          <p:cNvSpPr/>
          <p:nvPr/>
        </p:nvSpPr>
        <p:spPr>
          <a:xfrm>
            <a:off x="9210601" y="3845161"/>
            <a:ext cx="3995849" cy="1407728"/>
          </a:xfrm>
          <a:prstGeom prst="rect">
            <a:avLst/>
          </a:prstGeom>
          <a:solidFill>
            <a:srgbClr val="FAF7F0"/>
          </a:solidFill>
          <a:ln w="11906">
            <a:solidFill>
              <a:srgbClr val="D8D1C0"/>
            </a:solidFill>
            <a:prstDash val="solid"/>
          </a:ln>
        </p:spPr>
      </p:sp>
      <p:sp>
        <p:nvSpPr>
          <p:cNvPr id="16" name="Text 14"/>
          <p:cNvSpPr/>
          <p:nvPr/>
        </p:nvSpPr>
        <p:spPr>
          <a:xfrm>
            <a:off x="94319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Breadcrumb</a:t>
            </a:r>
            <a:endParaRPr lang="en-US" sz="1800" dirty="0"/>
          </a:p>
        </p:txBody>
      </p:sp>
      <p:sp>
        <p:nvSpPr>
          <p:cNvPr id="17" name="Text 15"/>
          <p:cNvSpPr/>
          <p:nvPr/>
        </p:nvSpPr>
        <p:spPr>
          <a:xfrm>
            <a:off x="9431982"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Hierarchical position indicator.</a:t>
            </a:r>
            <a:endParaRPr lang="en-US" sz="1800" dirty="0"/>
          </a:p>
        </p:txBody>
      </p:sp>
      <p:sp>
        <p:nvSpPr>
          <p:cNvPr id="18" name="Shape 16"/>
          <p:cNvSpPr/>
          <p:nvPr/>
        </p:nvSpPr>
        <p:spPr>
          <a:xfrm>
            <a:off x="13339651" y="3845161"/>
            <a:ext cx="3995849" cy="1407728"/>
          </a:xfrm>
          <a:prstGeom prst="rect">
            <a:avLst/>
          </a:prstGeom>
          <a:solidFill>
            <a:srgbClr val="FAF7F0"/>
          </a:solidFill>
          <a:ln w="11906">
            <a:solidFill>
              <a:srgbClr val="D8D1C0"/>
            </a:solidFill>
            <a:prstDash val="solid"/>
          </a:ln>
        </p:spPr>
      </p:sp>
      <p:sp>
        <p:nvSpPr>
          <p:cNvPr id="19" name="Text 17"/>
          <p:cNvSpPr/>
          <p:nvPr/>
        </p:nvSpPr>
        <p:spPr>
          <a:xfrm>
            <a:off x="13561033"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Tab List</a:t>
            </a:r>
            <a:endParaRPr lang="en-US" sz="1800" dirty="0"/>
          </a:p>
        </p:txBody>
      </p:sp>
      <p:sp>
        <p:nvSpPr>
          <p:cNvPr id="20" name="Text 18"/>
          <p:cNvSpPr/>
          <p:nvPr/>
        </p:nvSpPr>
        <p:spPr>
          <a:xfrm>
            <a:off x="13561033" y="4433218"/>
            <a:ext cx="3659678" cy="65536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Switch between flight / hotel / tour search.</a:t>
            </a:r>
            <a:endParaRPr lang="en-US" sz="1800" dirty="0"/>
          </a:p>
        </p:txBody>
      </p:sp>
      <p:sp>
        <p:nvSpPr>
          <p:cNvPr id="21" name="Shape 19"/>
          <p:cNvSpPr/>
          <p:nvPr/>
        </p:nvSpPr>
        <p:spPr>
          <a:xfrm>
            <a:off x="952500" y="5386090"/>
            <a:ext cx="3995849" cy="1407728"/>
          </a:xfrm>
          <a:prstGeom prst="rect">
            <a:avLst/>
          </a:prstGeom>
          <a:solidFill>
            <a:srgbClr val="FAF7F0"/>
          </a:solidFill>
          <a:ln w="11906">
            <a:solidFill>
              <a:srgbClr val="D8D1C0"/>
            </a:solidFill>
            <a:prstDash val="solid"/>
          </a:ln>
        </p:spPr>
      </p:sp>
      <p:sp>
        <p:nvSpPr>
          <p:cNvPr id="22" name="Text 20"/>
          <p:cNvSpPr/>
          <p:nvPr/>
        </p:nvSpPr>
        <p:spPr>
          <a:xfrm>
            <a:off x="11738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Hero Section</a:t>
            </a:r>
            <a:endParaRPr lang="en-US" sz="1800" dirty="0"/>
          </a:p>
        </p:txBody>
      </p:sp>
      <p:sp>
        <p:nvSpPr>
          <p:cNvPr id="23" name="Text 21"/>
          <p:cNvSpPr/>
          <p:nvPr/>
        </p:nvSpPr>
        <p:spPr>
          <a:xfrm>
            <a:off x="1173882" y="5974147"/>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Large media area; search box overlay.</a:t>
            </a:r>
            <a:endParaRPr lang="en-US" sz="1800" dirty="0"/>
          </a:p>
        </p:txBody>
      </p:sp>
      <p:sp>
        <p:nvSpPr>
          <p:cNvPr id="24" name="Shape 22"/>
          <p:cNvSpPr/>
          <p:nvPr/>
        </p:nvSpPr>
        <p:spPr>
          <a:xfrm>
            <a:off x="5081550" y="5386090"/>
            <a:ext cx="3995849" cy="1407728"/>
          </a:xfrm>
          <a:prstGeom prst="rect">
            <a:avLst/>
          </a:prstGeom>
          <a:solidFill>
            <a:srgbClr val="FAF7F0"/>
          </a:solidFill>
          <a:ln w="11906">
            <a:solidFill>
              <a:srgbClr val="D8D1C0"/>
            </a:solidFill>
            <a:prstDash val="solid"/>
          </a:ln>
        </p:spPr>
      </p:sp>
      <p:sp>
        <p:nvSpPr>
          <p:cNvPr id="25" name="Text 23"/>
          <p:cNvSpPr/>
          <p:nvPr/>
        </p:nvSpPr>
        <p:spPr>
          <a:xfrm>
            <a:off x="530293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Banner</a:t>
            </a:r>
            <a:endParaRPr lang="en-US" sz="1800" dirty="0"/>
          </a:p>
        </p:txBody>
      </p:sp>
      <p:sp>
        <p:nvSpPr>
          <p:cNvPr id="26" name="Text 24"/>
          <p:cNvSpPr/>
          <p:nvPr/>
        </p:nvSpPr>
        <p:spPr>
          <a:xfrm>
            <a:off x="5302932" y="5974147"/>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Static or animated promo placements.</a:t>
            </a:r>
            <a:endParaRPr lang="en-US" sz="1800" dirty="0"/>
          </a:p>
        </p:txBody>
      </p:sp>
      <p:sp>
        <p:nvSpPr>
          <p:cNvPr id="27" name="Shape 25"/>
          <p:cNvSpPr/>
          <p:nvPr/>
        </p:nvSpPr>
        <p:spPr>
          <a:xfrm>
            <a:off x="9210601" y="5386090"/>
            <a:ext cx="3995849" cy="1407728"/>
          </a:xfrm>
          <a:prstGeom prst="rect">
            <a:avLst/>
          </a:prstGeom>
          <a:solidFill>
            <a:srgbClr val="FAF7F0"/>
          </a:solidFill>
          <a:ln w="11906">
            <a:solidFill>
              <a:srgbClr val="D8D1C0"/>
            </a:solidFill>
            <a:prstDash val="solid"/>
          </a:ln>
        </p:spPr>
      </p:sp>
      <p:sp>
        <p:nvSpPr>
          <p:cNvPr id="28" name="Text 26"/>
          <p:cNvSpPr/>
          <p:nvPr/>
        </p:nvSpPr>
        <p:spPr>
          <a:xfrm>
            <a:off x="94319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Select Box</a:t>
            </a:r>
            <a:endParaRPr lang="en-US" sz="1800" dirty="0"/>
          </a:p>
        </p:txBody>
      </p:sp>
      <p:sp>
        <p:nvSpPr>
          <p:cNvPr id="29" name="Text 27"/>
          <p:cNvSpPr/>
          <p:nvPr/>
        </p:nvSpPr>
        <p:spPr>
          <a:xfrm>
            <a:off x="943198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Dropdown for cities, hotels, types.</a:t>
            </a:r>
            <a:endParaRPr lang="en-US" sz="1800" dirty="0"/>
          </a:p>
        </p:txBody>
      </p:sp>
      <p:sp>
        <p:nvSpPr>
          <p:cNvPr id="30" name="Shape 28"/>
          <p:cNvSpPr/>
          <p:nvPr/>
        </p:nvSpPr>
        <p:spPr>
          <a:xfrm>
            <a:off x="13339651" y="5386090"/>
            <a:ext cx="3995849" cy="1407728"/>
          </a:xfrm>
          <a:prstGeom prst="rect">
            <a:avLst/>
          </a:prstGeom>
          <a:solidFill>
            <a:srgbClr val="FAF7F0"/>
          </a:solidFill>
          <a:ln w="11906">
            <a:solidFill>
              <a:srgbClr val="D8D1C0"/>
            </a:solidFill>
            <a:prstDash val="solid"/>
          </a:ln>
        </p:spPr>
      </p:sp>
      <p:sp>
        <p:nvSpPr>
          <p:cNvPr id="31" name="Text 29"/>
          <p:cNvSpPr/>
          <p:nvPr/>
        </p:nvSpPr>
        <p:spPr>
          <a:xfrm>
            <a:off x="13561033"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Date Picker</a:t>
            </a:r>
            <a:endParaRPr lang="en-US" sz="1800" dirty="0"/>
          </a:p>
        </p:txBody>
      </p:sp>
      <p:sp>
        <p:nvSpPr>
          <p:cNvPr id="32" name="Text 30"/>
          <p:cNvSpPr/>
          <p:nvPr/>
        </p:nvSpPr>
        <p:spPr>
          <a:xfrm>
            <a:off x="13561033" y="5974147"/>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Check-in / check-out range selector.</a:t>
            </a:r>
            <a:endParaRPr lang="en-US" sz="1800" dirty="0"/>
          </a:p>
        </p:txBody>
      </p:sp>
      <p:sp>
        <p:nvSpPr>
          <p:cNvPr id="33" name="Shape 31"/>
          <p:cNvSpPr/>
          <p:nvPr/>
        </p:nvSpPr>
        <p:spPr>
          <a:xfrm>
            <a:off x="952500" y="6927019"/>
            <a:ext cx="3995849" cy="1099096"/>
          </a:xfrm>
          <a:prstGeom prst="rect">
            <a:avLst/>
          </a:prstGeom>
          <a:solidFill>
            <a:srgbClr val="FAF7F0"/>
          </a:solidFill>
          <a:ln w="11906">
            <a:solidFill>
              <a:srgbClr val="D8D1C0"/>
            </a:solidFill>
            <a:prstDash val="solid"/>
          </a:ln>
        </p:spPr>
      </p:sp>
      <p:sp>
        <p:nvSpPr>
          <p:cNvPr id="34" name="Text 32"/>
          <p:cNvSpPr/>
          <p:nvPr/>
        </p:nvSpPr>
        <p:spPr>
          <a:xfrm>
            <a:off x="1173882" y="7129425"/>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Guest Selector</a:t>
            </a:r>
            <a:endParaRPr lang="en-US" sz="1800" dirty="0"/>
          </a:p>
        </p:txBody>
      </p:sp>
      <p:sp>
        <p:nvSpPr>
          <p:cNvPr id="35" name="Text 33"/>
          <p:cNvSpPr/>
          <p:nvPr/>
        </p:nvSpPr>
        <p:spPr>
          <a:xfrm>
            <a:off x="1173882" y="7515076"/>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Adults, children, infants, rooms.</a:t>
            </a:r>
            <a:endParaRPr lang="en-US" sz="1800" dirty="0"/>
          </a:p>
        </p:txBody>
      </p:sp>
      <p:sp>
        <p:nvSpPr>
          <p:cNvPr id="36" name="Shape 34"/>
          <p:cNvSpPr/>
          <p:nvPr/>
        </p:nvSpPr>
        <p:spPr>
          <a:xfrm>
            <a:off x="5081550" y="6927019"/>
            <a:ext cx="3995849" cy="1099096"/>
          </a:xfrm>
          <a:prstGeom prst="rect">
            <a:avLst/>
          </a:prstGeom>
          <a:solidFill>
            <a:srgbClr val="FAF7F0"/>
          </a:solidFill>
          <a:ln w="11906">
            <a:solidFill>
              <a:srgbClr val="D8D1C0"/>
            </a:solidFill>
            <a:prstDash val="solid"/>
          </a:ln>
        </p:spPr>
      </p:sp>
      <p:sp>
        <p:nvSpPr>
          <p:cNvPr id="37" name="Text 35"/>
          <p:cNvSpPr/>
          <p:nvPr/>
        </p:nvSpPr>
        <p:spPr>
          <a:xfrm>
            <a:off x="5302932" y="7129425"/>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Card</a:t>
            </a:r>
            <a:endParaRPr lang="en-US" sz="1800" dirty="0"/>
          </a:p>
        </p:txBody>
      </p:sp>
      <p:sp>
        <p:nvSpPr>
          <p:cNvPr id="38" name="Text 36"/>
          <p:cNvSpPr/>
          <p:nvPr/>
        </p:nvSpPr>
        <p:spPr>
          <a:xfrm>
            <a:off x="5302932" y="7515076"/>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Image + summary for grid listings.</a:t>
            </a:r>
            <a:endParaRPr lang="en-US" sz="1800" dirty="0"/>
          </a:p>
        </p:txBody>
      </p:sp>
      <p:sp>
        <p:nvSpPr>
          <p:cNvPr id="39" name="Shape 37"/>
          <p:cNvSpPr/>
          <p:nvPr/>
        </p:nvSpPr>
        <p:spPr>
          <a:xfrm>
            <a:off x="9210601" y="6927019"/>
            <a:ext cx="3995849" cy="1099096"/>
          </a:xfrm>
          <a:prstGeom prst="rect">
            <a:avLst/>
          </a:prstGeom>
          <a:solidFill>
            <a:srgbClr val="FAF7F0"/>
          </a:solidFill>
          <a:ln w="11906">
            <a:solidFill>
              <a:srgbClr val="D8D1C0"/>
            </a:solidFill>
            <a:prstDash val="solid"/>
          </a:ln>
        </p:spPr>
      </p:sp>
      <p:sp>
        <p:nvSpPr>
          <p:cNvPr id="40" name="Text 38"/>
          <p:cNvSpPr/>
          <p:nvPr/>
        </p:nvSpPr>
        <p:spPr>
          <a:xfrm>
            <a:off x="9431982" y="7129425"/>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City Card</a:t>
            </a:r>
            <a:endParaRPr lang="en-US" sz="1800" dirty="0"/>
          </a:p>
        </p:txBody>
      </p:sp>
      <p:sp>
        <p:nvSpPr>
          <p:cNvPr id="41" name="Text 39"/>
          <p:cNvSpPr/>
          <p:nvPr/>
        </p:nvSpPr>
        <p:spPr>
          <a:xfrm>
            <a:off x="9431982" y="7515076"/>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Destination promo card.</a:t>
            </a:r>
            <a:endParaRPr lang="en-US" sz="1800" dirty="0"/>
          </a:p>
        </p:txBody>
      </p:sp>
      <p:sp>
        <p:nvSpPr>
          <p:cNvPr id="42" name="Shape 40"/>
          <p:cNvSpPr/>
          <p:nvPr/>
        </p:nvSpPr>
        <p:spPr>
          <a:xfrm>
            <a:off x="13339651" y="6927019"/>
            <a:ext cx="3995849" cy="1099096"/>
          </a:xfrm>
          <a:prstGeom prst="rect">
            <a:avLst/>
          </a:prstGeom>
          <a:solidFill>
            <a:srgbClr val="FAF7F0"/>
          </a:solidFill>
          <a:ln w="11906">
            <a:solidFill>
              <a:srgbClr val="D8D1C0"/>
            </a:solidFill>
            <a:prstDash val="solid"/>
          </a:ln>
        </p:spPr>
      </p:sp>
      <p:sp>
        <p:nvSpPr>
          <p:cNvPr id="43" name="Text 41"/>
          <p:cNvSpPr/>
          <p:nvPr/>
        </p:nvSpPr>
        <p:spPr>
          <a:xfrm>
            <a:off x="13561033" y="7129425"/>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Quick Links Card</a:t>
            </a:r>
            <a:endParaRPr lang="en-US" sz="1800" dirty="0"/>
          </a:p>
        </p:txBody>
      </p:sp>
      <p:sp>
        <p:nvSpPr>
          <p:cNvPr id="44" name="Text 42"/>
          <p:cNvSpPr/>
          <p:nvPr/>
        </p:nvSpPr>
        <p:spPr>
          <a:xfrm>
            <a:off x="13561033" y="7515076"/>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Phone sales, support shortcuts.</a:t>
            </a:r>
            <a:endParaRPr lang="en-US" sz="1800" dirty="0"/>
          </a:p>
        </p:txBody>
      </p:sp>
      <p:sp>
        <p:nvSpPr>
          <p:cNvPr id="45" name="Shape 43"/>
          <p:cNvSpPr/>
          <p:nvPr/>
        </p:nvSpPr>
        <p:spPr>
          <a:xfrm>
            <a:off x="952500" y="8159316"/>
            <a:ext cx="3995849" cy="1099097"/>
          </a:xfrm>
          <a:prstGeom prst="rect">
            <a:avLst/>
          </a:prstGeom>
          <a:solidFill>
            <a:srgbClr val="FAF7F0"/>
          </a:solidFill>
          <a:ln w="11906">
            <a:solidFill>
              <a:srgbClr val="D8D1C0"/>
            </a:solidFill>
            <a:prstDash val="solid"/>
          </a:ln>
        </p:spPr>
      </p:sp>
      <p:sp>
        <p:nvSpPr>
          <p:cNvPr id="46" name="Text 44"/>
          <p:cNvSpPr/>
          <p:nvPr/>
        </p:nvSpPr>
        <p:spPr>
          <a:xfrm>
            <a:off x="1173882" y="8361722"/>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Section Title</a:t>
            </a:r>
            <a:endParaRPr lang="en-US" sz="1800" dirty="0"/>
          </a:p>
        </p:txBody>
      </p:sp>
      <p:sp>
        <p:nvSpPr>
          <p:cNvPr id="47" name="Text 45"/>
          <p:cNvSpPr/>
          <p:nvPr/>
        </p:nvSpPr>
        <p:spPr>
          <a:xfrm>
            <a:off x="1173882" y="8747373"/>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List and slider section headings.</a:t>
            </a:r>
            <a:endParaRPr lang="en-US" sz="1800" dirty="0"/>
          </a:p>
        </p:txBody>
      </p:sp>
      <p:sp>
        <p:nvSpPr>
          <p:cNvPr id="48" name="Shape 46"/>
          <p:cNvSpPr/>
          <p:nvPr/>
        </p:nvSpPr>
        <p:spPr>
          <a:xfrm>
            <a:off x="5081550" y="8159317"/>
            <a:ext cx="3995849" cy="1099096"/>
          </a:xfrm>
          <a:prstGeom prst="rect">
            <a:avLst/>
          </a:prstGeom>
          <a:solidFill>
            <a:srgbClr val="FAF7F0"/>
          </a:solidFill>
          <a:ln w="11906">
            <a:solidFill>
              <a:srgbClr val="D8D1C0"/>
            </a:solidFill>
            <a:prstDash val="solid"/>
          </a:ln>
        </p:spPr>
      </p:sp>
      <p:sp>
        <p:nvSpPr>
          <p:cNvPr id="49" name="Text 47"/>
          <p:cNvSpPr/>
          <p:nvPr/>
        </p:nvSpPr>
        <p:spPr>
          <a:xfrm>
            <a:off x="5302932" y="8361722"/>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Slider</a:t>
            </a:r>
            <a:endParaRPr lang="en-US" sz="1800" dirty="0"/>
          </a:p>
        </p:txBody>
      </p:sp>
      <p:sp>
        <p:nvSpPr>
          <p:cNvPr id="50" name="Text 48"/>
          <p:cNvSpPr/>
          <p:nvPr/>
        </p:nvSpPr>
        <p:spPr>
          <a:xfrm>
            <a:off x="5302932" y="8747373"/>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Horizontal carousel for promos.</a:t>
            </a:r>
            <a:endParaRPr lang="en-US" sz="1800" dirty="0"/>
          </a:p>
        </p:txBody>
      </p:sp>
      <p:sp>
        <p:nvSpPr>
          <p:cNvPr id="51" name="Shape 49"/>
          <p:cNvSpPr/>
          <p:nvPr/>
        </p:nvSpPr>
        <p:spPr>
          <a:xfrm>
            <a:off x="9210601" y="8159317"/>
            <a:ext cx="3995849" cy="1099096"/>
          </a:xfrm>
          <a:prstGeom prst="rect">
            <a:avLst/>
          </a:prstGeom>
          <a:solidFill>
            <a:srgbClr val="FAF7F0"/>
          </a:solidFill>
          <a:ln w="11906">
            <a:solidFill>
              <a:srgbClr val="D8D1C0"/>
            </a:solidFill>
            <a:prstDash val="solid"/>
          </a:ln>
        </p:spPr>
      </p:sp>
      <p:sp>
        <p:nvSpPr>
          <p:cNvPr id="52" name="Text 50"/>
          <p:cNvSpPr/>
          <p:nvPr/>
        </p:nvSpPr>
        <p:spPr>
          <a:xfrm>
            <a:off x="9431982" y="8361722"/>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Article Section</a:t>
            </a:r>
            <a:endParaRPr lang="en-US" sz="1800" dirty="0"/>
          </a:p>
        </p:txBody>
      </p:sp>
      <p:sp>
        <p:nvSpPr>
          <p:cNvPr id="53" name="Text 51"/>
          <p:cNvSpPr/>
          <p:nvPr/>
        </p:nvSpPr>
        <p:spPr>
          <a:xfrm>
            <a:off x="9431982" y="8747373"/>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SEO-oriented long-form block.</a:t>
            </a:r>
            <a:endParaRPr lang="en-US" sz="1800" dirty="0"/>
          </a:p>
        </p:txBody>
      </p:sp>
      <p:sp>
        <p:nvSpPr>
          <p:cNvPr id="59" name="Text 1">
            <a:extLst>
              <a:ext uri="{FF2B5EF4-FFF2-40B4-BE49-F238E27FC236}">
                <a16:creationId xmlns:a16="http://schemas.microsoft.com/office/drawing/2014/main" id="{823A53E7-F6C1-5DE1-FB51-A6297C96ADA6}"/>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13 / 22</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3</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COMPONENT GROUP 2</a:t>
            </a:r>
            <a:endParaRPr lang="en-US" sz="1800" dirty="0"/>
          </a:p>
        </p:txBody>
      </p:sp>
      <p:sp>
        <p:nvSpPr>
          <p:cNvPr id="7" name="Text 5"/>
          <p:cNvSpPr/>
          <p:nvPr/>
        </p:nvSpPr>
        <p:spPr>
          <a:xfrm>
            <a:off x="952500" y="2200052"/>
            <a:ext cx="16874490"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Hotel detail page.</a:t>
            </a:r>
            <a:endParaRPr lang="en-US" sz="5400" dirty="0"/>
          </a:p>
        </p:txBody>
      </p:sp>
      <p:sp>
        <p:nvSpPr>
          <p:cNvPr id="8" name="Text 6"/>
          <p:cNvSpPr/>
          <p:nvPr/>
        </p:nvSpPr>
        <p:spPr>
          <a:xfrm>
            <a:off x="952500" y="3092834"/>
            <a:ext cx="1275397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Single-hotel surface — the core conversion page. Reuses search widgets inside the booking sidebar.</a:t>
            </a:r>
            <a:endParaRPr lang="en-US" sz="1950" dirty="0"/>
          </a:p>
        </p:txBody>
      </p:sp>
      <p:sp>
        <p:nvSpPr>
          <p:cNvPr id="9" name="Shape 7"/>
          <p:cNvSpPr/>
          <p:nvPr/>
        </p:nvSpPr>
        <p:spPr>
          <a:xfrm>
            <a:off x="952500" y="3845161"/>
            <a:ext cx="3995849" cy="1407728"/>
          </a:xfrm>
          <a:prstGeom prst="rect">
            <a:avLst/>
          </a:prstGeom>
          <a:solidFill>
            <a:srgbClr val="FAF7F0"/>
          </a:solidFill>
          <a:ln w="11906">
            <a:solidFill>
              <a:srgbClr val="D8D1C0"/>
            </a:solidFill>
            <a:prstDash val="solid"/>
          </a:ln>
        </p:spPr>
      </p:sp>
      <p:sp>
        <p:nvSpPr>
          <p:cNvPr id="10" name="Text 8"/>
          <p:cNvSpPr/>
          <p:nvPr/>
        </p:nvSpPr>
        <p:spPr>
          <a:xfrm>
            <a:off x="11738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Header</a:t>
            </a:r>
            <a:endParaRPr lang="en-US" sz="1800" dirty="0"/>
          </a:p>
        </p:txBody>
      </p:sp>
      <p:sp>
        <p:nvSpPr>
          <p:cNvPr id="11" name="Text 9"/>
          <p:cNvSpPr/>
          <p:nvPr/>
        </p:nvSpPr>
        <p:spPr>
          <a:xfrm>
            <a:off x="1173882" y="4433218"/>
            <a:ext cx="3659678" cy="65536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Name, stars, address, share buttons.</a:t>
            </a:r>
            <a:endParaRPr lang="en-US" sz="1800" dirty="0"/>
          </a:p>
        </p:txBody>
      </p:sp>
      <p:sp>
        <p:nvSpPr>
          <p:cNvPr id="12" name="Shape 10"/>
          <p:cNvSpPr/>
          <p:nvPr/>
        </p:nvSpPr>
        <p:spPr>
          <a:xfrm>
            <a:off x="5081550" y="3845161"/>
            <a:ext cx="3995849" cy="1407728"/>
          </a:xfrm>
          <a:prstGeom prst="rect">
            <a:avLst/>
          </a:prstGeom>
          <a:solidFill>
            <a:srgbClr val="FAF7F0"/>
          </a:solidFill>
          <a:ln w="11906">
            <a:solidFill>
              <a:srgbClr val="D8D1C0"/>
            </a:solidFill>
            <a:prstDash val="solid"/>
          </a:ln>
        </p:spPr>
      </p:sp>
      <p:sp>
        <p:nvSpPr>
          <p:cNvPr id="13" name="Text 11"/>
          <p:cNvSpPr/>
          <p:nvPr/>
        </p:nvSpPr>
        <p:spPr>
          <a:xfrm>
            <a:off x="530293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Sticky Page Nav</a:t>
            </a:r>
            <a:endParaRPr lang="en-US" sz="1800" dirty="0"/>
          </a:p>
        </p:txBody>
      </p:sp>
      <p:sp>
        <p:nvSpPr>
          <p:cNvPr id="14" name="Text 12"/>
          <p:cNvSpPr/>
          <p:nvPr/>
        </p:nvSpPr>
        <p:spPr>
          <a:xfrm>
            <a:off x="5302932"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In-page nav — sticks on scroll.</a:t>
            </a:r>
            <a:endParaRPr lang="en-US" sz="1800" dirty="0"/>
          </a:p>
        </p:txBody>
      </p:sp>
      <p:sp>
        <p:nvSpPr>
          <p:cNvPr id="15" name="Shape 13"/>
          <p:cNvSpPr/>
          <p:nvPr/>
        </p:nvSpPr>
        <p:spPr>
          <a:xfrm>
            <a:off x="9210601" y="3845161"/>
            <a:ext cx="3995849" cy="1407728"/>
          </a:xfrm>
          <a:prstGeom prst="rect">
            <a:avLst/>
          </a:prstGeom>
          <a:solidFill>
            <a:srgbClr val="FAF7F0"/>
          </a:solidFill>
          <a:ln w="11906">
            <a:solidFill>
              <a:srgbClr val="D8D1C0"/>
            </a:solidFill>
            <a:prstDash val="solid"/>
          </a:ln>
        </p:spPr>
      </p:sp>
      <p:sp>
        <p:nvSpPr>
          <p:cNvPr id="16" name="Text 14"/>
          <p:cNvSpPr/>
          <p:nvPr/>
        </p:nvSpPr>
        <p:spPr>
          <a:xfrm>
            <a:off x="94319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Image Gallery</a:t>
            </a:r>
            <a:endParaRPr lang="en-US" sz="1800" dirty="0"/>
          </a:p>
        </p:txBody>
      </p:sp>
      <p:sp>
        <p:nvSpPr>
          <p:cNvPr id="17" name="Text 15"/>
          <p:cNvSpPr/>
          <p:nvPr/>
        </p:nvSpPr>
        <p:spPr>
          <a:xfrm>
            <a:off x="9431982"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Grid or carousel of hotel photos.</a:t>
            </a:r>
            <a:endParaRPr lang="en-US" sz="1800" dirty="0"/>
          </a:p>
        </p:txBody>
      </p:sp>
      <p:sp>
        <p:nvSpPr>
          <p:cNvPr id="18" name="Shape 16"/>
          <p:cNvSpPr/>
          <p:nvPr/>
        </p:nvSpPr>
        <p:spPr>
          <a:xfrm>
            <a:off x="13339651" y="3845161"/>
            <a:ext cx="3995849" cy="1407728"/>
          </a:xfrm>
          <a:prstGeom prst="rect">
            <a:avLst/>
          </a:prstGeom>
          <a:solidFill>
            <a:srgbClr val="FAF7F0"/>
          </a:solidFill>
          <a:ln w="11906">
            <a:solidFill>
              <a:srgbClr val="D8D1C0"/>
            </a:solidFill>
            <a:prstDash val="solid"/>
          </a:ln>
        </p:spPr>
      </p:sp>
      <p:sp>
        <p:nvSpPr>
          <p:cNvPr id="19" name="Text 17"/>
          <p:cNvSpPr/>
          <p:nvPr/>
        </p:nvSpPr>
        <p:spPr>
          <a:xfrm>
            <a:off x="13561033"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Room Card</a:t>
            </a:r>
            <a:endParaRPr lang="en-US" sz="1800" dirty="0"/>
          </a:p>
        </p:txBody>
      </p:sp>
      <p:sp>
        <p:nvSpPr>
          <p:cNvPr id="20" name="Text 18"/>
          <p:cNvSpPr/>
          <p:nvPr/>
        </p:nvSpPr>
        <p:spPr>
          <a:xfrm>
            <a:off x="13561033"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Per-room details, capacity, price.</a:t>
            </a:r>
            <a:endParaRPr lang="en-US" sz="1800" dirty="0"/>
          </a:p>
        </p:txBody>
      </p:sp>
      <p:sp>
        <p:nvSpPr>
          <p:cNvPr id="21" name="Shape 19"/>
          <p:cNvSpPr/>
          <p:nvPr/>
        </p:nvSpPr>
        <p:spPr>
          <a:xfrm>
            <a:off x="952500" y="5386090"/>
            <a:ext cx="3995849" cy="1099096"/>
          </a:xfrm>
          <a:prstGeom prst="rect">
            <a:avLst/>
          </a:prstGeom>
          <a:solidFill>
            <a:srgbClr val="FAF7F0"/>
          </a:solidFill>
          <a:ln w="11906">
            <a:solidFill>
              <a:srgbClr val="D8D1C0"/>
            </a:solidFill>
            <a:prstDash val="solid"/>
          </a:ln>
        </p:spPr>
      </p:sp>
      <p:sp>
        <p:nvSpPr>
          <p:cNvPr id="22" name="Text 20"/>
          <p:cNvSpPr/>
          <p:nvPr/>
        </p:nvSpPr>
        <p:spPr>
          <a:xfrm>
            <a:off x="11738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Facility Item</a:t>
            </a:r>
            <a:endParaRPr lang="en-US" sz="1800" dirty="0"/>
          </a:p>
        </p:txBody>
      </p:sp>
      <p:sp>
        <p:nvSpPr>
          <p:cNvPr id="23" name="Text 21"/>
          <p:cNvSpPr/>
          <p:nvPr/>
        </p:nvSpPr>
        <p:spPr>
          <a:xfrm>
            <a:off x="117388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Single amenity row with icon.</a:t>
            </a:r>
            <a:endParaRPr lang="en-US" sz="1800" dirty="0"/>
          </a:p>
        </p:txBody>
      </p:sp>
      <p:sp>
        <p:nvSpPr>
          <p:cNvPr id="24" name="Shape 22"/>
          <p:cNvSpPr/>
          <p:nvPr/>
        </p:nvSpPr>
        <p:spPr>
          <a:xfrm>
            <a:off x="5081550" y="5386090"/>
            <a:ext cx="3995849" cy="1099096"/>
          </a:xfrm>
          <a:prstGeom prst="rect">
            <a:avLst/>
          </a:prstGeom>
          <a:solidFill>
            <a:srgbClr val="FAF7F0"/>
          </a:solidFill>
          <a:ln w="11906">
            <a:solidFill>
              <a:srgbClr val="D8D1C0"/>
            </a:solidFill>
            <a:prstDash val="solid"/>
          </a:ln>
        </p:spPr>
      </p:sp>
      <p:sp>
        <p:nvSpPr>
          <p:cNvPr id="25" name="Text 23"/>
          <p:cNvSpPr/>
          <p:nvPr/>
        </p:nvSpPr>
        <p:spPr>
          <a:xfrm>
            <a:off x="530293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Quick Info Sidebar</a:t>
            </a:r>
            <a:endParaRPr lang="en-US" sz="1800" dirty="0"/>
          </a:p>
        </p:txBody>
      </p:sp>
      <p:sp>
        <p:nvSpPr>
          <p:cNvPr id="26" name="Text 24"/>
          <p:cNvSpPr/>
          <p:nvPr/>
        </p:nvSpPr>
        <p:spPr>
          <a:xfrm>
            <a:off x="530293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Summary stats, map, key features.</a:t>
            </a:r>
            <a:endParaRPr lang="en-US" sz="1800" dirty="0"/>
          </a:p>
        </p:txBody>
      </p:sp>
      <p:sp>
        <p:nvSpPr>
          <p:cNvPr id="27" name="Shape 25"/>
          <p:cNvSpPr/>
          <p:nvPr/>
        </p:nvSpPr>
        <p:spPr>
          <a:xfrm>
            <a:off x="9210601" y="5386090"/>
            <a:ext cx="3995849" cy="1099096"/>
          </a:xfrm>
          <a:prstGeom prst="rect">
            <a:avLst/>
          </a:prstGeom>
          <a:solidFill>
            <a:srgbClr val="FAF7F0"/>
          </a:solidFill>
          <a:ln w="11906">
            <a:solidFill>
              <a:srgbClr val="D8D1C0"/>
            </a:solidFill>
            <a:prstDash val="solid"/>
          </a:ln>
        </p:spPr>
      </p:sp>
      <p:sp>
        <p:nvSpPr>
          <p:cNvPr id="28" name="Text 26"/>
          <p:cNvSpPr/>
          <p:nvPr/>
        </p:nvSpPr>
        <p:spPr>
          <a:xfrm>
            <a:off x="94319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Booking Widget Sidebar</a:t>
            </a:r>
            <a:endParaRPr lang="en-US" sz="1800" dirty="0"/>
          </a:p>
        </p:txBody>
      </p:sp>
      <p:sp>
        <p:nvSpPr>
          <p:cNvPr id="29" name="Text 27"/>
          <p:cNvSpPr/>
          <p:nvPr/>
        </p:nvSpPr>
        <p:spPr>
          <a:xfrm>
            <a:off x="943198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Date picker + check rooms button.</a:t>
            </a:r>
            <a:endParaRPr lang="en-US" sz="1800" dirty="0"/>
          </a:p>
        </p:txBody>
      </p:sp>
      <p:sp>
        <p:nvSpPr>
          <p:cNvPr id="30" name="Shape 28"/>
          <p:cNvSpPr/>
          <p:nvPr/>
        </p:nvSpPr>
        <p:spPr>
          <a:xfrm>
            <a:off x="13339651" y="5386090"/>
            <a:ext cx="3995849" cy="1099096"/>
          </a:xfrm>
          <a:prstGeom prst="rect">
            <a:avLst/>
          </a:prstGeom>
          <a:solidFill>
            <a:srgbClr val="FAF7F0"/>
          </a:solidFill>
          <a:ln w="11906">
            <a:solidFill>
              <a:srgbClr val="D8D1C0"/>
            </a:solidFill>
            <a:prstDash val="solid"/>
          </a:ln>
        </p:spPr>
      </p:sp>
      <p:sp>
        <p:nvSpPr>
          <p:cNvPr id="31" name="Text 29"/>
          <p:cNvSpPr/>
          <p:nvPr/>
        </p:nvSpPr>
        <p:spPr>
          <a:xfrm>
            <a:off x="13561033"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Rating Bar</a:t>
            </a:r>
            <a:endParaRPr lang="en-US" sz="1800" dirty="0"/>
          </a:p>
        </p:txBody>
      </p:sp>
      <p:sp>
        <p:nvSpPr>
          <p:cNvPr id="32" name="Text 30"/>
          <p:cNvSpPr/>
          <p:nvPr/>
        </p:nvSpPr>
        <p:spPr>
          <a:xfrm>
            <a:off x="13561033"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Per-criterion review bars.</a:t>
            </a:r>
            <a:endParaRPr lang="en-US" sz="1800" dirty="0"/>
          </a:p>
        </p:txBody>
      </p:sp>
      <p:sp>
        <p:nvSpPr>
          <p:cNvPr id="33" name="Shape 31"/>
          <p:cNvSpPr/>
          <p:nvPr/>
        </p:nvSpPr>
        <p:spPr>
          <a:xfrm>
            <a:off x="952500" y="6618387"/>
            <a:ext cx="3995849" cy="2024993"/>
          </a:xfrm>
          <a:prstGeom prst="rect">
            <a:avLst/>
          </a:prstGeom>
          <a:solidFill>
            <a:srgbClr val="FAF7F0"/>
          </a:solidFill>
          <a:ln w="11906">
            <a:solidFill>
              <a:srgbClr val="D8D1C0"/>
            </a:solidFill>
            <a:prstDash val="solid"/>
          </a:ln>
        </p:spPr>
      </p:sp>
      <p:sp>
        <p:nvSpPr>
          <p:cNvPr id="34" name="Text 32"/>
          <p:cNvSpPr/>
          <p:nvPr/>
        </p:nvSpPr>
        <p:spPr>
          <a:xfrm>
            <a:off x="1173882" y="6820793"/>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Reviews Section</a:t>
            </a:r>
            <a:endParaRPr lang="en-US" sz="1800" dirty="0"/>
          </a:p>
        </p:txBody>
      </p:sp>
      <p:sp>
        <p:nvSpPr>
          <p:cNvPr id="35" name="Text 33"/>
          <p:cNvSpPr/>
          <p:nvPr/>
        </p:nvSpPr>
        <p:spPr>
          <a:xfrm>
            <a:off x="1173882" y="7206444"/>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Aggregate score, tags, rating bars.</a:t>
            </a:r>
            <a:endParaRPr lang="en-US" sz="1800" dirty="0"/>
          </a:p>
        </p:txBody>
      </p:sp>
      <p:sp>
        <p:nvSpPr>
          <p:cNvPr id="36" name="Shape 34"/>
          <p:cNvSpPr/>
          <p:nvPr/>
        </p:nvSpPr>
        <p:spPr>
          <a:xfrm>
            <a:off x="5081550" y="6618387"/>
            <a:ext cx="3995849" cy="2024993"/>
          </a:xfrm>
          <a:prstGeom prst="rect">
            <a:avLst/>
          </a:prstGeom>
          <a:solidFill>
            <a:srgbClr val="FAF7F0"/>
          </a:solidFill>
          <a:ln w="11906">
            <a:solidFill>
              <a:srgbClr val="D8D1C0"/>
            </a:solidFill>
            <a:prstDash val="solid"/>
          </a:ln>
        </p:spPr>
      </p:sp>
      <p:sp>
        <p:nvSpPr>
          <p:cNvPr id="37" name="Text 35"/>
          <p:cNvSpPr/>
          <p:nvPr/>
        </p:nvSpPr>
        <p:spPr>
          <a:xfrm>
            <a:off x="5302932" y="6820793"/>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Accordion Item</a:t>
            </a:r>
            <a:endParaRPr lang="en-US" sz="1800" dirty="0"/>
          </a:p>
        </p:txBody>
      </p:sp>
      <p:sp>
        <p:nvSpPr>
          <p:cNvPr id="38" name="Text 36"/>
          <p:cNvSpPr/>
          <p:nvPr/>
        </p:nvSpPr>
        <p:spPr>
          <a:xfrm>
            <a:off x="5302932" y="7206444"/>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Collapsible content block.</a:t>
            </a:r>
            <a:endParaRPr lang="en-US" sz="1800" dirty="0"/>
          </a:p>
        </p:txBody>
      </p:sp>
      <p:sp>
        <p:nvSpPr>
          <p:cNvPr id="39" name="Shape 37"/>
          <p:cNvSpPr/>
          <p:nvPr/>
        </p:nvSpPr>
        <p:spPr>
          <a:xfrm>
            <a:off x="9210601" y="6618387"/>
            <a:ext cx="3995849" cy="2024993"/>
          </a:xfrm>
          <a:prstGeom prst="rect">
            <a:avLst/>
          </a:prstGeom>
          <a:solidFill>
            <a:srgbClr val="FAF7F0"/>
          </a:solidFill>
          <a:ln w="11906">
            <a:solidFill>
              <a:srgbClr val="D8D1C0"/>
            </a:solidFill>
            <a:prstDash val="solid"/>
          </a:ln>
        </p:spPr>
      </p:sp>
      <p:sp>
        <p:nvSpPr>
          <p:cNvPr id="40" name="Text 38"/>
          <p:cNvSpPr/>
          <p:nvPr/>
        </p:nvSpPr>
        <p:spPr>
          <a:xfrm>
            <a:off x="9431982" y="6820793"/>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Policies Section</a:t>
            </a:r>
            <a:endParaRPr lang="en-US" sz="1800" dirty="0"/>
          </a:p>
        </p:txBody>
      </p:sp>
      <p:sp>
        <p:nvSpPr>
          <p:cNvPr id="41" name="Text 39"/>
          <p:cNvSpPr/>
          <p:nvPr/>
        </p:nvSpPr>
        <p:spPr>
          <a:xfrm>
            <a:off x="9431982" y="7206444"/>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Rules, check-in times, cancellation.</a:t>
            </a:r>
            <a:endParaRPr lang="en-US" sz="1800" dirty="0"/>
          </a:p>
        </p:txBody>
      </p:sp>
      <p:sp>
        <p:nvSpPr>
          <p:cNvPr id="47" name="Text 1">
            <a:extLst>
              <a:ext uri="{FF2B5EF4-FFF2-40B4-BE49-F238E27FC236}">
                <a16:creationId xmlns:a16="http://schemas.microsoft.com/office/drawing/2014/main" id="{5FA14B79-F266-F169-28BD-95473157A138}"/>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14 / 22</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a:effectLst/>
      </p:bgPr>
    </p:bg>
    <p:spTree>
      <p:nvGrpSpPr>
        <p:cNvPr id="1" name=""/>
        <p:cNvGrpSpPr/>
        <p:nvPr/>
      </p:nvGrpSpPr>
      <p:grpSpPr>
        <a:xfrm>
          <a:off x="0" y="0"/>
          <a:ext cx="0" cy="0"/>
          <a:chOff x="0" y="0"/>
          <a:chExt cx="0" cy="0"/>
        </a:xfrm>
      </p:grpSpPr>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COMPONENT GROUP 3</a:t>
            </a:r>
            <a:endParaRPr lang="en-US" sz="1800" dirty="0"/>
          </a:p>
        </p:txBody>
      </p:sp>
      <p:sp>
        <p:nvSpPr>
          <p:cNvPr id="7" name="Text 5"/>
          <p:cNvSpPr/>
          <p:nvPr/>
        </p:nvSpPr>
        <p:spPr>
          <a:xfrm>
            <a:off x="952500" y="2200052"/>
            <a:ext cx="16874490" cy="7785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35" dirty="0">
                <a:solidFill>
                  <a:srgbClr val="0F1419"/>
                </a:solidFill>
                <a:latin typeface="-apple-system" pitchFamily="34" charset="0"/>
                <a:ea typeface="-apple-system" pitchFamily="34" charset="-122"/>
                <a:cs typeface="-apple-system" pitchFamily="34" charset="-120"/>
              </a:rPr>
              <a:t>Search results page.</a:t>
            </a:r>
            <a:endParaRPr lang="en-US" sz="5400" dirty="0"/>
          </a:p>
        </p:txBody>
      </p:sp>
      <p:sp>
        <p:nvSpPr>
          <p:cNvPr id="8" name="Text 6"/>
          <p:cNvSpPr/>
          <p:nvPr/>
        </p:nvSpPr>
        <p:spPr>
          <a:xfrm>
            <a:off x="952500" y="3092834"/>
            <a:ext cx="12753975" cy="409426"/>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2A2F36"/>
                </a:solidFill>
                <a:latin typeface="-apple-system" pitchFamily="34" charset="0"/>
                <a:ea typeface="-apple-system" pitchFamily="34" charset="-122"/>
                <a:cs typeface="-apple-system" pitchFamily="34" charset="-120"/>
              </a:rPr>
              <a:t>The result card is the most-viewed surface in the product — it gets the most design and performance attention.</a:t>
            </a:r>
            <a:endParaRPr lang="en-US" sz="1950" dirty="0"/>
          </a:p>
        </p:txBody>
      </p:sp>
      <p:sp>
        <p:nvSpPr>
          <p:cNvPr id="9" name="Shape 7"/>
          <p:cNvSpPr/>
          <p:nvPr/>
        </p:nvSpPr>
        <p:spPr>
          <a:xfrm>
            <a:off x="952500" y="3845161"/>
            <a:ext cx="3995849" cy="1407728"/>
          </a:xfrm>
          <a:prstGeom prst="rect">
            <a:avLst/>
          </a:prstGeom>
          <a:solidFill>
            <a:srgbClr val="FAF7F0"/>
          </a:solidFill>
          <a:ln w="11906">
            <a:solidFill>
              <a:srgbClr val="D8D1C0"/>
            </a:solidFill>
            <a:prstDash val="solid"/>
          </a:ln>
        </p:spPr>
      </p:sp>
      <p:sp>
        <p:nvSpPr>
          <p:cNvPr id="10" name="Text 8"/>
          <p:cNvSpPr/>
          <p:nvPr/>
        </p:nvSpPr>
        <p:spPr>
          <a:xfrm>
            <a:off x="11738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Top Search Widget</a:t>
            </a:r>
            <a:endParaRPr lang="en-US" sz="1800" dirty="0"/>
          </a:p>
        </p:txBody>
      </p:sp>
      <p:sp>
        <p:nvSpPr>
          <p:cNvPr id="11" name="Text 9"/>
          <p:cNvSpPr/>
          <p:nvPr/>
        </p:nvSpPr>
        <p:spPr>
          <a:xfrm>
            <a:off x="1173882" y="4433218"/>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Inline filter changes — no page reload.</a:t>
            </a:r>
            <a:endParaRPr lang="en-US" sz="1800" dirty="0"/>
          </a:p>
        </p:txBody>
      </p:sp>
      <p:sp>
        <p:nvSpPr>
          <p:cNvPr id="12" name="Shape 10"/>
          <p:cNvSpPr/>
          <p:nvPr/>
        </p:nvSpPr>
        <p:spPr>
          <a:xfrm>
            <a:off x="5081550" y="3845161"/>
            <a:ext cx="3995849" cy="1407728"/>
          </a:xfrm>
          <a:prstGeom prst="rect">
            <a:avLst/>
          </a:prstGeom>
          <a:solidFill>
            <a:srgbClr val="FAF7F0"/>
          </a:solidFill>
          <a:ln w="11906">
            <a:solidFill>
              <a:srgbClr val="D8D1C0"/>
            </a:solidFill>
            <a:prstDash val="solid"/>
          </a:ln>
        </p:spPr>
      </p:sp>
      <p:sp>
        <p:nvSpPr>
          <p:cNvPr id="13" name="Text 11"/>
          <p:cNvSpPr/>
          <p:nvPr/>
        </p:nvSpPr>
        <p:spPr>
          <a:xfrm>
            <a:off x="530293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Filter Sidebar</a:t>
            </a:r>
            <a:endParaRPr lang="en-US" sz="1800" dirty="0"/>
          </a:p>
        </p:txBody>
      </p:sp>
      <p:sp>
        <p:nvSpPr>
          <p:cNvPr id="14" name="Text 12"/>
          <p:cNvSpPr/>
          <p:nvPr/>
        </p:nvSpPr>
        <p:spPr>
          <a:xfrm>
            <a:off x="5302932"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Price, stars, amenities, more.</a:t>
            </a:r>
            <a:endParaRPr lang="en-US" sz="1800" dirty="0"/>
          </a:p>
        </p:txBody>
      </p:sp>
      <p:sp>
        <p:nvSpPr>
          <p:cNvPr id="15" name="Shape 13"/>
          <p:cNvSpPr/>
          <p:nvPr/>
        </p:nvSpPr>
        <p:spPr>
          <a:xfrm>
            <a:off x="9210601" y="3845161"/>
            <a:ext cx="3995849" cy="1407728"/>
          </a:xfrm>
          <a:prstGeom prst="rect">
            <a:avLst/>
          </a:prstGeom>
          <a:solidFill>
            <a:srgbClr val="FAF7F0"/>
          </a:solidFill>
          <a:ln w="11906">
            <a:solidFill>
              <a:srgbClr val="D8D1C0"/>
            </a:solidFill>
            <a:prstDash val="solid"/>
          </a:ln>
        </p:spPr>
      </p:sp>
      <p:sp>
        <p:nvSpPr>
          <p:cNvPr id="16" name="Text 14"/>
          <p:cNvSpPr/>
          <p:nvPr/>
        </p:nvSpPr>
        <p:spPr>
          <a:xfrm>
            <a:off x="9431982"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Quick Filter Tags</a:t>
            </a:r>
            <a:endParaRPr lang="en-US" sz="1800" dirty="0"/>
          </a:p>
        </p:txBody>
      </p:sp>
      <p:sp>
        <p:nvSpPr>
          <p:cNvPr id="17" name="Text 15"/>
          <p:cNvSpPr/>
          <p:nvPr/>
        </p:nvSpPr>
        <p:spPr>
          <a:xfrm>
            <a:off x="9431982" y="4433218"/>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Common filters as clickable chips.</a:t>
            </a:r>
            <a:endParaRPr lang="en-US" sz="1800" dirty="0"/>
          </a:p>
        </p:txBody>
      </p:sp>
      <p:sp>
        <p:nvSpPr>
          <p:cNvPr id="18" name="Shape 16"/>
          <p:cNvSpPr/>
          <p:nvPr/>
        </p:nvSpPr>
        <p:spPr>
          <a:xfrm>
            <a:off x="13339651" y="3845161"/>
            <a:ext cx="3995849" cy="1407728"/>
          </a:xfrm>
          <a:prstGeom prst="rect">
            <a:avLst/>
          </a:prstGeom>
          <a:solidFill>
            <a:srgbClr val="FAF7F0"/>
          </a:solidFill>
          <a:ln w="11906">
            <a:solidFill>
              <a:srgbClr val="D8D1C0"/>
            </a:solidFill>
            <a:prstDash val="solid"/>
          </a:ln>
        </p:spPr>
      </p:sp>
      <p:sp>
        <p:nvSpPr>
          <p:cNvPr id="19" name="Text 17"/>
          <p:cNvSpPr/>
          <p:nvPr/>
        </p:nvSpPr>
        <p:spPr>
          <a:xfrm>
            <a:off x="13561033" y="4047567"/>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 Result Card</a:t>
            </a:r>
            <a:endParaRPr lang="en-US" sz="1800" dirty="0"/>
          </a:p>
        </p:txBody>
      </p:sp>
      <p:sp>
        <p:nvSpPr>
          <p:cNvPr id="20" name="Text 18"/>
          <p:cNvSpPr/>
          <p:nvPr/>
        </p:nvSpPr>
        <p:spPr>
          <a:xfrm>
            <a:off x="13561033" y="4433218"/>
            <a:ext cx="3659678" cy="655365"/>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Image, name, address, score, price, CTA.</a:t>
            </a:r>
            <a:endParaRPr lang="en-US" sz="1800" dirty="0"/>
          </a:p>
        </p:txBody>
      </p:sp>
      <p:sp>
        <p:nvSpPr>
          <p:cNvPr id="21" name="Shape 19"/>
          <p:cNvSpPr/>
          <p:nvPr/>
        </p:nvSpPr>
        <p:spPr>
          <a:xfrm>
            <a:off x="952500" y="5386090"/>
            <a:ext cx="3995849" cy="1407728"/>
          </a:xfrm>
          <a:prstGeom prst="rect">
            <a:avLst/>
          </a:prstGeom>
          <a:solidFill>
            <a:srgbClr val="FAF7F0"/>
          </a:solidFill>
          <a:ln w="11906">
            <a:solidFill>
              <a:srgbClr val="D8D1C0"/>
            </a:solidFill>
            <a:prstDash val="solid"/>
          </a:ln>
        </p:spPr>
      </p:sp>
      <p:sp>
        <p:nvSpPr>
          <p:cNvPr id="22" name="Text 20"/>
          <p:cNvSpPr/>
          <p:nvPr/>
        </p:nvSpPr>
        <p:spPr>
          <a:xfrm>
            <a:off x="11738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Sort &amp; Summary Bar</a:t>
            </a:r>
            <a:endParaRPr lang="en-US" sz="1800" dirty="0"/>
          </a:p>
        </p:txBody>
      </p:sp>
      <p:sp>
        <p:nvSpPr>
          <p:cNvPr id="23" name="Text 21"/>
          <p:cNvSpPr/>
          <p:nvPr/>
        </p:nvSpPr>
        <p:spPr>
          <a:xfrm>
            <a:off x="117388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Result count + sort dropdown.</a:t>
            </a:r>
            <a:endParaRPr lang="en-US" sz="1800" dirty="0"/>
          </a:p>
        </p:txBody>
      </p:sp>
      <p:sp>
        <p:nvSpPr>
          <p:cNvPr id="24" name="Shape 22"/>
          <p:cNvSpPr/>
          <p:nvPr/>
        </p:nvSpPr>
        <p:spPr>
          <a:xfrm>
            <a:off x="5081550" y="5386090"/>
            <a:ext cx="3995849" cy="1407728"/>
          </a:xfrm>
          <a:prstGeom prst="rect">
            <a:avLst/>
          </a:prstGeom>
          <a:solidFill>
            <a:srgbClr val="FAF7F0"/>
          </a:solidFill>
          <a:ln w="11906">
            <a:solidFill>
              <a:srgbClr val="D8D1C0"/>
            </a:solidFill>
            <a:prstDash val="solid"/>
          </a:ln>
        </p:spPr>
      </p:sp>
      <p:sp>
        <p:nvSpPr>
          <p:cNvPr id="25" name="Text 23"/>
          <p:cNvSpPr/>
          <p:nvPr/>
        </p:nvSpPr>
        <p:spPr>
          <a:xfrm>
            <a:off x="530293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Infinite Scroll Loader</a:t>
            </a:r>
            <a:endParaRPr lang="en-US" sz="1800" dirty="0"/>
          </a:p>
        </p:txBody>
      </p:sp>
      <p:sp>
        <p:nvSpPr>
          <p:cNvPr id="26" name="Text 24"/>
          <p:cNvSpPr/>
          <p:nvPr/>
        </p:nvSpPr>
        <p:spPr>
          <a:xfrm>
            <a:off x="530293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Auto-load more results on scroll.</a:t>
            </a:r>
            <a:endParaRPr lang="en-US" sz="1800" dirty="0"/>
          </a:p>
        </p:txBody>
      </p:sp>
      <p:sp>
        <p:nvSpPr>
          <p:cNvPr id="27" name="Shape 25"/>
          <p:cNvSpPr/>
          <p:nvPr/>
        </p:nvSpPr>
        <p:spPr>
          <a:xfrm>
            <a:off x="9210601" y="5386090"/>
            <a:ext cx="3995849" cy="1407728"/>
          </a:xfrm>
          <a:prstGeom prst="rect">
            <a:avLst/>
          </a:prstGeom>
          <a:solidFill>
            <a:srgbClr val="FAF7F0"/>
          </a:solidFill>
          <a:ln w="11906">
            <a:solidFill>
              <a:srgbClr val="D8D1C0"/>
            </a:solidFill>
            <a:prstDash val="solid"/>
          </a:ln>
        </p:spPr>
      </p:sp>
      <p:sp>
        <p:nvSpPr>
          <p:cNvPr id="28" name="Text 26"/>
          <p:cNvSpPr/>
          <p:nvPr/>
        </p:nvSpPr>
        <p:spPr>
          <a:xfrm>
            <a:off x="9431982"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Shimmer</a:t>
            </a:r>
            <a:endParaRPr lang="en-US" sz="1800" dirty="0"/>
          </a:p>
        </p:txBody>
      </p:sp>
      <p:sp>
        <p:nvSpPr>
          <p:cNvPr id="29" name="Text 27"/>
          <p:cNvSpPr/>
          <p:nvPr/>
        </p:nvSpPr>
        <p:spPr>
          <a:xfrm>
            <a:off x="9431982" y="5974147"/>
            <a:ext cx="3659678" cy="34673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Skeleton animation while loading.</a:t>
            </a:r>
            <a:endParaRPr lang="en-US" sz="1800" dirty="0"/>
          </a:p>
        </p:txBody>
      </p:sp>
      <p:sp>
        <p:nvSpPr>
          <p:cNvPr id="30" name="Shape 28"/>
          <p:cNvSpPr/>
          <p:nvPr/>
        </p:nvSpPr>
        <p:spPr>
          <a:xfrm>
            <a:off x="13339651" y="5386090"/>
            <a:ext cx="3995849" cy="1407728"/>
          </a:xfrm>
          <a:prstGeom prst="rect">
            <a:avLst/>
          </a:prstGeom>
          <a:solidFill>
            <a:srgbClr val="FAF7F0"/>
          </a:solidFill>
          <a:ln w="11906">
            <a:solidFill>
              <a:srgbClr val="D8D1C0"/>
            </a:solidFill>
            <a:prstDash val="solid"/>
          </a:ln>
        </p:spPr>
      </p:sp>
      <p:sp>
        <p:nvSpPr>
          <p:cNvPr id="31" name="Text 29"/>
          <p:cNvSpPr/>
          <p:nvPr/>
        </p:nvSpPr>
        <p:spPr>
          <a:xfrm>
            <a:off x="13561033" y="5588496"/>
            <a:ext cx="3659678"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SEO Content Block</a:t>
            </a:r>
            <a:endParaRPr lang="en-US" sz="1800" dirty="0"/>
          </a:p>
        </p:txBody>
      </p:sp>
      <p:sp>
        <p:nvSpPr>
          <p:cNvPr id="32" name="Text 30"/>
          <p:cNvSpPr/>
          <p:nvPr/>
        </p:nvSpPr>
        <p:spPr>
          <a:xfrm>
            <a:off x="13561033" y="5974147"/>
            <a:ext cx="3659678" cy="65536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A2F36"/>
                </a:solidFill>
                <a:latin typeface="-apple-system" pitchFamily="34" charset="0"/>
                <a:ea typeface="-apple-system" pitchFamily="34" charset="-122"/>
                <a:cs typeface="-apple-system" pitchFamily="34" charset="-120"/>
              </a:rPr>
              <a:t>Bottom-of-page descriptive content.</a:t>
            </a:r>
            <a:endParaRPr lang="en-US" sz="1800" dirty="0"/>
          </a:p>
        </p:txBody>
      </p:sp>
      <p:sp>
        <p:nvSpPr>
          <p:cNvPr id="35" name="Text 33"/>
          <p:cNvSpPr/>
          <p:nvPr/>
        </p:nvSpPr>
        <p:spPr>
          <a:xfrm>
            <a:off x="1173882" y="7515076"/>
            <a:ext cx="3659678" cy="963997"/>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F5F1EA"/>
                </a:solidFill>
                <a:latin typeface="-apple-system" pitchFamily="34" charset="0"/>
                <a:ea typeface="-apple-system" pitchFamily="34" charset="-122"/>
                <a:cs typeface="-apple-system" pitchFamily="34" charset="-120"/>
              </a:rPr>
              <a:t>Result card render time is the perf budget anchor. Target sub-50ms for 25 cards.</a:t>
            </a:r>
            <a:endParaRPr lang="en-US" sz="1800" dirty="0"/>
          </a:p>
        </p:txBody>
      </p:sp>
      <p:sp>
        <p:nvSpPr>
          <p:cNvPr id="41" name="Text 1">
            <a:extLst>
              <a:ext uri="{FF2B5EF4-FFF2-40B4-BE49-F238E27FC236}">
                <a16:creationId xmlns:a16="http://schemas.microsoft.com/office/drawing/2014/main" id="{423915D2-F0C7-15D0-D5C3-AE1B0D0E74F2}"/>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15 / 22</a:t>
            </a:r>
            <a:endParaRPr lang="en-US" sz="1800" dirty="0"/>
          </a:p>
        </p:txBody>
      </p:sp>
      <p:sp>
        <p:nvSpPr>
          <p:cNvPr id="42" name="Text 0">
            <a:extLst>
              <a:ext uri="{FF2B5EF4-FFF2-40B4-BE49-F238E27FC236}">
                <a16:creationId xmlns:a16="http://schemas.microsoft.com/office/drawing/2014/main" id="{8D2ACB1A-1961-DF13-9BE7-03BD198B0B64}"/>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3</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629458BF-C0B0-DA46-D082-CAB825753C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C658CB-730E-1DC9-C2F6-3985A0D95EB4}"/>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3</a:t>
            </a:r>
            <a:endParaRPr lang="en-US" sz="1800" dirty="0"/>
          </a:p>
        </p:txBody>
      </p:sp>
      <p:sp>
        <p:nvSpPr>
          <p:cNvPr id="4" name="Shape 2">
            <a:extLst>
              <a:ext uri="{FF2B5EF4-FFF2-40B4-BE49-F238E27FC236}">
                <a16:creationId xmlns:a16="http://schemas.microsoft.com/office/drawing/2014/main" id="{71F50A5B-4792-9398-02AE-AE74A6FA846D}"/>
              </a:ext>
            </a:extLst>
          </p:cNvPr>
          <p:cNvSpPr/>
          <p:nvPr/>
        </p:nvSpPr>
        <p:spPr>
          <a:xfrm>
            <a:off x="15111078" y="983382"/>
            <a:ext cx="57113" cy="57113"/>
          </a:xfrm>
          <a:prstGeom prst="ellipse">
            <a:avLst/>
          </a:prstGeom>
          <a:solidFill>
            <a:srgbClr val="C9A86A"/>
          </a:solidFill>
          <a:ln/>
        </p:spPr>
      </p:sp>
      <p:sp>
        <p:nvSpPr>
          <p:cNvPr id="6" name="Text 4">
            <a:extLst>
              <a:ext uri="{FF2B5EF4-FFF2-40B4-BE49-F238E27FC236}">
                <a16:creationId xmlns:a16="http://schemas.microsoft.com/office/drawing/2014/main" id="{B45BC0FB-5A22-184D-2BD4-DE712F8B07E1}"/>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COMPONENT</a:t>
            </a:r>
            <a:endParaRPr lang="en-US" sz="1800" dirty="0"/>
          </a:p>
        </p:txBody>
      </p:sp>
      <p:sp>
        <p:nvSpPr>
          <p:cNvPr id="7" name="Text 5">
            <a:extLst>
              <a:ext uri="{FF2B5EF4-FFF2-40B4-BE49-F238E27FC236}">
                <a16:creationId xmlns:a16="http://schemas.microsoft.com/office/drawing/2014/main" id="{62F70FAF-616F-EEF8-349A-4BFB79E5932B}"/>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rPr>
              <a:t>Frontend Component</a:t>
            </a:r>
            <a:endParaRPr lang="en-US" sz="6600" dirty="0"/>
          </a:p>
        </p:txBody>
      </p:sp>
      <p:sp>
        <p:nvSpPr>
          <p:cNvPr id="8" name="Text 6">
            <a:extLst>
              <a:ext uri="{FF2B5EF4-FFF2-40B4-BE49-F238E27FC236}">
                <a16:creationId xmlns:a16="http://schemas.microsoft.com/office/drawing/2014/main" id="{EFC0AA82-EC6D-7C21-1CCD-DFD37850FF12}"/>
              </a:ext>
            </a:extLst>
          </p:cNvPr>
          <p:cNvSpPr/>
          <p:nvPr/>
        </p:nvSpPr>
        <p:spPr>
          <a:xfrm>
            <a:off x="952500" y="3308635"/>
            <a:ext cx="12753975" cy="998041"/>
          </a:xfrm>
          <a:prstGeom prst="rect">
            <a:avLst/>
          </a:prstGeom>
          <a:noFill/>
          <a:ln/>
        </p:spPr>
        <p:txBody>
          <a:bodyPr wrap="square" lIns="25400" tIns="25400" rIns="25400" bIns="25400" rtlCol="0" anchor="t">
            <a:normAutofit/>
          </a:bodyPr>
          <a:lstStyle/>
          <a:p>
            <a:pPr marL="0" indent="0" algn="l">
              <a:lnSpc>
                <a:spcPct val="140000"/>
              </a:lnSpc>
              <a:buNone/>
            </a:pPr>
            <a:endParaRPr lang="en-US" sz="2700" dirty="0"/>
          </a:p>
        </p:txBody>
      </p:sp>
      <p:sp>
        <p:nvSpPr>
          <p:cNvPr id="9" name="Shape 7">
            <a:extLst>
              <a:ext uri="{FF2B5EF4-FFF2-40B4-BE49-F238E27FC236}">
                <a16:creationId xmlns:a16="http://schemas.microsoft.com/office/drawing/2014/main" id="{3C64E9BD-2652-B6A6-7C67-99F32C3A4EF2}"/>
              </a:ext>
            </a:extLst>
          </p:cNvPr>
          <p:cNvSpPr/>
          <p:nvPr/>
        </p:nvSpPr>
        <p:spPr>
          <a:xfrm>
            <a:off x="952500" y="9322594"/>
            <a:ext cx="16383000" cy="11906"/>
          </a:xfrm>
          <a:prstGeom prst="rect">
            <a:avLst/>
          </a:prstGeom>
          <a:solidFill>
            <a:srgbClr val="D8D1C0"/>
          </a:solidFill>
          <a:ln/>
        </p:spPr>
      </p:sp>
      <p:sp>
        <p:nvSpPr>
          <p:cNvPr id="10" name="Shape 8">
            <a:extLst>
              <a:ext uri="{FF2B5EF4-FFF2-40B4-BE49-F238E27FC236}">
                <a16:creationId xmlns:a16="http://schemas.microsoft.com/office/drawing/2014/main" id="{C12F07C3-B359-9897-F407-DF3606527627}"/>
              </a:ext>
            </a:extLst>
          </p:cNvPr>
          <p:cNvSpPr/>
          <p:nvPr/>
        </p:nvSpPr>
        <p:spPr>
          <a:xfrm>
            <a:off x="952500" y="4725665"/>
            <a:ext cx="16383000" cy="11906"/>
          </a:xfrm>
          <a:prstGeom prst="rect">
            <a:avLst/>
          </a:prstGeom>
          <a:solidFill>
            <a:srgbClr val="D8D1C0"/>
          </a:solidFill>
          <a:ln/>
        </p:spPr>
      </p:sp>
      <p:sp>
        <p:nvSpPr>
          <p:cNvPr id="11" name="Shape 9">
            <a:extLst>
              <a:ext uri="{FF2B5EF4-FFF2-40B4-BE49-F238E27FC236}">
                <a16:creationId xmlns:a16="http://schemas.microsoft.com/office/drawing/2014/main" id="{36E77C4A-5B2F-1107-463E-F14D890CE23C}"/>
              </a:ext>
            </a:extLst>
          </p:cNvPr>
          <p:cNvSpPr/>
          <p:nvPr/>
        </p:nvSpPr>
        <p:spPr>
          <a:xfrm>
            <a:off x="6620447" y="4737571"/>
            <a:ext cx="11906" cy="4585022"/>
          </a:xfrm>
          <a:prstGeom prst="rect">
            <a:avLst/>
          </a:prstGeom>
          <a:solidFill>
            <a:srgbClr val="D8D1C0"/>
          </a:solidFill>
          <a:ln/>
        </p:spPr>
      </p:sp>
      <p:sp>
        <p:nvSpPr>
          <p:cNvPr id="12" name="Text 10">
            <a:extLst>
              <a:ext uri="{FF2B5EF4-FFF2-40B4-BE49-F238E27FC236}">
                <a16:creationId xmlns:a16="http://schemas.microsoft.com/office/drawing/2014/main" id="{67CB73FA-C037-090A-63D2-130CB61B6789}"/>
              </a:ext>
            </a:extLst>
          </p:cNvPr>
          <p:cNvSpPr/>
          <p:nvPr/>
        </p:nvSpPr>
        <p:spPr>
          <a:xfrm>
            <a:off x="11809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G</a:t>
            </a:r>
            <a:r>
              <a:rPr lang="en-US" sz="1800" kern="0" spc="144" dirty="0">
                <a:solidFill>
                  <a:srgbClr val="A8854A"/>
                </a:solidFill>
                <a:latin typeface="Arial" pitchFamily="34" charset="0"/>
                <a:ea typeface="Arial" pitchFamily="34" charset="-122"/>
                <a:cs typeface="Arial" pitchFamily="34" charset="-120"/>
              </a:rPr>
              <a:t>1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13" name="Text 11">
            <a:extLst>
              <a:ext uri="{FF2B5EF4-FFF2-40B4-BE49-F238E27FC236}">
                <a16:creationId xmlns:a16="http://schemas.microsoft.com/office/drawing/2014/main" id="{A40CAC7B-7B1C-51BA-88D9-793363AFF68E}"/>
              </a:ext>
            </a:extLst>
          </p:cNvPr>
          <p:cNvSpPr/>
          <p:nvPr/>
        </p:nvSpPr>
        <p:spPr>
          <a:xfrm>
            <a:off x="1180951"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Home &amp; shared</a:t>
            </a:r>
            <a:endParaRPr lang="en-US" sz="2100" dirty="0"/>
          </a:p>
        </p:txBody>
      </p:sp>
      <p:sp>
        <p:nvSpPr>
          <p:cNvPr id="15" name="Text 13">
            <a:extLst>
              <a:ext uri="{FF2B5EF4-FFF2-40B4-BE49-F238E27FC236}">
                <a16:creationId xmlns:a16="http://schemas.microsoft.com/office/drawing/2014/main" id="{27678AD3-F0C9-00B8-B6A9-21DDA9A50531}"/>
              </a:ext>
            </a:extLst>
          </p:cNvPr>
          <p:cNvSpPr/>
          <p:nvPr/>
        </p:nvSpPr>
        <p:spPr>
          <a:xfrm>
            <a:off x="11809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15 COMPONENT</a:t>
            </a:r>
            <a:endParaRPr lang="en-US" sz="1800" dirty="0"/>
          </a:p>
        </p:txBody>
      </p:sp>
      <p:sp>
        <p:nvSpPr>
          <p:cNvPr id="16" name="Shape 14">
            <a:extLst>
              <a:ext uri="{FF2B5EF4-FFF2-40B4-BE49-F238E27FC236}">
                <a16:creationId xmlns:a16="http://schemas.microsoft.com/office/drawing/2014/main" id="{7A8BAA1B-0D7B-2C56-78CF-8AEE8D5DE15B}"/>
              </a:ext>
            </a:extLst>
          </p:cNvPr>
          <p:cNvSpPr/>
          <p:nvPr/>
        </p:nvSpPr>
        <p:spPr>
          <a:xfrm>
            <a:off x="12094241" y="4737571"/>
            <a:ext cx="11906" cy="4585022"/>
          </a:xfrm>
          <a:prstGeom prst="rect">
            <a:avLst/>
          </a:prstGeom>
          <a:solidFill>
            <a:srgbClr val="D8D1C0"/>
          </a:solidFill>
          <a:ln/>
        </p:spPr>
      </p:sp>
      <p:sp>
        <p:nvSpPr>
          <p:cNvPr id="17" name="Text 15">
            <a:extLst>
              <a:ext uri="{FF2B5EF4-FFF2-40B4-BE49-F238E27FC236}">
                <a16:creationId xmlns:a16="http://schemas.microsoft.com/office/drawing/2014/main" id="{CB5DC58A-AB8E-B2B5-3AA7-227ED0FF5F9E}"/>
              </a:ext>
            </a:extLst>
          </p:cNvPr>
          <p:cNvSpPr/>
          <p:nvPr/>
        </p:nvSpPr>
        <p:spPr>
          <a:xfrm>
            <a:off x="7028227"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G</a:t>
            </a:r>
            <a:r>
              <a:rPr lang="en-US" sz="1800" kern="0" spc="144" dirty="0">
                <a:solidFill>
                  <a:srgbClr val="A8854A"/>
                </a:solidFill>
                <a:latin typeface="Arial" pitchFamily="34" charset="0"/>
                <a:ea typeface="Arial" pitchFamily="34" charset="-122"/>
                <a:cs typeface="Arial" pitchFamily="34" charset="-120"/>
              </a:rPr>
              <a:t>2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3 – </a:t>
            </a:r>
            <a:r>
              <a:rPr lang="en-US" kern="0" spc="144" dirty="0">
                <a:solidFill>
                  <a:srgbClr val="A8854A"/>
                </a:solidFill>
                <a:latin typeface="Arial" pitchFamily="34" charset="0"/>
                <a:ea typeface="Arial" pitchFamily="34" charset="-122"/>
                <a:cs typeface="Arial" pitchFamily="34" charset="-120"/>
              </a:rPr>
              <a:t>4</a:t>
            </a:r>
            <a:endParaRPr lang="en-US" sz="1800" dirty="0"/>
          </a:p>
        </p:txBody>
      </p:sp>
      <p:sp>
        <p:nvSpPr>
          <p:cNvPr id="18" name="Text 16">
            <a:extLst>
              <a:ext uri="{FF2B5EF4-FFF2-40B4-BE49-F238E27FC236}">
                <a16:creationId xmlns:a16="http://schemas.microsoft.com/office/drawing/2014/main" id="{6C17168C-F791-DBD0-CC70-2C524B2674CC}"/>
              </a:ext>
            </a:extLst>
          </p:cNvPr>
          <p:cNvSpPr/>
          <p:nvPr/>
        </p:nvSpPr>
        <p:spPr>
          <a:xfrm>
            <a:off x="7028227" y="5456597"/>
            <a:ext cx="3735750" cy="344872"/>
          </a:xfrm>
          <a:prstGeom prst="rect">
            <a:avLst/>
          </a:prstGeom>
          <a:noFill/>
          <a:ln/>
        </p:spPr>
        <p:txBody>
          <a:bodyPr wrap="square" lIns="25400" tIns="25400" rIns="25400" bIns="25400" rtlCol="0" anchor="t">
            <a:normAutofit lnSpcReduction="10000"/>
          </a:bodyPr>
          <a:lstStyle/>
          <a:p>
            <a:pPr>
              <a:lnSpc>
                <a:spcPct val="115000"/>
              </a:lnSpc>
            </a:pPr>
            <a:r>
              <a:rPr lang="en-US" b="1" dirty="0"/>
              <a:t>Hotel detail page</a:t>
            </a:r>
            <a:endParaRPr lang="en-US" sz="2100" dirty="0"/>
          </a:p>
        </p:txBody>
      </p:sp>
      <p:sp>
        <p:nvSpPr>
          <p:cNvPr id="20" name="Text 18">
            <a:extLst>
              <a:ext uri="{FF2B5EF4-FFF2-40B4-BE49-F238E27FC236}">
                <a16:creationId xmlns:a16="http://schemas.microsoft.com/office/drawing/2014/main" id="{3995B490-7CCD-E7A3-9BAC-3C251B258EBD}"/>
              </a:ext>
            </a:extLst>
          </p:cNvPr>
          <p:cNvSpPr/>
          <p:nvPr/>
        </p:nvSpPr>
        <p:spPr>
          <a:xfrm>
            <a:off x="7028227" y="8755931"/>
            <a:ext cx="3735750"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11 COMPONENT</a:t>
            </a:r>
            <a:endParaRPr lang="en-US" dirty="0"/>
          </a:p>
        </p:txBody>
      </p:sp>
      <p:sp>
        <p:nvSpPr>
          <p:cNvPr id="21" name="Shape 19">
            <a:extLst>
              <a:ext uri="{FF2B5EF4-FFF2-40B4-BE49-F238E27FC236}">
                <a16:creationId xmlns:a16="http://schemas.microsoft.com/office/drawing/2014/main" id="{7F793B83-FE60-8301-7DE8-66EC23C1583A}"/>
              </a:ext>
            </a:extLst>
          </p:cNvPr>
          <p:cNvSpPr/>
          <p:nvPr/>
        </p:nvSpPr>
        <p:spPr>
          <a:xfrm>
            <a:off x="17323335" y="4737571"/>
            <a:ext cx="11906" cy="4585022"/>
          </a:xfrm>
          <a:prstGeom prst="rect">
            <a:avLst/>
          </a:prstGeom>
          <a:solidFill>
            <a:srgbClr val="D8D1C0"/>
          </a:solidFill>
          <a:ln/>
        </p:spPr>
      </p:sp>
      <p:sp>
        <p:nvSpPr>
          <p:cNvPr id="22" name="Text 20">
            <a:extLst>
              <a:ext uri="{FF2B5EF4-FFF2-40B4-BE49-F238E27FC236}">
                <a16:creationId xmlns:a16="http://schemas.microsoft.com/office/drawing/2014/main" id="{92378A01-1548-1473-0ACB-501343E5D56D}"/>
              </a:ext>
            </a:extLst>
          </p:cNvPr>
          <p:cNvSpPr/>
          <p:nvPr/>
        </p:nvSpPr>
        <p:spPr>
          <a:xfrm>
            <a:off x="12437623"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G</a:t>
            </a:r>
            <a:r>
              <a:rPr lang="en-US" sz="1800" kern="0" spc="144" dirty="0">
                <a:solidFill>
                  <a:srgbClr val="A8854A"/>
                </a:solidFill>
                <a:latin typeface="Arial" pitchFamily="34" charset="0"/>
                <a:ea typeface="Arial" pitchFamily="34" charset="-122"/>
                <a:cs typeface="Arial" pitchFamily="34" charset="-120"/>
              </a:rPr>
              <a:t>3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3 – 4</a:t>
            </a:r>
            <a:endParaRPr lang="en-US" sz="1800" dirty="0"/>
          </a:p>
        </p:txBody>
      </p:sp>
      <p:sp>
        <p:nvSpPr>
          <p:cNvPr id="23" name="Text 21">
            <a:extLst>
              <a:ext uri="{FF2B5EF4-FFF2-40B4-BE49-F238E27FC236}">
                <a16:creationId xmlns:a16="http://schemas.microsoft.com/office/drawing/2014/main" id="{FCCE2EA9-DDF9-ECD2-50C9-317A4D401999}"/>
              </a:ext>
            </a:extLst>
          </p:cNvPr>
          <p:cNvSpPr/>
          <p:nvPr/>
        </p:nvSpPr>
        <p:spPr>
          <a:xfrm>
            <a:off x="12437623" y="5456597"/>
            <a:ext cx="3735750" cy="3448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kern="0" spc="-21" dirty="0">
                <a:solidFill>
                  <a:srgbClr val="0F1419"/>
                </a:solidFill>
                <a:latin typeface="-apple-system" pitchFamily="34" charset="0"/>
                <a:ea typeface="-apple-system" pitchFamily="34" charset="-122"/>
                <a:cs typeface="-apple-system" pitchFamily="34" charset="-120"/>
              </a:rPr>
              <a:t>Search results page</a:t>
            </a:r>
            <a:endParaRPr lang="en-US" sz="2100" dirty="0"/>
          </a:p>
        </p:txBody>
      </p:sp>
      <p:sp>
        <p:nvSpPr>
          <p:cNvPr id="24" name="Text 22">
            <a:extLst>
              <a:ext uri="{FF2B5EF4-FFF2-40B4-BE49-F238E27FC236}">
                <a16:creationId xmlns:a16="http://schemas.microsoft.com/office/drawing/2014/main" id="{73244A29-0E6E-4ECC-30C7-0A248DFD3750}"/>
              </a:ext>
            </a:extLst>
          </p:cNvPr>
          <p:cNvSpPr/>
          <p:nvPr/>
        </p:nvSpPr>
        <p:spPr>
          <a:xfrm>
            <a:off x="12437623" y="7803617"/>
            <a:ext cx="3735750" cy="723826"/>
          </a:xfrm>
          <a:prstGeom prst="rect">
            <a:avLst/>
          </a:prstGeom>
          <a:noFill/>
          <a:ln/>
        </p:spPr>
        <p:txBody>
          <a:bodyPr wrap="square" lIns="25400" tIns="25400" rIns="25400" bIns="25400" rtlCol="0" anchor="t">
            <a:normAutofit/>
          </a:bodyPr>
          <a:lstStyle/>
          <a:p>
            <a:pPr marL="0" indent="0" algn="l">
              <a:lnSpc>
                <a:spcPct val="150000"/>
              </a:lnSpc>
              <a:buNone/>
            </a:pPr>
            <a:endParaRPr lang="en-US" sz="1800" dirty="0"/>
          </a:p>
        </p:txBody>
      </p:sp>
      <p:sp>
        <p:nvSpPr>
          <p:cNvPr id="25" name="Text 23">
            <a:extLst>
              <a:ext uri="{FF2B5EF4-FFF2-40B4-BE49-F238E27FC236}">
                <a16:creationId xmlns:a16="http://schemas.microsoft.com/office/drawing/2014/main" id="{A51E2B45-EA9B-1E3F-0175-FFAB1E1456D5}"/>
              </a:ext>
            </a:extLst>
          </p:cNvPr>
          <p:cNvSpPr/>
          <p:nvPr/>
        </p:nvSpPr>
        <p:spPr>
          <a:xfrm>
            <a:off x="12437623" y="8755931"/>
            <a:ext cx="3735750"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8 COMPONENT</a:t>
            </a:r>
            <a:endParaRPr lang="en-US" dirty="0"/>
          </a:p>
        </p:txBody>
      </p:sp>
      <p:sp>
        <p:nvSpPr>
          <p:cNvPr id="35" name="Text 6">
            <a:extLst>
              <a:ext uri="{FF2B5EF4-FFF2-40B4-BE49-F238E27FC236}">
                <a16:creationId xmlns:a16="http://schemas.microsoft.com/office/drawing/2014/main" id="{A77F18FE-877D-7A55-6E09-247C1E4B5732}"/>
              </a:ext>
            </a:extLst>
          </p:cNvPr>
          <p:cNvSpPr/>
          <p:nvPr/>
        </p:nvSpPr>
        <p:spPr>
          <a:xfrm>
            <a:off x="952499" y="3214858"/>
            <a:ext cx="12753975" cy="998041"/>
          </a:xfrm>
          <a:prstGeom prst="rect">
            <a:avLst/>
          </a:prstGeom>
          <a:noFill/>
          <a:ln/>
        </p:spPr>
        <p:txBody>
          <a:bodyPr wrap="square" lIns="25400" tIns="25400" rIns="25400" bIns="25400" rtlCol="0" anchor="t">
            <a:normAutofit fontScale="77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A frontend component is a reusable UI element responsible for displaying data and handling user interactions within an application. It encapsulates both presentation and behavior to keep the interface modular and maintainable</a:t>
            </a:r>
            <a:endParaRPr lang="en-US" sz="2700" dirty="0"/>
          </a:p>
        </p:txBody>
      </p:sp>
      <p:sp>
        <p:nvSpPr>
          <p:cNvPr id="36" name="Text 1">
            <a:extLst>
              <a:ext uri="{FF2B5EF4-FFF2-40B4-BE49-F238E27FC236}">
                <a16:creationId xmlns:a16="http://schemas.microsoft.com/office/drawing/2014/main" id="{8CCC115B-0F28-ECA7-D68E-130359D9DA99}"/>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16 / 22</a:t>
            </a:r>
            <a:endParaRPr lang="en-US" sz="1800" dirty="0"/>
          </a:p>
        </p:txBody>
      </p:sp>
    </p:spTree>
    <p:extLst>
      <p:ext uri="{BB962C8B-B14F-4D97-AF65-F5344CB8AC3E}">
        <p14:creationId xmlns:p14="http://schemas.microsoft.com/office/powerpoint/2010/main" val="998854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4</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FOUR</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Public APIs.</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Nineteen read endpoints feeding the public site. Unblock as the underlying tables seed up.</a:t>
            </a:r>
            <a:endParaRPr lang="en-US" sz="2700" dirty="0"/>
          </a:p>
        </p:txBody>
      </p:sp>
      <p:sp>
        <p:nvSpPr>
          <p:cNvPr id="9" name="Text 7"/>
          <p:cNvSpPr/>
          <p:nvPr/>
        </p:nvSpPr>
        <p:spPr>
          <a:xfrm>
            <a:off x="952500" y="4649577"/>
            <a:ext cx="5415457" cy="311944"/>
          </a:xfrm>
          <a:prstGeom prst="rect">
            <a:avLst/>
          </a:prstGeom>
          <a:noFill/>
          <a:ln/>
        </p:spPr>
        <p:txBody>
          <a:bodyPr wrap="square" lIns="25400" tIns="25400" rIns="25400" bIns="25400" rtlCol="0" anchor="t">
            <a:normAutofit/>
          </a:bodyPr>
          <a:lstStyle/>
          <a:p>
            <a:pPr marL="0" indent="0" algn="l">
              <a:buNone/>
            </a:pPr>
            <a:r>
              <a:rPr lang="en-US" sz="1650" kern="0" spc="264" dirty="0">
                <a:solidFill>
                  <a:srgbClr val="A8854A"/>
                </a:solidFill>
                <a:latin typeface="Arial" pitchFamily="34" charset="0"/>
                <a:ea typeface="Arial" pitchFamily="34" charset="-122"/>
                <a:cs typeface="Arial" pitchFamily="34" charset="-120"/>
              </a:rPr>
              <a:t>— HOTEL DETAIL · 7</a:t>
            </a:r>
            <a:endParaRPr lang="en-US" sz="1650" dirty="0"/>
          </a:p>
        </p:txBody>
      </p:sp>
      <p:sp>
        <p:nvSpPr>
          <p:cNvPr id="10" name="Shape 8"/>
          <p:cNvSpPr/>
          <p:nvPr/>
        </p:nvSpPr>
        <p:spPr>
          <a:xfrm>
            <a:off x="952500" y="5075783"/>
            <a:ext cx="5257726" cy="714375"/>
          </a:xfrm>
          <a:prstGeom prst="rect">
            <a:avLst/>
          </a:prstGeom>
          <a:solidFill>
            <a:srgbClr val="FAF7F0"/>
          </a:solidFill>
          <a:ln w="11906">
            <a:solidFill>
              <a:srgbClr val="D8D1C0"/>
            </a:solidFill>
            <a:prstDash val="solid"/>
          </a:ln>
        </p:spPr>
      </p:sp>
      <p:sp>
        <p:nvSpPr>
          <p:cNvPr id="11" name="Text 9"/>
          <p:cNvSpPr/>
          <p:nvPr/>
        </p:nvSpPr>
        <p:spPr>
          <a:xfrm>
            <a:off x="1173882" y="5278189"/>
            <a:ext cx="4959411" cy="347663"/>
          </a:xfrm>
          <a:prstGeom prst="rect">
            <a:avLst/>
          </a:prstGeom>
          <a:noFill/>
          <a:ln/>
        </p:spPr>
        <p:txBody>
          <a:bodyPr wrap="square" lIns="25400" tIns="25400" rIns="25400" bIns="25400" rtlCol="0" anchor="t">
            <a:normAutofit/>
          </a:bodyPr>
          <a:lstStyle/>
          <a:p>
            <a:pPr marL="0" indent="0" algn="l">
              <a:buNone/>
            </a:pPr>
            <a:r>
              <a:rPr lang="en-US" sz="1800" dirty="0">
                <a:solidFill>
                  <a:srgbClr val="0F1419"/>
                </a:solidFill>
                <a:latin typeface="Arial" pitchFamily="34" charset="0"/>
                <a:ea typeface="Arial" pitchFamily="34" charset="-122"/>
                <a:cs typeface="Arial" pitchFamily="34" charset="-120"/>
              </a:rPr>
              <a:t>Hotel</a:t>
            </a:r>
            <a:r>
              <a:rPr lang="en-US" dirty="0">
                <a:solidFill>
                  <a:srgbClr val="0F1419"/>
                </a:solidFill>
                <a:latin typeface="Arial" pitchFamily="34" charset="0"/>
                <a:ea typeface="Arial" pitchFamily="34" charset="-122"/>
                <a:cs typeface="Arial" pitchFamily="34" charset="-120"/>
              </a:rPr>
              <a:t> D</a:t>
            </a:r>
            <a:r>
              <a:rPr lang="en-US" sz="1800" dirty="0">
                <a:solidFill>
                  <a:srgbClr val="0F1419"/>
                </a:solidFill>
                <a:latin typeface="Arial" pitchFamily="34" charset="0"/>
                <a:ea typeface="Arial" pitchFamily="34" charset="-122"/>
                <a:cs typeface="Arial" pitchFamily="34" charset="-120"/>
              </a:rPr>
              <a:t>etails</a:t>
            </a:r>
            <a:endParaRPr lang="en-US" sz="1800" dirty="0"/>
          </a:p>
        </p:txBody>
      </p:sp>
      <p:sp>
        <p:nvSpPr>
          <p:cNvPr id="12" name="Shape 10"/>
          <p:cNvSpPr/>
          <p:nvPr/>
        </p:nvSpPr>
        <p:spPr>
          <a:xfrm>
            <a:off x="952500" y="5923359"/>
            <a:ext cx="5257726" cy="714375"/>
          </a:xfrm>
          <a:prstGeom prst="rect">
            <a:avLst/>
          </a:prstGeom>
          <a:solidFill>
            <a:srgbClr val="FAF7F0"/>
          </a:solidFill>
          <a:ln w="11906">
            <a:solidFill>
              <a:srgbClr val="D8D1C0"/>
            </a:solidFill>
            <a:prstDash val="solid"/>
          </a:ln>
        </p:spPr>
      </p:sp>
      <p:sp>
        <p:nvSpPr>
          <p:cNvPr id="13" name="Text 11"/>
          <p:cNvSpPr/>
          <p:nvPr/>
        </p:nvSpPr>
        <p:spPr>
          <a:xfrm>
            <a:off x="1173882" y="6125766"/>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I</a:t>
            </a:r>
            <a:r>
              <a:rPr lang="en-US" sz="1800" dirty="0">
                <a:solidFill>
                  <a:srgbClr val="0F1419"/>
                </a:solidFill>
                <a:latin typeface="Arial" pitchFamily="34" charset="0"/>
                <a:ea typeface="Arial" pitchFamily="34" charset="-122"/>
                <a:cs typeface="Arial" pitchFamily="34" charset="-120"/>
              </a:rPr>
              <a:t>mages</a:t>
            </a:r>
            <a:endParaRPr lang="en-US" sz="1800" dirty="0"/>
          </a:p>
        </p:txBody>
      </p:sp>
      <p:sp>
        <p:nvSpPr>
          <p:cNvPr id="14" name="Shape 12"/>
          <p:cNvSpPr/>
          <p:nvPr/>
        </p:nvSpPr>
        <p:spPr>
          <a:xfrm>
            <a:off x="952500" y="6770936"/>
            <a:ext cx="5257726" cy="714375"/>
          </a:xfrm>
          <a:prstGeom prst="rect">
            <a:avLst/>
          </a:prstGeom>
          <a:solidFill>
            <a:srgbClr val="FAF7F0"/>
          </a:solidFill>
          <a:ln w="11906">
            <a:solidFill>
              <a:srgbClr val="D8D1C0"/>
            </a:solidFill>
            <a:prstDash val="solid"/>
          </a:ln>
        </p:spPr>
      </p:sp>
      <p:sp>
        <p:nvSpPr>
          <p:cNvPr id="15" name="Text 13"/>
          <p:cNvSpPr/>
          <p:nvPr/>
        </p:nvSpPr>
        <p:spPr>
          <a:xfrm>
            <a:off x="1173882" y="6973342"/>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F</a:t>
            </a:r>
            <a:r>
              <a:rPr lang="en-US" sz="1800" dirty="0">
                <a:solidFill>
                  <a:srgbClr val="0F1419"/>
                </a:solidFill>
                <a:latin typeface="Arial" pitchFamily="34" charset="0"/>
                <a:ea typeface="Arial" pitchFamily="34" charset="-122"/>
                <a:cs typeface="Arial" pitchFamily="34" charset="-120"/>
              </a:rPr>
              <a:t>acilities</a:t>
            </a:r>
            <a:endParaRPr lang="en-US" sz="1800" dirty="0"/>
          </a:p>
        </p:txBody>
      </p:sp>
      <p:sp>
        <p:nvSpPr>
          <p:cNvPr id="16" name="Shape 14"/>
          <p:cNvSpPr/>
          <p:nvPr/>
        </p:nvSpPr>
        <p:spPr>
          <a:xfrm>
            <a:off x="952500" y="7618512"/>
            <a:ext cx="5257726" cy="714375"/>
          </a:xfrm>
          <a:prstGeom prst="rect">
            <a:avLst/>
          </a:prstGeom>
          <a:solidFill>
            <a:srgbClr val="FAF7F0"/>
          </a:solidFill>
          <a:ln w="11906">
            <a:solidFill>
              <a:srgbClr val="D8D1C0"/>
            </a:solidFill>
            <a:prstDash val="solid"/>
          </a:ln>
        </p:spPr>
      </p:sp>
      <p:sp>
        <p:nvSpPr>
          <p:cNvPr id="17" name="Text 15"/>
          <p:cNvSpPr/>
          <p:nvPr/>
        </p:nvSpPr>
        <p:spPr>
          <a:xfrm>
            <a:off x="1173882" y="7820918"/>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R</a:t>
            </a:r>
            <a:r>
              <a:rPr lang="en-US" sz="1800" dirty="0">
                <a:solidFill>
                  <a:srgbClr val="0F1419"/>
                </a:solidFill>
                <a:latin typeface="Arial" pitchFamily="34" charset="0"/>
                <a:ea typeface="Arial" pitchFamily="34" charset="-122"/>
                <a:cs typeface="Arial" pitchFamily="34" charset="-120"/>
              </a:rPr>
              <a:t>ules</a:t>
            </a:r>
            <a:endParaRPr lang="en-US" sz="1800" dirty="0"/>
          </a:p>
        </p:txBody>
      </p:sp>
      <p:sp>
        <p:nvSpPr>
          <p:cNvPr id="18" name="Shape 16"/>
          <p:cNvSpPr/>
          <p:nvPr/>
        </p:nvSpPr>
        <p:spPr>
          <a:xfrm>
            <a:off x="952500" y="8466088"/>
            <a:ext cx="5257726" cy="714375"/>
          </a:xfrm>
          <a:prstGeom prst="rect">
            <a:avLst/>
          </a:prstGeom>
          <a:solidFill>
            <a:srgbClr val="FAF7F0"/>
          </a:solidFill>
          <a:ln w="11906">
            <a:solidFill>
              <a:srgbClr val="D8D1C0"/>
            </a:solidFill>
            <a:prstDash val="solid"/>
          </a:ln>
        </p:spPr>
      </p:sp>
      <p:sp>
        <p:nvSpPr>
          <p:cNvPr id="19" name="Text 17"/>
          <p:cNvSpPr/>
          <p:nvPr/>
        </p:nvSpPr>
        <p:spPr>
          <a:xfrm>
            <a:off x="1173882" y="8668494"/>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R</a:t>
            </a:r>
            <a:r>
              <a:rPr lang="en-US" sz="1800" dirty="0">
                <a:solidFill>
                  <a:srgbClr val="0F1419"/>
                </a:solidFill>
                <a:latin typeface="Arial" pitchFamily="34" charset="0"/>
                <a:ea typeface="Arial" pitchFamily="34" charset="-122"/>
                <a:cs typeface="Arial" pitchFamily="34" charset="-120"/>
              </a:rPr>
              <a:t>ooms</a:t>
            </a:r>
            <a:endParaRPr lang="en-US" sz="1800" dirty="0"/>
          </a:p>
        </p:txBody>
      </p:sp>
      <p:sp>
        <p:nvSpPr>
          <p:cNvPr id="20" name="Shape 18"/>
          <p:cNvSpPr/>
          <p:nvPr/>
        </p:nvSpPr>
        <p:spPr>
          <a:xfrm>
            <a:off x="6515137" y="5075783"/>
            <a:ext cx="5257726" cy="714375"/>
          </a:xfrm>
          <a:prstGeom prst="rect">
            <a:avLst/>
          </a:prstGeom>
          <a:solidFill>
            <a:srgbClr val="FAF7F0"/>
          </a:solidFill>
          <a:ln w="11906">
            <a:solidFill>
              <a:srgbClr val="D8D1C0"/>
            </a:solidFill>
            <a:prstDash val="solid"/>
          </a:ln>
        </p:spPr>
      </p:sp>
      <p:sp>
        <p:nvSpPr>
          <p:cNvPr id="21" name="Text 19"/>
          <p:cNvSpPr/>
          <p:nvPr/>
        </p:nvSpPr>
        <p:spPr>
          <a:xfrm>
            <a:off x="6736519" y="5278189"/>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C</a:t>
            </a:r>
            <a:r>
              <a:rPr lang="en-US" sz="1800" dirty="0">
                <a:solidFill>
                  <a:srgbClr val="0F1419"/>
                </a:solidFill>
                <a:latin typeface="Arial" pitchFamily="34" charset="0"/>
                <a:ea typeface="Arial" pitchFamily="34" charset="-122"/>
                <a:cs typeface="Arial" pitchFamily="34" charset="-120"/>
              </a:rPr>
              <a:t>omments</a:t>
            </a:r>
            <a:endParaRPr lang="en-US" sz="1800" dirty="0"/>
          </a:p>
        </p:txBody>
      </p:sp>
      <p:sp>
        <p:nvSpPr>
          <p:cNvPr id="22" name="Shape 20"/>
          <p:cNvSpPr/>
          <p:nvPr/>
        </p:nvSpPr>
        <p:spPr>
          <a:xfrm>
            <a:off x="6515137" y="5923359"/>
            <a:ext cx="5257726" cy="714375"/>
          </a:xfrm>
          <a:prstGeom prst="rect">
            <a:avLst/>
          </a:prstGeom>
          <a:solidFill>
            <a:srgbClr val="FAF7F0"/>
          </a:solidFill>
          <a:ln w="11906">
            <a:solidFill>
              <a:srgbClr val="D8D1C0"/>
            </a:solidFill>
            <a:prstDash val="solid"/>
          </a:ln>
        </p:spPr>
      </p:sp>
      <p:sp>
        <p:nvSpPr>
          <p:cNvPr id="23" name="Text 21"/>
          <p:cNvSpPr/>
          <p:nvPr/>
        </p:nvSpPr>
        <p:spPr>
          <a:xfrm>
            <a:off x="6736519" y="6125765"/>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a:t>
            </a:r>
            <a:r>
              <a:rPr lang="en-US" dirty="0">
                <a:solidFill>
                  <a:srgbClr val="0F1419"/>
                </a:solidFill>
                <a:latin typeface="Arial" pitchFamily="34" charset="0"/>
                <a:ea typeface="Arial" pitchFamily="34" charset="-122"/>
                <a:cs typeface="Arial" pitchFamily="34" charset="-120"/>
              </a:rPr>
              <a:t> S</a:t>
            </a:r>
            <a:r>
              <a:rPr lang="en-US" sz="1800" dirty="0">
                <a:solidFill>
                  <a:srgbClr val="0F1419"/>
                </a:solidFill>
                <a:latin typeface="Arial" pitchFamily="34" charset="0"/>
                <a:ea typeface="Arial" pitchFamily="34" charset="-122"/>
                <a:cs typeface="Arial" pitchFamily="34" charset="-120"/>
              </a:rPr>
              <a:t>eo</a:t>
            </a:r>
            <a:endParaRPr lang="en-US" sz="1800" dirty="0"/>
          </a:p>
        </p:txBody>
      </p:sp>
      <p:sp>
        <p:nvSpPr>
          <p:cNvPr id="57" name="Text 1">
            <a:extLst>
              <a:ext uri="{FF2B5EF4-FFF2-40B4-BE49-F238E27FC236}">
                <a16:creationId xmlns:a16="http://schemas.microsoft.com/office/drawing/2014/main" id="{6B8E2CFE-4E77-11D8-BEC1-5A3A7D17DB8D}"/>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17 / 22</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043A49B8-E0CF-4CE2-B468-9198B4547A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D9CCA2-70FF-0E67-2663-F8525E394AA8}"/>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4</a:t>
            </a:r>
            <a:endParaRPr lang="en-US" sz="1800" dirty="0"/>
          </a:p>
        </p:txBody>
      </p:sp>
      <p:sp>
        <p:nvSpPr>
          <p:cNvPr id="6" name="Text 4">
            <a:extLst>
              <a:ext uri="{FF2B5EF4-FFF2-40B4-BE49-F238E27FC236}">
                <a16:creationId xmlns:a16="http://schemas.microsoft.com/office/drawing/2014/main" id="{9130023D-6749-225F-C217-05190FF345F7}"/>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FOUR</a:t>
            </a:r>
            <a:endParaRPr lang="en-US" sz="1800" dirty="0"/>
          </a:p>
        </p:txBody>
      </p:sp>
      <p:sp>
        <p:nvSpPr>
          <p:cNvPr id="7" name="Text 5">
            <a:extLst>
              <a:ext uri="{FF2B5EF4-FFF2-40B4-BE49-F238E27FC236}">
                <a16:creationId xmlns:a16="http://schemas.microsoft.com/office/drawing/2014/main" id="{E5A49E2E-83C6-9205-F1C6-81CB8A65243A}"/>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Public APIs.</a:t>
            </a:r>
            <a:endParaRPr lang="en-US" sz="6600" dirty="0"/>
          </a:p>
        </p:txBody>
      </p:sp>
      <p:sp>
        <p:nvSpPr>
          <p:cNvPr id="8" name="Text 6">
            <a:extLst>
              <a:ext uri="{FF2B5EF4-FFF2-40B4-BE49-F238E27FC236}">
                <a16:creationId xmlns:a16="http://schemas.microsoft.com/office/drawing/2014/main" id="{C9904DBE-D76B-E86E-A4BC-1F48587EA992}"/>
              </a:ext>
            </a:extLst>
          </p:cNvPr>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Nineteen read endpoints feeding the public site. Unblock as the underlying tables seed up.</a:t>
            </a:r>
            <a:endParaRPr lang="en-US" sz="2700" dirty="0"/>
          </a:p>
        </p:txBody>
      </p:sp>
      <p:sp>
        <p:nvSpPr>
          <p:cNvPr id="24" name="Text 22">
            <a:extLst>
              <a:ext uri="{FF2B5EF4-FFF2-40B4-BE49-F238E27FC236}">
                <a16:creationId xmlns:a16="http://schemas.microsoft.com/office/drawing/2014/main" id="{7BD93F3B-9D7C-D057-2596-4AF225B381A3}"/>
              </a:ext>
            </a:extLst>
          </p:cNvPr>
          <p:cNvSpPr/>
          <p:nvPr/>
        </p:nvSpPr>
        <p:spPr>
          <a:xfrm>
            <a:off x="989906" y="4618230"/>
            <a:ext cx="5415649" cy="311944"/>
          </a:xfrm>
          <a:prstGeom prst="rect">
            <a:avLst/>
          </a:prstGeom>
          <a:noFill/>
          <a:ln/>
        </p:spPr>
        <p:txBody>
          <a:bodyPr wrap="square" lIns="25400" tIns="25400" rIns="25400" bIns="25400" rtlCol="0" anchor="t">
            <a:normAutofit/>
          </a:bodyPr>
          <a:lstStyle/>
          <a:p>
            <a:pPr marL="0" indent="0" algn="l">
              <a:buNone/>
            </a:pPr>
            <a:r>
              <a:rPr lang="en-US" sz="1650" kern="0" spc="264" dirty="0">
                <a:solidFill>
                  <a:srgbClr val="A8854A"/>
                </a:solidFill>
                <a:latin typeface="Arial" pitchFamily="34" charset="0"/>
                <a:ea typeface="Arial" pitchFamily="34" charset="-122"/>
                <a:cs typeface="Arial" pitchFamily="34" charset="-120"/>
              </a:rPr>
              <a:t>— SEARCH · 5</a:t>
            </a:r>
            <a:endParaRPr lang="en-US" sz="1650" dirty="0"/>
          </a:p>
        </p:txBody>
      </p:sp>
      <p:sp>
        <p:nvSpPr>
          <p:cNvPr id="25" name="Shape 23">
            <a:extLst>
              <a:ext uri="{FF2B5EF4-FFF2-40B4-BE49-F238E27FC236}">
                <a16:creationId xmlns:a16="http://schemas.microsoft.com/office/drawing/2014/main" id="{2FFCB987-1756-E2BF-FF38-DEBFD9299B22}"/>
              </a:ext>
            </a:extLst>
          </p:cNvPr>
          <p:cNvSpPr/>
          <p:nvPr/>
        </p:nvSpPr>
        <p:spPr>
          <a:xfrm>
            <a:off x="989906" y="5075783"/>
            <a:ext cx="5257912" cy="714375"/>
          </a:xfrm>
          <a:prstGeom prst="rect">
            <a:avLst/>
          </a:prstGeom>
          <a:solidFill>
            <a:srgbClr val="FAF7F0"/>
          </a:solidFill>
          <a:ln w="11906">
            <a:solidFill>
              <a:srgbClr val="D8D1C0"/>
            </a:solidFill>
            <a:prstDash val="solid"/>
          </a:ln>
        </p:spPr>
      </p:sp>
      <p:sp>
        <p:nvSpPr>
          <p:cNvPr id="26" name="Text 24">
            <a:extLst>
              <a:ext uri="{FF2B5EF4-FFF2-40B4-BE49-F238E27FC236}">
                <a16:creationId xmlns:a16="http://schemas.microsoft.com/office/drawing/2014/main" id="{A5DFC432-4549-5D48-BF55-A33C3F612947}"/>
              </a:ext>
            </a:extLst>
          </p:cNvPr>
          <p:cNvSpPr/>
          <p:nvPr/>
        </p:nvSpPr>
        <p:spPr>
          <a:xfrm>
            <a:off x="1211288" y="5278189"/>
            <a:ext cx="4959602"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earch</a:t>
            </a:r>
            <a:r>
              <a:rPr lang="en-US" dirty="0">
                <a:solidFill>
                  <a:srgbClr val="0F1419"/>
                </a:solidFill>
                <a:latin typeface="Arial" pitchFamily="34" charset="0"/>
                <a:ea typeface="Arial" pitchFamily="34" charset="-122"/>
                <a:cs typeface="Arial" pitchFamily="34" charset="-120"/>
              </a:rPr>
              <a:t> S</a:t>
            </a:r>
            <a:r>
              <a:rPr lang="en-US" sz="1800" dirty="0">
                <a:solidFill>
                  <a:srgbClr val="0F1419"/>
                </a:solidFill>
                <a:latin typeface="Arial" pitchFamily="34" charset="0"/>
                <a:ea typeface="Arial" pitchFamily="34" charset="-122"/>
                <a:cs typeface="Arial" pitchFamily="34" charset="-120"/>
              </a:rPr>
              <a:t>uggestion</a:t>
            </a:r>
            <a:endParaRPr lang="en-US" sz="1800" dirty="0"/>
          </a:p>
        </p:txBody>
      </p:sp>
      <p:sp>
        <p:nvSpPr>
          <p:cNvPr id="27" name="Shape 25">
            <a:extLst>
              <a:ext uri="{FF2B5EF4-FFF2-40B4-BE49-F238E27FC236}">
                <a16:creationId xmlns:a16="http://schemas.microsoft.com/office/drawing/2014/main" id="{5666C108-1877-9C20-2432-253BB4EAE113}"/>
              </a:ext>
            </a:extLst>
          </p:cNvPr>
          <p:cNvSpPr/>
          <p:nvPr/>
        </p:nvSpPr>
        <p:spPr>
          <a:xfrm>
            <a:off x="989906" y="5923359"/>
            <a:ext cx="5257912" cy="714375"/>
          </a:xfrm>
          <a:prstGeom prst="rect">
            <a:avLst/>
          </a:prstGeom>
          <a:solidFill>
            <a:srgbClr val="FAF7F0"/>
          </a:solidFill>
          <a:ln w="11906">
            <a:solidFill>
              <a:srgbClr val="D8D1C0"/>
            </a:solidFill>
            <a:prstDash val="solid"/>
          </a:ln>
        </p:spPr>
      </p:sp>
      <p:sp>
        <p:nvSpPr>
          <p:cNvPr id="28" name="Text 26">
            <a:extLst>
              <a:ext uri="{FF2B5EF4-FFF2-40B4-BE49-F238E27FC236}">
                <a16:creationId xmlns:a16="http://schemas.microsoft.com/office/drawing/2014/main" id="{F5A948D0-9803-9AF1-07CD-73ADEFA8AEB1}"/>
              </a:ext>
            </a:extLst>
          </p:cNvPr>
          <p:cNvSpPr/>
          <p:nvPr/>
        </p:nvSpPr>
        <p:spPr>
          <a:xfrm>
            <a:off x="1211288" y="6125766"/>
            <a:ext cx="4959602"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earch</a:t>
            </a:r>
            <a:r>
              <a:rPr lang="en-US" dirty="0">
                <a:solidFill>
                  <a:srgbClr val="0F1419"/>
                </a:solidFill>
                <a:latin typeface="Arial" pitchFamily="34" charset="0"/>
                <a:ea typeface="Arial" pitchFamily="34" charset="-122"/>
                <a:cs typeface="Arial" pitchFamily="34" charset="-120"/>
              </a:rPr>
              <a:t> F</a:t>
            </a:r>
            <a:r>
              <a:rPr lang="en-US" sz="1800" dirty="0">
                <a:solidFill>
                  <a:srgbClr val="0F1419"/>
                </a:solidFill>
                <a:latin typeface="Arial" pitchFamily="34" charset="0"/>
                <a:ea typeface="Arial" pitchFamily="34" charset="-122"/>
                <a:cs typeface="Arial" pitchFamily="34" charset="-120"/>
              </a:rPr>
              <a:t>ilters</a:t>
            </a:r>
            <a:endParaRPr lang="en-US" sz="1800" dirty="0"/>
          </a:p>
        </p:txBody>
      </p:sp>
      <p:sp>
        <p:nvSpPr>
          <p:cNvPr id="29" name="Shape 27">
            <a:extLst>
              <a:ext uri="{FF2B5EF4-FFF2-40B4-BE49-F238E27FC236}">
                <a16:creationId xmlns:a16="http://schemas.microsoft.com/office/drawing/2014/main" id="{2CE1A568-D575-BE56-0D1C-F8784CFD20D0}"/>
              </a:ext>
            </a:extLst>
          </p:cNvPr>
          <p:cNvSpPr/>
          <p:nvPr/>
        </p:nvSpPr>
        <p:spPr>
          <a:xfrm>
            <a:off x="989906" y="6770936"/>
            <a:ext cx="5257912" cy="714375"/>
          </a:xfrm>
          <a:prstGeom prst="rect">
            <a:avLst/>
          </a:prstGeom>
          <a:solidFill>
            <a:srgbClr val="FAF7F0"/>
          </a:solidFill>
          <a:ln w="11906">
            <a:solidFill>
              <a:srgbClr val="D8D1C0"/>
            </a:solidFill>
            <a:prstDash val="solid"/>
          </a:ln>
        </p:spPr>
      </p:sp>
      <p:sp>
        <p:nvSpPr>
          <p:cNvPr id="30" name="Text 28">
            <a:extLst>
              <a:ext uri="{FF2B5EF4-FFF2-40B4-BE49-F238E27FC236}">
                <a16:creationId xmlns:a16="http://schemas.microsoft.com/office/drawing/2014/main" id="{40A3403F-AE08-3CF4-2BCA-16D81A32CF4E}"/>
              </a:ext>
            </a:extLst>
          </p:cNvPr>
          <p:cNvSpPr/>
          <p:nvPr/>
        </p:nvSpPr>
        <p:spPr>
          <a:xfrm>
            <a:off x="1211288" y="6973342"/>
            <a:ext cx="4959602"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earch</a:t>
            </a:r>
            <a:r>
              <a:rPr lang="en-US" dirty="0">
                <a:solidFill>
                  <a:srgbClr val="0F1419"/>
                </a:solidFill>
                <a:latin typeface="Arial" pitchFamily="34" charset="0"/>
                <a:ea typeface="Arial" pitchFamily="34" charset="-122"/>
                <a:cs typeface="Arial" pitchFamily="34" charset="-120"/>
              </a:rPr>
              <a:t> H</a:t>
            </a:r>
            <a:r>
              <a:rPr lang="en-US" sz="1800" dirty="0">
                <a:solidFill>
                  <a:srgbClr val="0F1419"/>
                </a:solidFill>
                <a:latin typeface="Arial" pitchFamily="34" charset="0"/>
                <a:ea typeface="Arial" pitchFamily="34" charset="-122"/>
                <a:cs typeface="Arial" pitchFamily="34" charset="-120"/>
              </a:rPr>
              <a:t>otel-list</a:t>
            </a:r>
            <a:endParaRPr lang="en-US" sz="1800" dirty="0"/>
          </a:p>
        </p:txBody>
      </p:sp>
      <p:sp>
        <p:nvSpPr>
          <p:cNvPr id="31" name="Shape 29">
            <a:extLst>
              <a:ext uri="{FF2B5EF4-FFF2-40B4-BE49-F238E27FC236}">
                <a16:creationId xmlns:a16="http://schemas.microsoft.com/office/drawing/2014/main" id="{78191518-38D0-6C49-D95B-FA0AE6355A51}"/>
              </a:ext>
            </a:extLst>
          </p:cNvPr>
          <p:cNvSpPr/>
          <p:nvPr/>
        </p:nvSpPr>
        <p:spPr>
          <a:xfrm>
            <a:off x="989906" y="7618512"/>
            <a:ext cx="5257912" cy="714375"/>
          </a:xfrm>
          <a:prstGeom prst="rect">
            <a:avLst/>
          </a:prstGeom>
          <a:solidFill>
            <a:srgbClr val="FAF7F0"/>
          </a:solidFill>
          <a:ln w="11906">
            <a:solidFill>
              <a:srgbClr val="D8D1C0"/>
            </a:solidFill>
            <a:prstDash val="solid"/>
          </a:ln>
        </p:spPr>
      </p:sp>
      <p:sp>
        <p:nvSpPr>
          <p:cNvPr id="32" name="Text 30">
            <a:extLst>
              <a:ext uri="{FF2B5EF4-FFF2-40B4-BE49-F238E27FC236}">
                <a16:creationId xmlns:a16="http://schemas.microsoft.com/office/drawing/2014/main" id="{E05F7E09-322A-7FF3-D092-AFD1245E8B34}"/>
              </a:ext>
            </a:extLst>
          </p:cNvPr>
          <p:cNvSpPr/>
          <p:nvPr/>
        </p:nvSpPr>
        <p:spPr>
          <a:xfrm>
            <a:off x="1211288" y="7820918"/>
            <a:ext cx="4959602"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earch</a:t>
            </a:r>
            <a:r>
              <a:rPr lang="en-US" dirty="0">
                <a:solidFill>
                  <a:srgbClr val="0F1419"/>
                </a:solidFill>
                <a:latin typeface="Arial" pitchFamily="34" charset="0"/>
                <a:ea typeface="Arial" pitchFamily="34" charset="-122"/>
                <a:cs typeface="Arial" pitchFamily="34" charset="-120"/>
              </a:rPr>
              <a:t> B</a:t>
            </a:r>
            <a:r>
              <a:rPr lang="en-US" sz="1800" dirty="0">
                <a:solidFill>
                  <a:srgbClr val="0F1419"/>
                </a:solidFill>
                <a:latin typeface="Arial" pitchFamily="34" charset="0"/>
                <a:ea typeface="Arial" pitchFamily="34" charset="-122"/>
                <a:cs typeface="Arial" pitchFamily="34" charset="-120"/>
              </a:rPr>
              <a:t>y-city</a:t>
            </a:r>
            <a:endParaRPr lang="en-US" sz="1800" dirty="0"/>
          </a:p>
        </p:txBody>
      </p:sp>
      <p:sp>
        <p:nvSpPr>
          <p:cNvPr id="33" name="Shape 31">
            <a:extLst>
              <a:ext uri="{FF2B5EF4-FFF2-40B4-BE49-F238E27FC236}">
                <a16:creationId xmlns:a16="http://schemas.microsoft.com/office/drawing/2014/main" id="{7CCD509A-D2A8-2611-8FFE-5052D740E0AB}"/>
              </a:ext>
            </a:extLst>
          </p:cNvPr>
          <p:cNvSpPr/>
          <p:nvPr/>
        </p:nvSpPr>
        <p:spPr>
          <a:xfrm>
            <a:off x="989906" y="8466088"/>
            <a:ext cx="5257912" cy="714375"/>
          </a:xfrm>
          <a:prstGeom prst="rect">
            <a:avLst/>
          </a:prstGeom>
          <a:solidFill>
            <a:srgbClr val="FAF7F0"/>
          </a:solidFill>
          <a:ln w="11906">
            <a:solidFill>
              <a:srgbClr val="D8D1C0"/>
            </a:solidFill>
            <a:prstDash val="solid"/>
          </a:ln>
        </p:spPr>
      </p:sp>
      <p:sp>
        <p:nvSpPr>
          <p:cNvPr id="34" name="Text 32">
            <a:extLst>
              <a:ext uri="{FF2B5EF4-FFF2-40B4-BE49-F238E27FC236}">
                <a16:creationId xmlns:a16="http://schemas.microsoft.com/office/drawing/2014/main" id="{A4775909-5515-E94F-51A0-F5CDB337EC04}"/>
              </a:ext>
            </a:extLst>
          </p:cNvPr>
          <p:cNvSpPr/>
          <p:nvPr/>
        </p:nvSpPr>
        <p:spPr>
          <a:xfrm>
            <a:off x="1211288" y="8668494"/>
            <a:ext cx="4959602"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earch</a:t>
            </a:r>
            <a:r>
              <a:rPr lang="en-US" dirty="0">
                <a:solidFill>
                  <a:srgbClr val="0F1419"/>
                </a:solidFill>
                <a:latin typeface="Arial" pitchFamily="34" charset="0"/>
                <a:ea typeface="Arial" pitchFamily="34" charset="-122"/>
                <a:cs typeface="Arial" pitchFamily="34" charset="-120"/>
              </a:rPr>
              <a:t> S</a:t>
            </a:r>
            <a:r>
              <a:rPr lang="en-US" sz="1800" dirty="0">
                <a:solidFill>
                  <a:srgbClr val="0F1419"/>
                </a:solidFill>
                <a:latin typeface="Arial" pitchFamily="34" charset="0"/>
                <a:ea typeface="Arial" pitchFamily="34" charset="-122"/>
                <a:cs typeface="Arial" pitchFamily="34" charset="-120"/>
              </a:rPr>
              <a:t>eo</a:t>
            </a:r>
            <a:endParaRPr lang="en-US" sz="1800" dirty="0"/>
          </a:p>
        </p:txBody>
      </p:sp>
      <p:sp>
        <p:nvSpPr>
          <p:cNvPr id="53" name="Text 1">
            <a:extLst>
              <a:ext uri="{FF2B5EF4-FFF2-40B4-BE49-F238E27FC236}">
                <a16:creationId xmlns:a16="http://schemas.microsoft.com/office/drawing/2014/main" id="{CC736F06-CE1B-A121-F046-7DF899756CF6}"/>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18 / 22</a:t>
            </a:r>
            <a:endParaRPr lang="en-US" sz="1800" dirty="0"/>
          </a:p>
        </p:txBody>
      </p:sp>
    </p:spTree>
    <p:extLst>
      <p:ext uri="{BB962C8B-B14F-4D97-AF65-F5344CB8AC3E}">
        <p14:creationId xmlns:p14="http://schemas.microsoft.com/office/powerpoint/2010/main" val="1042692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D993D423-29FB-3E6D-A6EA-AAC71985DF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208D23-1E6D-3ACF-26E7-402D6208ACB0}"/>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4</a:t>
            </a:r>
            <a:endParaRPr lang="en-US" sz="1800" dirty="0"/>
          </a:p>
        </p:txBody>
      </p:sp>
      <p:sp>
        <p:nvSpPr>
          <p:cNvPr id="6" name="Text 4">
            <a:extLst>
              <a:ext uri="{FF2B5EF4-FFF2-40B4-BE49-F238E27FC236}">
                <a16:creationId xmlns:a16="http://schemas.microsoft.com/office/drawing/2014/main" id="{FBAADA01-EC5D-66DE-C79C-77EF683CC0DC}"/>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FOUR</a:t>
            </a:r>
            <a:endParaRPr lang="en-US" sz="1800" dirty="0"/>
          </a:p>
        </p:txBody>
      </p:sp>
      <p:sp>
        <p:nvSpPr>
          <p:cNvPr id="7" name="Text 5">
            <a:extLst>
              <a:ext uri="{FF2B5EF4-FFF2-40B4-BE49-F238E27FC236}">
                <a16:creationId xmlns:a16="http://schemas.microsoft.com/office/drawing/2014/main" id="{F18DE10C-6463-600C-D1FD-1EF808A228EB}"/>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Public APIs.</a:t>
            </a:r>
            <a:endParaRPr lang="en-US" sz="6600" dirty="0"/>
          </a:p>
        </p:txBody>
      </p:sp>
      <p:sp>
        <p:nvSpPr>
          <p:cNvPr id="8" name="Text 6">
            <a:extLst>
              <a:ext uri="{FF2B5EF4-FFF2-40B4-BE49-F238E27FC236}">
                <a16:creationId xmlns:a16="http://schemas.microsoft.com/office/drawing/2014/main" id="{E90BCB5A-302E-4D95-833F-833AC0904EA0}"/>
              </a:ext>
            </a:extLst>
          </p:cNvPr>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Nineteen read endpoints feeding the public site. Unblock as the underlying tables seed up.</a:t>
            </a:r>
            <a:endParaRPr lang="en-US" sz="2700" dirty="0"/>
          </a:p>
        </p:txBody>
      </p:sp>
      <p:sp>
        <p:nvSpPr>
          <p:cNvPr id="35" name="Text 33">
            <a:extLst>
              <a:ext uri="{FF2B5EF4-FFF2-40B4-BE49-F238E27FC236}">
                <a16:creationId xmlns:a16="http://schemas.microsoft.com/office/drawing/2014/main" id="{EFA748D6-D0BD-89BA-0B55-1D2147E8C783}"/>
              </a:ext>
            </a:extLst>
          </p:cNvPr>
          <p:cNvSpPr/>
          <p:nvPr/>
        </p:nvSpPr>
        <p:spPr>
          <a:xfrm>
            <a:off x="952500" y="4493605"/>
            <a:ext cx="5415457" cy="311944"/>
          </a:xfrm>
          <a:prstGeom prst="rect">
            <a:avLst/>
          </a:prstGeom>
          <a:noFill/>
          <a:ln/>
        </p:spPr>
        <p:txBody>
          <a:bodyPr wrap="square" lIns="25400" tIns="25400" rIns="25400" bIns="25400" rtlCol="0" anchor="t">
            <a:normAutofit/>
          </a:bodyPr>
          <a:lstStyle/>
          <a:p>
            <a:pPr marL="0" indent="0" algn="l">
              <a:buNone/>
            </a:pPr>
            <a:r>
              <a:rPr lang="en-US" sz="1650" kern="0" spc="264" dirty="0">
                <a:solidFill>
                  <a:srgbClr val="A8854A"/>
                </a:solidFill>
                <a:latin typeface="Arial" pitchFamily="34" charset="0"/>
                <a:ea typeface="Arial" pitchFamily="34" charset="-122"/>
                <a:cs typeface="Arial" pitchFamily="34" charset="-120"/>
              </a:rPr>
              <a:t>— DISCOVERY · 7</a:t>
            </a:r>
            <a:endParaRPr lang="en-US" sz="1650" dirty="0"/>
          </a:p>
        </p:txBody>
      </p:sp>
      <p:sp>
        <p:nvSpPr>
          <p:cNvPr id="36" name="Shape 34">
            <a:extLst>
              <a:ext uri="{FF2B5EF4-FFF2-40B4-BE49-F238E27FC236}">
                <a16:creationId xmlns:a16="http://schemas.microsoft.com/office/drawing/2014/main" id="{73C0073F-743D-AE7E-43CE-235AF758DC52}"/>
              </a:ext>
            </a:extLst>
          </p:cNvPr>
          <p:cNvSpPr/>
          <p:nvPr/>
        </p:nvSpPr>
        <p:spPr>
          <a:xfrm>
            <a:off x="952500" y="4919811"/>
            <a:ext cx="5257726" cy="714375"/>
          </a:xfrm>
          <a:prstGeom prst="rect">
            <a:avLst/>
          </a:prstGeom>
          <a:solidFill>
            <a:srgbClr val="FAF7F0"/>
          </a:solidFill>
          <a:ln w="11906">
            <a:solidFill>
              <a:srgbClr val="D8D1C0"/>
            </a:solidFill>
            <a:prstDash val="solid"/>
          </a:ln>
        </p:spPr>
      </p:sp>
      <p:sp>
        <p:nvSpPr>
          <p:cNvPr id="37" name="Text 35">
            <a:extLst>
              <a:ext uri="{FF2B5EF4-FFF2-40B4-BE49-F238E27FC236}">
                <a16:creationId xmlns:a16="http://schemas.microsoft.com/office/drawing/2014/main" id="{3BB63C55-4246-F90F-1FFB-EC77EF3F979C}"/>
              </a:ext>
            </a:extLst>
          </p:cNvPr>
          <p:cNvSpPr/>
          <p:nvPr/>
        </p:nvSpPr>
        <p:spPr>
          <a:xfrm>
            <a:off x="1173882" y="5122217"/>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pecial </a:t>
            </a:r>
            <a:r>
              <a:rPr lang="en-US" dirty="0">
                <a:solidFill>
                  <a:srgbClr val="0F1419"/>
                </a:solidFill>
                <a:latin typeface="Arial" pitchFamily="34" charset="0"/>
                <a:ea typeface="Arial" pitchFamily="34" charset="-122"/>
                <a:cs typeface="Arial" pitchFamily="34" charset="-120"/>
              </a:rPr>
              <a:t>O</a:t>
            </a:r>
            <a:r>
              <a:rPr lang="en-US" sz="1800" dirty="0">
                <a:solidFill>
                  <a:srgbClr val="0F1419"/>
                </a:solidFill>
                <a:latin typeface="Arial" pitchFamily="34" charset="0"/>
                <a:ea typeface="Arial" pitchFamily="34" charset="-122"/>
                <a:cs typeface="Arial" pitchFamily="34" charset="-120"/>
              </a:rPr>
              <a:t>ffers</a:t>
            </a:r>
            <a:endParaRPr lang="en-US" sz="1800" dirty="0"/>
          </a:p>
        </p:txBody>
      </p:sp>
      <p:sp>
        <p:nvSpPr>
          <p:cNvPr id="38" name="Shape 36">
            <a:extLst>
              <a:ext uri="{FF2B5EF4-FFF2-40B4-BE49-F238E27FC236}">
                <a16:creationId xmlns:a16="http://schemas.microsoft.com/office/drawing/2014/main" id="{2AE27847-EA85-5106-798B-6647B8048107}"/>
              </a:ext>
            </a:extLst>
          </p:cNvPr>
          <p:cNvSpPr/>
          <p:nvPr/>
        </p:nvSpPr>
        <p:spPr>
          <a:xfrm>
            <a:off x="952500" y="5767387"/>
            <a:ext cx="5257726" cy="714375"/>
          </a:xfrm>
          <a:prstGeom prst="rect">
            <a:avLst/>
          </a:prstGeom>
          <a:solidFill>
            <a:srgbClr val="FAF7F0"/>
          </a:solidFill>
          <a:ln w="11906">
            <a:solidFill>
              <a:srgbClr val="D8D1C0"/>
            </a:solidFill>
            <a:prstDash val="solid"/>
          </a:ln>
        </p:spPr>
      </p:sp>
      <p:sp>
        <p:nvSpPr>
          <p:cNvPr id="39" name="Text 37">
            <a:extLst>
              <a:ext uri="{FF2B5EF4-FFF2-40B4-BE49-F238E27FC236}">
                <a16:creationId xmlns:a16="http://schemas.microsoft.com/office/drawing/2014/main" id="{12360DD7-AE97-7AB6-B7EE-277E187C7E1E}"/>
              </a:ext>
            </a:extLst>
          </p:cNvPr>
          <p:cNvSpPr/>
          <p:nvPr/>
        </p:nvSpPr>
        <p:spPr>
          <a:xfrm>
            <a:off x="1173882" y="5969794"/>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P</a:t>
            </a:r>
            <a:r>
              <a:rPr lang="en-US" sz="1800" dirty="0">
                <a:solidFill>
                  <a:srgbClr val="0F1419"/>
                </a:solidFill>
                <a:latin typeface="Arial" pitchFamily="34" charset="0"/>
                <a:ea typeface="Arial" pitchFamily="34" charset="-122"/>
                <a:cs typeface="Arial" pitchFamily="34" charset="-120"/>
              </a:rPr>
              <a:t>opular </a:t>
            </a:r>
            <a:r>
              <a:rPr lang="en-US" dirty="0">
                <a:solidFill>
                  <a:srgbClr val="0F1419"/>
                </a:solidFill>
                <a:latin typeface="Arial" pitchFamily="34" charset="0"/>
                <a:ea typeface="Arial" pitchFamily="34" charset="-122"/>
                <a:cs typeface="Arial" pitchFamily="34" charset="-120"/>
              </a:rPr>
              <a:t>H</a:t>
            </a:r>
            <a:r>
              <a:rPr lang="en-US" sz="1800" dirty="0">
                <a:solidFill>
                  <a:srgbClr val="0F1419"/>
                </a:solidFill>
                <a:latin typeface="Arial" pitchFamily="34" charset="0"/>
                <a:ea typeface="Arial" pitchFamily="34" charset="-122"/>
                <a:cs typeface="Arial" pitchFamily="34" charset="-120"/>
              </a:rPr>
              <a:t>otels</a:t>
            </a:r>
            <a:endParaRPr lang="en-US" sz="1800" dirty="0"/>
          </a:p>
        </p:txBody>
      </p:sp>
      <p:sp>
        <p:nvSpPr>
          <p:cNvPr id="40" name="Shape 38">
            <a:extLst>
              <a:ext uri="{FF2B5EF4-FFF2-40B4-BE49-F238E27FC236}">
                <a16:creationId xmlns:a16="http://schemas.microsoft.com/office/drawing/2014/main" id="{872CEB3E-678B-66A8-C0CC-06E8E908D8EC}"/>
              </a:ext>
            </a:extLst>
          </p:cNvPr>
          <p:cNvSpPr/>
          <p:nvPr/>
        </p:nvSpPr>
        <p:spPr>
          <a:xfrm>
            <a:off x="952500" y="6614964"/>
            <a:ext cx="5257726" cy="714375"/>
          </a:xfrm>
          <a:prstGeom prst="rect">
            <a:avLst/>
          </a:prstGeom>
          <a:solidFill>
            <a:srgbClr val="FAF7F0"/>
          </a:solidFill>
          <a:ln w="11906">
            <a:solidFill>
              <a:srgbClr val="D8D1C0"/>
            </a:solidFill>
            <a:prstDash val="solid"/>
          </a:ln>
        </p:spPr>
      </p:sp>
      <p:sp>
        <p:nvSpPr>
          <p:cNvPr id="41" name="Text 39">
            <a:extLst>
              <a:ext uri="{FF2B5EF4-FFF2-40B4-BE49-F238E27FC236}">
                <a16:creationId xmlns:a16="http://schemas.microsoft.com/office/drawing/2014/main" id="{846CECDE-3726-447D-2996-0130A4250E8D}"/>
              </a:ext>
            </a:extLst>
          </p:cNvPr>
          <p:cNvSpPr/>
          <p:nvPr/>
        </p:nvSpPr>
        <p:spPr>
          <a:xfrm>
            <a:off x="1173882" y="6817370"/>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P</a:t>
            </a:r>
            <a:r>
              <a:rPr lang="en-US" sz="1800" dirty="0">
                <a:solidFill>
                  <a:srgbClr val="0F1419"/>
                </a:solidFill>
                <a:latin typeface="Arial" pitchFamily="34" charset="0"/>
                <a:ea typeface="Arial" pitchFamily="34" charset="-122"/>
                <a:cs typeface="Arial" pitchFamily="34" charset="-120"/>
              </a:rPr>
              <a:t>opular </a:t>
            </a:r>
            <a:r>
              <a:rPr lang="en-US" dirty="0">
                <a:solidFill>
                  <a:srgbClr val="0F1419"/>
                </a:solidFill>
                <a:latin typeface="Arial" pitchFamily="34" charset="0"/>
                <a:ea typeface="Arial" pitchFamily="34" charset="-122"/>
                <a:cs typeface="Arial" pitchFamily="34" charset="-120"/>
              </a:rPr>
              <a:t>D</a:t>
            </a:r>
            <a:r>
              <a:rPr lang="en-US" sz="1800" dirty="0">
                <a:solidFill>
                  <a:srgbClr val="0F1419"/>
                </a:solidFill>
                <a:latin typeface="Arial" pitchFamily="34" charset="0"/>
                <a:ea typeface="Arial" pitchFamily="34" charset="-122"/>
                <a:cs typeface="Arial" pitchFamily="34" charset="-120"/>
              </a:rPr>
              <a:t>estinations</a:t>
            </a:r>
            <a:endParaRPr lang="en-US" sz="1800" dirty="0"/>
          </a:p>
        </p:txBody>
      </p:sp>
      <p:sp>
        <p:nvSpPr>
          <p:cNvPr id="42" name="Shape 40">
            <a:extLst>
              <a:ext uri="{FF2B5EF4-FFF2-40B4-BE49-F238E27FC236}">
                <a16:creationId xmlns:a16="http://schemas.microsoft.com/office/drawing/2014/main" id="{15D4C0A4-3F20-05D3-A582-FAEDB03F44C8}"/>
              </a:ext>
            </a:extLst>
          </p:cNvPr>
          <p:cNvSpPr/>
          <p:nvPr/>
        </p:nvSpPr>
        <p:spPr>
          <a:xfrm>
            <a:off x="952500" y="7462540"/>
            <a:ext cx="5257726" cy="714375"/>
          </a:xfrm>
          <a:prstGeom prst="rect">
            <a:avLst/>
          </a:prstGeom>
          <a:solidFill>
            <a:srgbClr val="FAF7F0"/>
          </a:solidFill>
          <a:ln w="11906">
            <a:solidFill>
              <a:srgbClr val="D8D1C0"/>
            </a:solidFill>
            <a:prstDash val="solid"/>
          </a:ln>
        </p:spPr>
      </p:sp>
      <p:sp>
        <p:nvSpPr>
          <p:cNvPr id="43" name="Text 41">
            <a:extLst>
              <a:ext uri="{FF2B5EF4-FFF2-40B4-BE49-F238E27FC236}">
                <a16:creationId xmlns:a16="http://schemas.microsoft.com/office/drawing/2014/main" id="{BE781EFB-E1EB-6D5E-5FAE-4AE380A26222}"/>
              </a:ext>
            </a:extLst>
          </p:cNvPr>
          <p:cNvSpPr/>
          <p:nvPr/>
        </p:nvSpPr>
        <p:spPr>
          <a:xfrm>
            <a:off x="1173882" y="7664946"/>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P</a:t>
            </a:r>
            <a:r>
              <a:rPr lang="en-US" sz="1800" dirty="0">
                <a:solidFill>
                  <a:srgbClr val="0F1419"/>
                </a:solidFill>
                <a:latin typeface="Arial" pitchFamily="34" charset="0"/>
                <a:ea typeface="Arial" pitchFamily="34" charset="-122"/>
                <a:cs typeface="Arial" pitchFamily="34" charset="-120"/>
              </a:rPr>
              <a:t>opular </a:t>
            </a:r>
            <a:r>
              <a:rPr lang="en-US" dirty="0">
                <a:solidFill>
                  <a:srgbClr val="0F1419"/>
                </a:solidFill>
                <a:latin typeface="Arial" pitchFamily="34" charset="0"/>
                <a:ea typeface="Arial" pitchFamily="34" charset="-122"/>
                <a:cs typeface="Arial" pitchFamily="34" charset="-120"/>
              </a:rPr>
              <a:t>F</a:t>
            </a:r>
            <a:r>
              <a:rPr lang="en-US" sz="1800" dirty="0">
                <a:solidFill>
                  <a:srgbClr val="0F1419"/>
                </a:solidFill>
                <a:latin typeface="Arial" pitchFamily="34" charset="0"/>
                <a:ea typeface="Arial" pitchFamily="34" charset="-122"/>
                <a:cs typeface="Arial" pitchFamily="34" charset="-120"/>
              </a:rPr>
              <a:t>oreign</a:t>
            </a:r>
            <a:endParaRPr lang="en-US" sz="1800" dirty="0"/>
          </a:p>
        </p:txBody>
      </p:sp>
      <p:sp>
        <p:nvSpPr>
          <p:cNvPr id="44" name="Shape 42">
            <a:extLst>
              <a:ext uri="{FF2B5EF4-FFF2-40B4-BE49-F238E27FC236}">
                <a16:creationId xmlns:a16="http://schemas.microsoft.com/office/drawing/2014/main" id="{8F6F50F7-ECC3-EFAD-1783-C80E2E7068BF}"/>
              </a:ext>
            </a:extLst>
          </p:cNvPr>
          <p:cNvSpPr/>
          <p:nvPr/>
        </p:nvSpPr>
        <p:spPr>
          <a:xfrm>
            <a:off x="952500" y="8310116"/>
            <a:ext cx="5257726" cy="714375"/>
          </a:xfrm>
          <a:prstGeom prst="rect">
            <a:avLst/>
          </a:prstGeom>
          <a:solidFill>
            <a:srgbClr val="FAF7F0"/>
          </a:solidFill>
          <a:ln w="11906">
            <a:solidFill>
              <a:srgbClr val="D8D1C0"/>
            </a:solidFill>
            <a:prstDash val="solid"/>
          </a:ln>
        </p:spPr>
      </p:sp>
      <p:sp>
        <p:nvSpPr>
          <p:cNvPr id="45" name="Text 43">
            <a:extLst>
              <a:ext uri="{FF2B5EF4-FFF2-40B4-BE49-F238E27FC236}">
                <a16:creationId xmlns:a16="http://schemas.microsoft.com/office/drawing/2014/main" id="{C49A7B73-F395-77B2-214A-EC3AC9EB4334}"/>
              </a:ext>
            </a:extLst>
          </p:cNvPr>
          <p:cNvSpPr/>
          <p:nvPr/>
        </p:nvSpPr>
        <p:spPr>
          <a:xfrm>
            <a:off x="1173882" y="8512522"/>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B</a:t>
            </a:r>
            <a:r>
              <a:rPr lang="en-US" sz="1800" dirty="0">
                <a:solidFill>
                  <a:srgbClr val="0F1419"/>
                </a:solidFill>
                <a:latin typeface="Arial" pitchFamily="34" charset="0"/>
                <a:ea typeface="Arial" pitchFamily="34" charset="-122"/>
                <a:cs typeface="Arial" pitchFamily="34" charset="-120"/>
              </a:rPr>
              <a:t>anners</a:t>
            </a:r>
            <a:endParaRPr lang="en-US" sz="1800" dirty="0"/>
          </a:p>
        </p:txBody>
      </p:sp>
      <p:sp>
        <p:nvSpPr>
          <p:cNvPr id="46" name="Shape 44">
            <a:extLst>
              <a:ext uri="{FF2B5EF4-FFF2-40B4-BE49-F238E27FC236}">
                <a16:creationId xmlns:a16="http://schemas.microsoft.com/office/drawing/2014/main" id="{64474531-D4CE-F9BF-D06B-D741DCB2C14E}"/>
              </a:ext>
            </a:extLst>
          </p:cNvPr>
          <p:cNvSpPr/>
          <p:nvPr/>
        </p:nvSpPr>
        <p:spPr>
          <a:xfrm>
            <a:off x="6720477" y="4919811"/>
            <a:ext cx="5257726" cy="714375"/>
          </a:xfrm>
          <a:prstGeom prst="rect">
            <a:avLst/>
          </a:prstGeom>
          <a:solidFill>
            <a:srgbClr val="FAF7F0"/>
          </a:solidFill>
          <a:ln w="11906">
            <a:solidFill>
              <a:srgbClr val="D8D1C0"/>
            </a:solidFill>
            <a:prstDash val="solid"/>
          </a:ln>
        </p:spPr>
      </p:sp>
      <p:sp>
        <p:nvSpPr>
          <p:cNvPr id="47" name="Text 45">
            <a:extLst>
              <a:ext uri="{FF2B5EF4-FFF2-40B4-BE49-F238E27FC236}">
                <a16:creationId xmlns:a16="http://schemas.microsoft.com/office/drawing/2014/main" id="{C4009535-E222-BADB-2837-19B8057EC027}"/>
              </a:ext>
            </a:extLst>
          </p:cNvPr>
          <p:cNvSpPr/>
          <p:nvPr/>
        </p:nvSpPr>
        <p:spPr>
          <a:xfrm>
            <a:off x="6941859" y="5122217"/>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eo </a:t>
            </a:r>
            <a:r>
              <a:rPr lang="en-US" dirty="0">
                <a:solidFill>
                  <a:srgbClr val="0F1419"/>
                </a:solidFill>
                <a:latin typeface="Arial" pitchFamily="34" charset="0"/>
                <a:ea typeface="Arial" pitchFamily="34" charset="-122"/>
                <a:cs typeface="Arial" pitchFamily="34" charset="-120"/>
              </a:rPr>
              <a:t>C</a:t>
            </a:r>
            <a:r>
              <a:rPr lang="en-US" sz="1800" dirty="0">
                <a:solidFill>
                  <a:srgbClr val="0F1419"/>
                </a:solidFill>
                <a:latin typeface="Arial" pitchFamily="34" charset="0"/>
                <a:ea typeface="Arial" pitchFamily="34" charset="-122"/>
                <a:cs typeface="Arial" pitchFamily="34" charset="-120"/>
              </a:rPr>
              <a:t>ontent</a:t>
            </a:r>
            <a:endParaRPr lang="en-US" sz="1800" dirty="0"/>
          </a:p>
        </p:txBody>
      </p:sp>
      <p:sp>
        <p:nvSpPr>
          <p:cNvPr id="48" name="Shape 46">
            <a:extLst>
              <a:ext uri="{FF2B5EF4-FFF2-40B4-BE49-F238E27FC236}">
                <a16:creationId xmlns:a16="http://schemas.microsoft.com/office/drawing/2014/main" id="{D749909D-41E3-DF68-1769-4DAC6F2D897E}"/>
              </a:ext>
            </a:extLst>
          </p:cNvPr>
          <p:cNvSpPr/>
          <p:nvPr/>
        </p:nvSpPr>
        <p:spPr>
          <a:xfrm>
            <a:off x="6720477" y="5767387"/>
            <a:ext cx="5257726" cy="714375"/>
          </a:xfrm>
          <a:prstGeom prst="rect">
            <a:avLst/>
          </a:prstGeom>
          <a:solidFill>
            <a:srgbClr val="FAF7F0"/>
          </a:solidFill>
          <a:ln w="11906">
            <a:solidFill>
              <a:srgbClr val="D8D1C0"/>
            </a:solidFill>
            <a:prstDash val="solid"/>
          </a:ln>
        </p:spPr>
      </p:sp>
      <p:sp>
        <p:nvSpPr>
          <p:cNvPr id="49" name="Text 47">
            <a:extLst>
              <a:ext uri="{FF2B5EF4-FFF2-40B4-BE49-F238E27FC236}">
                <a16:creationId xmlns:a16="http://schemas.microsoft.com/office/drawing/2014/main" id="{AB621D38-B1DB-38B0-A00D-95334CA9DA64}"/>
              </a:ext>
            </a:extLst>
          </p:cNvPr>
          <p:cNvSpPr/>
          <p:nvPr/>
        </p:nvSpPr>
        <p:spPr>
          <a:xfrm>
            <a:off x="6941859" y="5969793"/>
            <a:ext cx="4959411" cy="347663"/>
          </a:xfrm>
          <a:prstGeom prst="rect">
            <a:avLst/>
          </a:prstGeom>
          <a:noFill/>
          <a:ln/>
        </p:spPr>
        <p:txBody>
          <a:bodyPr wrap="square" lIns="25400" tIns="25400" rIns="25400" bIns="25400" rtlCol="0" anchor="t">
            <a:normAutofit/>
          </a:bodyPr>
          <a:lstStyle/>
          <a:p>
            <a:pPr marL="0" indent="0" algn="l">
              <a:buNone/>
            </a:pPr>
            <a:r>
              <a:rPr lang="en-US" dirty="0">
                <a:solidFill>
                  <a:srgbClr val="0F1419"/>
                </a:solidFill>
                <a:latin typeface="Arial" pitchFamily="34" charset="0"/>
                <a:ea typeface="Arial" pitchFamily="34" charset="-122"/>
                <a:cs typeface="Arial" pitchFamily="34" charset="-120"/>
              </a:rPr>
              <a:t>S</a:t>
            </a:r>
            <a:r>
              <a:rPr lang="en-US" sz="1800" dirty="0">
                <a:solidFill>
                  <a:srgbClr val="0F1419"/>
                </a:solidFill>
                <a:latin typeface="Arial" pitchFamily="34" charset="0"/>
                <a:ea typeface="Arial" pitchFamily="34" charset="-122"/>
                <a:cs typeface="Arial" pitchFamily="34" charset="-120"/>
              </a:rPr>
              <a:t>eo </a:t>
            </a:r>
            <a:r>
              <a:rPr lang="en-US" dirty="0">
                <a:solidFill>
                  <a:srgbClr val="0F1419"/>
                </a:solidFill>
                <a:latin typeface="Arial" pitchFamily="34" charset="0"/>
                <a:ea typeface="Arial" pitchFamily="34" charset="-122"/>
                <a:cs typeface="Arial" pitchFamily="34" charset="-120"/>
              </a:rPr>
              <a:t>C</a:t>
            </a:r>
            <a:r>
              <a:rPr lang="en-US" sz="1800" dirty="0">
                <a:solidFill>
                  <a:srgbClr val="0F1419"/>
                </a:solidFill>
                <a:latin typeface="Arial" pitchFamily="34" charset="0"/>
                <a:ea typeface="Arial" pitchFamily="34" charset="-122"/>
                <a:cs typeface="Arial" pitchFamily="34" charset="-120"/>
              </a:rPr>
              <a:t>ontent </a:t>
            </a:r>
            <a:r>
              <a:rPr lang="en-US" dirty="0">
                <a:solidFill>
                  <a:srgbClr val="0F1419"/>
                </a:solidFill>
                <a:latin typeface="Arial" pitchFamily="34" charset="0"/>
                <a:ea typeface="Arial" pitchFamily="34" charset="-122"/>
                <a:cs typeface="Arial" pitchFamily="34" charset="-120"/>
              </a:rPr>
              <a:t>C</a:t>
            </a:r>
            <a:r>
              <a:rPr lang="en-US" sz="1800" dirty="0">
                <a:solidFill>
                  <a:srgbClr val="0F1419"/>
                </a:solidFill>
                <a:latin typeface="Arial" pitchFamily="34" charset="0"/>
                <a:ea typeface="Arial" pitchFamily="34" charset="-122"/>
                <a:cs typeface="Arial" pitchFamily="34" charset="-120"/>
              </a:rPr>
              <a:t>ity</a:t>
            </a:r>
            <a:endParaRPr lang="en-US" sz="1800" dirty="0"/>
          </a:p>
        </p:txBody>
      </p:sp>
      <p:sp>
        <p:nvSpPr>
          <p:cNvPr id="53" name="Text 1">
            <a:extLst>
              <a:ext uri="{FF2B5EF4-FFF2-40B4-BE49-F238E27FC236}">
                <a16:creationId xmlns:a16="http://schemas.microsoft.com/office/drawing/2014/main" id="{6D235586-DC24-A00F-2D0A-DE2E12756B6B}"/>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19 / 22</a:t>
            </a:r>
            <a:endParaRPr lang="en-US" sz="1800" dirty="0"/>
          </a:p>
        </p:txBody>
      </p:sp>
    </p:spTree>
    <p:extLst>
      <p:ext uri="{BB962C8B-B14F-4D97-AF65-F5344CB8AC3E}">
        <p14:creationId xmlns:p14="http://schemas.microsoft.com/office/powerpoint/2010/main" val="2569594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1EA"/>
        </a:solidFill>
        <a:effectLst/>
      </p:bgPr>
    </p:bg>
    <p:spTree>
      <p:nvGrpSpPr>
        <p:cNvPr id="1" name="">
          <a:extLst>
            <a:ext uri="{FF2B5EF4-FFF2-40B4-BE49-F238E27FC236}">
              <a16:creationId xmlns:a16="http://schemas.microsoft.com/office/drawing/2014/main" id="{9A92F848-D935-A0F4-372E-0ABAAE44AE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74D6C4-BB2B-6C1E-B2EA-784BC4EB2C8E}"/>
              </a:ext>
            </a:extLst>
          </p:cNvPr>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4</a:t>
            </a:r>
            <a:endParaRPr lang="en-US" sz="1800" dirty="0"/>
          </a:p>
        </p:txBody>
      </p:sp>
      <p:sp>
        <p:nvSpPr>
          <p:cNvPr id="6" name="Text 4">
            <a:extLst>
              <a:ext uri="{FF2B5EF4-FFF2-40B4-BE49-F238E27FC236}">
                <a16:creationId xmlns:a16="http://schemas.microsoft.com/office/drawing/2014/main" id="{4CBEEC59-FBFD-B417-BFC6-909196312FEB}"/>
              </a:ext>
            </a:extLst>
          </p:cNvPr>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COMPONENT</a:t>
            </a:r>
            <a:endParaRPr lang="en-US" sz="1800" dirty="0"/>
          </a:p>
        </p:txBody>
      </p:sp>
      <p:sp>
        <p:nvSpPr>
          <p:cNvPr id="8" name="Text 6">
            <a:extLst>
              <a:ext uri="{FF2B5EF4-FFF2-40B4-BE49-F238E27FC236}">
                <a16:creationId xmlns:a16="http://schemas.microsoft.com/office/drawing/2014/main" id="{5861662C-BF0E-F13B-F868-B28D0FAF4F56}"/>
              </a:ext>
            </a:extLst>
          </p:cNvPr>
          <p:cNvSpPr/>
          <p:nvPr/>
        </p:nvSpPr>
        <p:spPr>
          <a:xfrm>
            <a:off x="952500" y="3308635"/>
            <a:ext cx="12753975" cy="998041"/>
          </a:xfrm>
          <a:prstGeom prst="rect">
            <a:avLst/>
          </a:prstGeom>
          <a:noFill/>
          <a:ln/>
        </p:spPr>
        <p:txBody>
          <a:bodyPr wrap="square" lIns="25400" tIns="25400" rIns="25400" bIns="25400" rtlCol="0" anchor="t">
            <a:normAutofit/>
          </a:bodyPr>
          <a:lstStyle/>
          <a:p>
            <a:pPr marL="0" indent="0" algn="l">
              <a:lnSpc>
                <a:spcPct val="140000"/>
              </a:lnSpc>
              <a:buNone/>
            </a:pPr>
            <a:endParaRPr lang="en-US" sz="2700" dirty="0"/>
          </a:p>
        </p:txBody>
      </p:sp>
      <p:sp>
        <p:nvSpPr>
          <p:cNvPr id="9" name="Shape 7">
            <a:extLst>
              <a:ext uri="{FF2B5EF4-FFF2-40B4-BE49-F238E27FC236}">
                <a16:creationId xmlns:a16="http://schemas.microsoft.com/office/drawing/2014/main" id="{441CC518-0F81-3775-5727-417866328BEB}"/>
              </a:ext>
            </a:extLst>
          </p:cNvPr>
          <p:cNvSpPr/>
          <p:nvPr/>
        </p:nvSpPr>
        <p:spPr>
          <a:xfrm>
            <a:off x="952500" y="9322594"/>
            <a:ext cx="16383000" cy="11906"/>
          </a:xfrm>
          <a:prstGeom prst="rect">
            <a:avLst/>
          </a:prstGeom>
          <a:solidFill>
            <a:srgbClr val="D8D1C0"/>
          </a:solidFill>
          <a:ln/>
        </p:spPr>
      </p:sp>
      <p:sp>
        <p:nvSpPr>
          <p:cNvPr id="10" name="Shape 8">
            <a:extLst>
              <a:ext uri="{FF2B5EF4-FFF2-40B4-BE49-F238E27FC236}">
                <a16:creationId xmlns:a16="http://schemas.microsoft.com/office/drawing/2014/main" id="{6D6D226D-5093-13FB-4074-5C837680F636}"/>
              </a:ext>
            </a:extLst>
          </p:cNvPr>
          <p:cNvSpPr/>
          <p:nvPr/>
        </p:nvSpPr>
        <p:spPr>
          <a:xfrm>
            <a:off x="952500" y="4725665"/>
            <a:ext cx="16383000" cy="11906"/>
          </a:xfrm>
          <a:prstGeom prst="rect">
            <a:avLst/>
          </a:prstGeom>
          <a:solidFill>
            <a:srgbClr val="D8D1C0"/>
          </a:solidFill>
          <a:ln/>
        </p:spPr>
      </p:sp>
      <p:sp>
        <p:nvSpPr>
          <p:cNvPr id="11" name="Shape 9">
            <a:extLst>
              <a:ext uri="{FF2B5EF4-FFF2-40B4-BE49-F238E27FC236}">
                <a16:creationId xmlns:a16="http://schemas.microsoft.com/office/drawing/2014/main" id="{887D2D1E-17C6-C118-B50E-FC172B356BAB}"/>
              </a:ext>
            </a:extLst>
          </p:cNvPr>
          <p:cNvSpPr/>
          <p:nvPr/>
        </p:nvSpPr>
        <p:spPr>
          <a:xfrm>
            <a:off x="6620447" y="4737571"/>
            <a:ext cx="11906" cy="4585022"/>
          </a:xfrm>
          <a:prstGeom prst="rect">
            <a:avLst/>
          </a:prstGeom>
          <a:solidFill>
            <a:srgbClr val="D8D1C0"/>
          </a:solidFill>
          <a:ln/>
        </p:spPr>
      </p:sp>
      <p:sp>
        <p:nvSpPr>
          <p:cNvPr id="12" name="Text 10">
            <a:extLst>
              <a:ext uri="{FF2B5EF4-FFF2-40B4-BE49-F238E27FC236}">
                <a16:creationId xmlns:a16="http://schemas.microsoft.com/office/drawing/2014/main" id="{C9C9F079-CD73-7AE5-BED7-6EB37BA1D830}"/>
              </a:ext>
            </a:extLst>
          </p:cNvPr>
          <p:cNvSpPr/>
          <p:nvPr/>
        </p:nvSpPr>
        <p:spPr>
          <a:xfrm>
            <a:off x="1180951"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P</a:t>
            </a:r>
            <a:r>
              <a:rPr lang="en-US" sz="1800" kern="0" spc="144" dirty="0">
                <a:solidFill>
                  <a:srgbClr val="A8854A"/>
                </a:solidFill>
                <a:latin typeface="Arial" pitchFamily="34" charset="0"/>
                <a:ea typeface="Arial" pitchFamily="34" charset="-122"/>
                <a:cs typeface="Arial" pitchFamily="34" charset="-120"/>
              </a:rPr>
              <a:t>1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15" name="Text 13">
            <a:extLst>
              <a:ext uri="{FF2B5EF4-FFF2-40B4-BE49-F238E27FC236}">
                <a16:creationId xmlns:a16="http://schemas.microsoft.com/office/drawing/2014/main" id="{854C8414-9934-7455-4CBC-C8F7A598B983}"/>
              </a:ext>
            </a:extLst>
          </p:cNvPr>
          <p:cNvSpPr/>
          <p:nvPr/>
        </p:nvSpPr>
        <p:spPr>
          <a:xfrm>
            <a:off x="1180951" y="8755931"/>
            <a:ext cx="3735750" cy="300038"/>
          </a:xfrm>
          <a:prstGeom prst="rect">
            <a:avLst/>
          </a:prstGeom>
          <a:noFill/>
          <a:ln/>
        </p:spPr>
        <p:txBody>
          <a:bodyPr wrap="square" lIns="25400" tIns="25400" rIns="25400" bIns="25400" rtlCol="0" anchor="t">
            <a:normAutofit lnSpcReduction="10000"/>
          </a:bodyPr>
          <a:lstStyle/>
          <a:p>
            <a:pPr marL="0" indent="0" algn="l">
              <a:buNone/>
            </a:pPr>
            <a:r>
              <a:rPr lang="en-US" kern="0" spc="144" dirty="0">
                <a:solidFill>
                  <a:srgbClr val="A8854A"/>
                </a:solidFill>
                <a:latin typeface="Arial" pitchFamily="34" charset="0"/>
                <a:ea typeface="Arial" pitchFamily="34" charset="-122"/>
                <a:cs typeface="Arial" pitchFamily="34" charset="-120"/>
              </a:rPr>
              <a:t>7</a:t>
            </a:r>
            <a:r>
              <a:rPr lang="en-US" sz="1800" kern="0" spc="144" dirty="0">
                <a:solidFill>
                  <a:srgbClr val="A8854A"/>
                </a:solidFill>
                <a:latin typeface="Arial" pitchFamily="34" charset="0"/>
                <a:ea typeface="Arial" pitchFamily="34" charset="-122"/>
                <a:cs typeface="Arial" pitchFamily="34" charset="-120"/>
              </a:rPr>
              <a:t> ENDPOINT</a:t>
            </a:r>
            <a:endParaRPr lang="en-US" sz="1800" dirty="0"/>
          </a:p>
        </p:txBody>
      </p:sp>
      <p:sp>
        <p:nvSpPr>
          <p:cNvPr id="16" name="Shape 14">
            <a:extLst>
              <a:ext uri="{FF2B5EF4-FFF2-40B4-BE49-F238E27FC236}">
                <a16:creationId xmlns:a16="http://schemas.microsoft.com/office/drawing/2014/main" id="{99982DD6-6317-6A91-61A6-0504F332781C}"/>
              </a:ext>
            </a:extLst>
          </p:cNvPr>
          <p:cNvSpPr/>
          <p:nvPr/>
        </p:nvSpPr>
        <p:spPr>
          <a:xfrm>
            <a:off x="12094241" y="4737571"/>
            <a:ext cx="11906" cy="4585022"/>
          </a:xfrm>
          <a:prstGeom prst="rect">
            <a:avLst/>
          </a:prstGeom>
          <a:solidFill>
            <a:srgbClr val="D8D1C0"/>
          </a:solidFill>
          <a:ln/>
        </p:spPr>
      </p:sp>
      <p:sp>
        <p:nvSpPr>
          <p:cNvPr id="17" name="Text 15">
            <a:extLst>
              <a:ext uri="{FF2B5EF4-FFF2-40B4-BE49-F238E27FC236}">
                <a16:creationId xmlns:a16="http://schemas.microsoft.com/office/drawing/2014/main" id="{3C8D2035-6FD5-CD00-0AB0-F0D61A800AD4}"/>
              </a:ext>
            </a:extLst>
          </p:cNvPr>
          <p:cNvSpPr/>
          <p:nvPr/>
        </p:nvSpPr>
        <p:spPr>
          <a:xfrm>
            <a:off x="7028227"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P2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18" name="Text 16">
            <a:extLst>
              <a:ext uri="{FF2B5EF4-FFF2-40B4-BE49-F238E27FC236}">
                <a16:creationId xmlns:a16="http://schemas.microsoft.com/office/drawing/2014/main" id="{F0E6F048-5AC7-E023-19BD-C65E5731A710}"/>
              </a:ext>
            </a:extLst>
          </p:cNvPr>
          <p:cNvSpPr/>
          <p:nvPr/>
        </p:nvSpPr>
        <p:spPr>
          <a:xfrm>
            <a:off x="7028227" y="5456597"/>
            <a:ext cx="3735750" cy="344872"/>
          </a:xfrm>
          <a:prstGeom prst="rect">
            <a:avLst/>
          </a:prstGeom>
          <a:noFill/>
          <a:ln/>
        </p:spPr>
        <p:txBody>
          <a:bodyPr wrap="square" lIns="25400" tIns="25400" rIns="25400" bIns="25400" rtlCol="0" anchor="t">
            <a:normAutofit lnSpcReduction="10000"/>
          </a:bodyPr>
          <a:lstStyle/>
          <a:p>
            <a:pPr>
              <a:lnSpc>
                <a:spcPct val="115000"/>
              </a:lnSpc>
            </a:pPr>
            <a:r>
              <a:rPr lang="en-US" b="1" dirty="0"/>
              <a:t>SEARCH</a:t>
            </a:r>
            <a:endParaRPr lang="en-US" sz="2100" dirty="0"/>
          </a:p>
        </p:txBody>
      </p:sp>
      <p:sp>
        <p:nvSpPr>
          <p:cNvPr id="20" name="Text 18">
            <a:extLst>
              <a:ext uri="{FF2B5EF4-FFF2-40B4-BE49-F238E27FC236}">
                <a16:creationId xmlns:a16="http://schemas.microsoft.com/office/drawing/2014/main" id="{0D58CFE5-6DC2-4400-AA40-83978CCDF464}"/>
              </a:ext>
            </a:extLst>
          </p:cNvPr>
          <p:cNvSpPr/>
          <p:nvPr/>
        </p:nvSpPr>
        <p:spPr>
          <a:xfrm>
            <a:off x="7028227" y="8755931"/>
            <a:ext cx="3735750"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ea typeface="Arial" pitchFamily="34" charset="-122"/>
                <a:cs typeface="Arial" pitchFamily="34" charset="-120"/>
              </a:rPr>
              <a:t>5 ENDPOINT</a:t>
            </a:r>
            <a:endParaRPr lang="en-US" dirty="0"/>
          </a:p>
        </p:txBody>
      </p:sp>
      <p:sp>
        <p:nvSpPr>
          <p:cNvPr id="21" name="Shape 19">
            <a:extLst>
              <a:ext uri="{FF2B5EF4-FFF2-40B4-BE49-F238E27FC236}">
                <a16:creationId xmlns:a16="http://schemas.microsoft.com/office/drawing/2014/main" id="{9199A14C-1495-90BE-2D97-740A63BBB60E}"/>
              </a:ext>
            </a:extLst>
          </p:cNvPr>
          <p:cNvSpPr/>
          <p:nvPr/>
        </p:nvSpPr>
        <p:spPr>
          <a:xfrm>
            <a:off x="17323335" y="4737571"/>
            <a:ext cx="11906" cy="4585022"/>
          </a:xfrm>
          <a:prstGeom prst="rect">
            <a:avLst/>
          </a:prstGeom>
          <a:solidFill>
            <a:srgbClr val="D8D1C0"/>
          </a:solidFill>
          <a:ln/>
        </p:spPr>
      </p:sp>
      <p:sp>
        <p:nvSpPr>
          <p:cNvPr id="22" name="Text 20">
            <a:extLst>
              <a:ext uri="{FF2B5EF4-FFF2-40B4-BE49-F238E27FC236}">
                <a16:creationId xmlns:a16="http://schemas.microsoft.com/office/drawing/2014/main" id="{42C62133-DE7F-6BED-1288-85780A258C09}"/>
              </a:ext>
            </a:extLst>
          </p:cNvPr>
          <p:cNvSpPr/>
          <p:nvPr/>
        </p:nvSpPr>
        <p:spPr>
          <a:xfrm>
            <a:off x="12437623" y="5042297"/>
            <a:ext cx="373575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A8854A"/>
                </a:solidFill>
                <a:latin typeface="Arial" pitchFamily="34" charset="0"/>
                <a:ea typeface="Arial" pitchFamily="34" charset="-122"/>
                <a:cs typeface="Arial" pitchFamily="34" charset="-120"/>
              </a:rPr>
              <a:t>P3 · </a:t>
            </a:r>
            <a:r>
              <a:rPr lang="en-US" sz="1800" kern="0" spc="144" dirty="0" err="1">
                <a:solidFill>
                  <a:srgbClr val="A8854A"/>
                </a:solidFill>
                <a:latin typeface="Arial" pitchFamily="34" charset="0"/>
                <a:ea typeface="Arial" pitchFamily="34" charset="-122"/>
                <a:cs typeface="Arial" pitchFamily="34" charset="-120"/>
              </a:rPr>
              <a:t>Wk</a:t>
            </a:r>
            <a:r>
              <a:rPr lang="en-US" sz="1800" kern="0" spc="144" dirty="0">
                <a:solidFill>
                  <a:srgbClr val="A8854A"/>
                </a:solidFill>
                <a:latin typeface="Arial" pitchFamily="34" charset="0"/>
                <a:ea typeface="Arial" pitchFamily="34" charset="-122"/>
                <a:cs typeface="Arial" pitchFamily="34" charset="-120"/>
              </a:rPr>
              <a:t> 1 – 2</a:t>
            </a:r>
            <a:endParaRPr lang="en-US" sz="1800" dirty="0"/>
          </a:p>
        </p:txBody>
      </p:sp>
      <p:sp>
        <p:nvSpPr>
          <p:cNvPr id="24" name="Text 22">
            <a:extLst>
              <a:ext uri="{FF2B5EF4-FFF2-40B4-BE49-F238E27FC236}">
                <a16:creationId xmlns:a16="http://schemas.microsoft.com/office/drawing/2014/main" id="{D1DAFA7D-5551-F12D-EDB9-B34CA8371023}"/>
              </a:ext>
            </a:extLst>
          </p:cNvPr>
          <p:cNvSpPr/>
          <p:nvPr/>
        </p:nvSpPr>
        <p:spPr>
          <a:xfrm>
            <a:off x="12437623" y="7803617"/>
            <a:ext cx="3735750" cy="723826"/>
          </a:xfrm>
          <a:prstGeom prst="rect">
            <a:avLst/>
          </a:prstGeom>
          <a:noFill/>
          <a:ln/>
        </p:spPr>
        <p:txBody>
          <a:bodyPr wrap="square" lIns="25400" tIns="25400" rIns="25400" bIns="25400" rtlCol="0" anchor="t">
            <a:normAutofit/>
          </a:bodyPr>
          <a:lstStyle/>
          <a:p>
            <a:pPr marL="0" indent="0" algn="l">
              <a:lnSpc>
                <a:spcPct val="150000"/>
              </a:lnSpc>
              <a:buNone/>
            </a:pPr>
            <a:endParaRPr lang="en-US" sz="1800" dirty="0"/>
          </a:p>
        </p:txBody>
      </p:sp>
      <p:sp>
        <p:nvSpPr>
          <p:cNvPr id="25" name="Text 23">
            <a:extLst>
              <a:ext uri="{FF2B5EF4-FFF2-40B4-BE49-F238E27FC236}">
                <a16:creationId xmlns:a16="http://schemas.microsoft.com/office/drawing/2014/main" id="{8DB71676-5C69-3955-CA2D-E5405649AE75}"/>
              </a:ext>
            </a:extLst>
          </p:cNvPr>
          <p:cNvSpPr/>
          <p:nvPr/>
        </p:nvSpPr>
        <p:spPr>
          <a:xfrm>
            <a:off x="12437623" y="8755931"/>
            <a:ext cx="3735750" cy="300038"/>
          </a:xfrm>
          <a:prstGeom prst="rect">
            <a:avLst/>
          </a:prstGeom>
          <a:noFill/>
          <a:ln/>
        </p:spPr>
        <p:txBody>
          <a:bodyPr wrap="square" lIns="25400" tIns="25400" rIns="25400" bIns="25400" rtlCol="0" anchor="t">
            <a:normAutofit lnSpcReduction="10000"/>
          </a:bodyPr>
          <a:lstStyle/>
          <a:p>
            <a:r>
              <a:rPr lang="en-US" kern="0" spc="144" dirty="0">
                <a:solidFill>
                  <a:srgbClr val="A8854A"/>
                </a:solidFill>
                <a:latin typeface="Arial" pitchFamily="34" charset="0"/>
                <a:cs typeface="Arial" pitchFamily="34" charset="-120"/>
              </a:rPr>
              <a:t>7 ENDPOINT</a:t>
            </a:r>
            <a:endParaRPr lang="en-US" dirty="0"/>
          </a:p>
        </p:txBody>
      </p:sp>
      <p:sp>
        <p:nvSpPr>
          <p:cNvPr id="35" name="Text 6">
            <a:extLst>
              <a:ext uri="{FF2B5EF4-FFF2-40B4-BE49-F238E27FC236}">
                <a16:creationId xmlns:a16="http://schemas.microsoft.com/office/drawing/2014/main" id="{0A59E5EF-56BE-72AF-5F2E-3483EF2C9A57}"/>
              </a:ext>
            </a:extLst>
          </p:cNvPr>
          <p:cNvSpPr/>
          <p:nvPr/>
        </p:nvSpPr>
        <p:spPr>
          <a:xfrm>
            <a:off x="952499" y="3214858"/>
            <a:ext cx="12753975" cy="99804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Nineteen read endpoints feeding the public site. Unblock as the underlying tables seed up.</a:t>
            </a:r>
          </a:p>
        </p:txBody>
      </p:sp>
      <p:sp>
        <p:nvSpPr>
          <p:cNvPr id="14" name="Text 5">
            <a:extLst>
              <a:ext uri="{FF2B5EF4-FFF2-40B4-BE49-F238E27FC236}">
                <a16:creationId xmlns:a16="http://schemas.microsoft.com/office/drawing/2014/main" id="{005CB8DD-EE4D-CA6E-DA6E-C047A87D8EBF}"/>
              </a:ext>
            </a:extLst>
          </p:cNvPr>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Public APIs.</a:t>
            </a:r>
            <a:endParaRPr lang="en-US" sz="6600" dirty="0"/>
          </a:p>
        </p:txBody>
      </p:sp>
      <p:sp>
        <p:nvSpPr>
          <p:cNvPr id="19" name="Text 16">
            <a:extLst>
              <a:ext uri="{FF2B5EF4-FFF2-40B4-BE49-F238E27FC236}">
                <a16:creationId xmlns:a16="http://schemas.microsoft.com/office/drawing/2014/main" id="{9C883568-C37E-E349-5C43-F703279BF188}"/>
              </a:ext>
            </a:extLst>
          </p:cNvPr>
          <p:cNvSpPr/>
          <p:nvPr/>
        </p:nvSpPr>
        <p:spPr>
          <a:xfrm>
            <a:off x="1180951" y="5445064"/>
            <a:ext cx="3735750" cy="344872"/>
          </a:xfrm>
          <a:prstGeom prst="rect">
            <a:avLst/>
          </a:prstGeom>
          <a:noFill/>
          <a:ln/>
        </p:spPr>
        <p:txBody>
          <a:bodyPr wrap="square" lIns="25400" tIns="25400" rIns="25400" bIns="25400" rtlCol="0" anchor="t">
            <a:normAutofit lnSpcReduction="10000"/>
          </a:bodyPr>
          <a:lstStyle/>
          <a:p>
            <a:pPr>
              <a:lnSpc>
                <a:spcPct val="115000"/>
              </a:lnSpc>
            </a:pPr>
            <a:r>
              <a:rPr lang="en-US" b="1" dirty="0"/>
              <a:t>HOTEL DETAILS</a:t>
            </a:r>
            <a:endParaRPr lang="en-US" sz="2100" dirty="0"/>
          </a:p>
        </p:txBody>
      </p:sp>
      <p:sp>
        <p:nvSpPr>
          <p:cNvPr id="26" name="Text 16">
            <a:extLst>
              <a:ext uri="{FF2B5EF4-FFF2-40B4-BE49-F238E27FC236}">
                <a16:creationId xmlns:a16="http://schemas.microsoft.com/office/drawing/2014/main" id="{EC08BD17-98C9-3A08-AC9A-672BA90F9DBF}"/>
              </a:ext>
            </a:extLst>
          </p:cNvPr>
          <p:cNvSpPr/>
          <p:nvPr/>
        </p:nvSpPr>
        <p:spPr>
          <a:xfrm>
            <a:off x="12437623" y="5468616"/>
            <a:ext cx="3735750" cy="344872"/>
          </a:xfrm>
          <a:prstGeom prst="rect">
            <a:avLst/>
          </a:prstGeom>
          <a:noFill/>
          <a:ln/>
        </p:spPr>
        <p:txBody>
          <a:bodyPr wrap="square" lIns="25400" tIns="25400" rIns="25400" bIns="25400" rtlCol="0" anchor="t">
            <a:normAutofit lnSpcReduction="10000"/>
          </a:bodyPr>
          <a:lstStyle/>
          <a:p>
            <a:pPr>
              <a:lnSpc>
                <a:spcPct val="115000"/>
              </a:lnSpc>
            </a:pPr>
            <a:r>
              <a:rPr lang="en-US" b="1" kern="0" spc="-21" dirty="0">
                <a:solidFill>
                  <a:srgbClr val="0F1419"/>
                </a:solidFill>
                <a:latin typeface="-apple-system" pitchFamily="34" charset="0"/>
                <a:ea typeface="-apple-system" pitchFamily="34" charset="-122"/>
                <a:cs typeface="-apple-system" pitchFamily="34" charset="-120"/>
              </a:rPr>
              <a:t>DISCOVERY</a:t>
            </a:r>
            <a:endParaRPr lang="en-US" sz="2100" dirty="0"/>
          </a:p>
        </p:txBody>
      </p:sp>
      <p:sp>
        <p:nvSpPr>
          <p:cNvPr id="27" name="Text 1">
            <a:extLst>
              <a:ext uri="{FF2B5EF4-FFF2-40B4-BE49-F238E27FC236}">
                <a16:creationId xmlns:a16="http://schemas.microsoft.com/office/drawing/2014/main" id="{90961889-DF26-0A8C-5BCA-C7C65EA0CCAC}"/>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20 / 22</a:t>
            </a:r>
            <a:endParaRPr lang="en-US" sz="1800" dirty="0"/>
          </a:p>
        </p:txBody>
      </p:sp>
    </p:spTree>
    <p:extLst>
      <p:ext uri="{BB962C8B-B14F-4D97-AF65-F5344CB8AC3E}">
        <p14:creationId xmlns:p14="http://schemas.microsoft.com/office/powerpoint/2010/main" val="3929331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3616756" cy="347663"/>
          </a:xfrm>
          <a:prstGeom prst="rect">
            <a:avLst/>
          </a:prstGeom>
          <a:noFill/>
          <a:ln/>
        </p:spPr>
        <p:txBody>
          <a:bodyPr wrap="square" lIns="25400" tIns="25400" rIns="25400" bIns="25400" rtlCol="0" anchor="t">
            <a:normAutofit fontScale="925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 / SECTION 5</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SECTION FIVE</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Page integration.</a:t>
            </a:r>
            <a:endParaRPr lang="en-US" sz="6600" dirty="0"/>
          </a:p>
        </p:txBody>
      </p:sp>
      <p:sp>
        <p:nvSpPr>
          <p:cNvPr id="8" name="Text 6"/>
          <p:cNvSpPr/>
          <p:nvPr/>
        </p:nvSpPr>
        <p:spPr>
          <a:xfrm>
            <a:off x="952500" y="3308635"/>
            <a:ext cx="12753975"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2A2F36"/>
                </a:solidFill>
                <a:latin typeface="-apple-system" pitchFamily="34" charset="0"/>
                <a:ea typeface="-apple-system" pitchFamily="34" charset="-122"/>
                <a:cs typeface="-apple-system" pitchFamily="34" charset="-120"/>
              </a:rPr>
              <a:t>Three page-level deliverables. Pure assembly — components plus APIs plus routing. Last track to start.</a:t>
            </a:r>
            <a:endParaRPr lang="en-US" sz="2700" dirty="0"/>
          </a:p>
        </p:txBody>
      </p:sp>
      <p:sp>
        <p:nvSpPr>
          <p:cNvPr id="9" name="Shape 7"/>
          <p:cNvSpPr/>
          <p:nvPr/>
        </p:nvSpPr>
        <p:spPr>
          <a:xfrm>
            <a:off x="952500" y="4209513"/>
            <a:ext cx="5257726" cy="2751460"/>
          </a:xfrm>
          <a:prstGeom prst="rect">
            <a:avLst/>
          </a:prstGeom>
          <a:solidFill>
            <a:srgbClr val="FAF7F0"/>
          </a:solidFill>
          <a:ln w="11906">
            <a:solidFill>
              <a:srgbClr val="D8D1C0"/>
            </a:solidFill>
            <a:prstDash val="solid"/>
          </a:ln>
        </p:spPr>
      </p:sp>
      <p:sp>
        <p:nvSpPr>
          <p:cNvPr id="10" name="Text 8"/>
          <p:cNvSpPr/>
          <p:nvPr/>
        </p:nvSpPr>
        <p:spPr>
          <a:xfrm>
            <a:off x="1307269" y="4564282"/>
            <a:ext cx="4684633" cy="442913"/>
          </a:xfrm>
          <a:prstGeom prst="rect">
            <a:avLst/>
          </a:prstGeom>
          <a:noFill/>
          <a:ln/>
        </p:spPr>
        <p:txBody>
          <a:bodyPr wrap="square" lIns="25400" tIns="25400" rIns="25400" bIns="25400" rtlCol="0" anchor="t">
            <a:normAutofit/>
          </a:bodyPr>
          <a:lstStyle/>
          <a:p>
            <a:pPr marL="0" indent="0" algn="l">
              <a:buNone/>
            </a:pPr>
            <a:r>
              <a:rPr lang="en-US" sz="2400" kern="0" spc="-12" dirty="0">
                <a:solidFill>
                  <a:srgbClr val="0F1419"/>
                </a:solidFill>
                <a:latin typeface="Arial" pitchFamily="34" charset="0"/>
                <a:ea typeface="Arial" pitchFamily="34" charset="-122"/>
                <a:cs typeface="Arial" pitchFamily="34" charset="-120"/>
              </a:rPr>
              <a:t>Home Page</a:t>
            </a:r>
            <a:endParaRPr lang="en-US" sz="2400" dirty="0"/>
          </a:p>
        </p:txBody>
      </p:sp>
      <p:sp>
        <p:nvSpPr>
          <p:cNvPr id="11" name="Text 9"/>
          <p:cNvSpPr/>
          <p:nvPr/>
        </p:nvSpPr>
        <p:spPr>
          <a:xfrm>
            <a:off x="1307269" y="5083321"/>
            <a:ext cx="4684633" cy="1077850"/>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950" dirty="0">
                <a:solidFill>
                  <a:srgbClr val="2A2F36"/>
                </a:solidFill>
                <a:latin typeface="-apple-system" pitchFamily="34" charset="0"/>
                <a:ea typeface="-apple-system" pitchFamily="34" charset="-122"/>
                <a:cs typeface="-apple-system" pitchFamily="34" charset="-120"/>
              </a:rPr>
              <a:t>Integrates public discovery APIs into the homepage layout. Routing and SEO setup.</a:t>
            </a:r>
            <a:endParaRPr lang="en-US" sz="1950" dirty="0"/>
          </a:p>
        </p:txBody>
      </p:sp>
      <p:sp>
        <p:nvSpPr>
          <p:cNvPr id="12" name="Shape 10"/>
          <p:cNvSpPr/>
          <p:nvPr/>
        </p:nvSpPr>
        <p:spPr>
          <a:xfrm>
            <a:off x="1307269" y="6237297"/>
            <a:ext cx="4548188" cy="11906"/>
          </a:xfrm>
          <a:prstGeom prst="rect">
            <a:avLst/>
          </a:prstGeom>
          <a:solidFill>
            <a:srgbClr val="D8D1C0"/>
          </a:solidFill>
          <a:ln/>
        </p:spPr>
      </p:sp>
      <p:sp>
        <p:nvSpPr>
          <p:cNvPr id="13" name="Text 11"/>
          <p:cNvSpPr/>
          <p:nvPr/>
        </p:nvSpPr>
        <p:spPr>
          <a:xfrm>
            <a:off x="1307269" y="6382404"/>
            <a:ext cx="1267011" cy="300038"/>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6B6862"/>
                </a:solidFill>
                <a:latin typeface="Arial" pitchFamily="34" charset="0"/>
                <a:ea typeface="Arial" pitchFamily="34" charset="-122"/>
                <a:cs typeface="Arial" pitchFamily="34" charset="-120"/>
              </a:rPr>
              <a:t>WK 1</a:t>
            </a:r>
            <a:endParaRPr lang="en-US" sz="1800" dirty="0"/>
          </a:p>
        </p:txBody>
      </p:sp>
      <p:sp>
        <p:nvSpPr>
          <p:cNvPr id="15" name="Shape 13"/>
          <p:cNvSpPr/>
          <p:nvPr/>
        </p:nvSpPr>
        <p:spPr>
          <a:xfrm>
            <a:off x="6514951" y="4209513"/>
            <a:ext cx="5257912" cy="2751460"/>
          </a:xfrm>
          <a:prstGeom prst="rect">
            <a:avLst/>
          </a:prstGeom>
          <a:solidFill>
            <a:srgbClr val="FAF7F0"/>
          </a:solidFill>
          <a:ln w="11906">
            <a:solidFill>
              <a:srgbClr val="D8D1C0"/>
            </a:solidFill>
            <a:prstDash val="solid"/>
          </a:ln>
        </p:spPr>
      </p:sp>
      <p:sp>
        <p:nvSpPr>
          <p:cNvPr id="16" name="Text 14"/>
          <p:cNvSpPr/>
          <p:nvPr/>
        </p:nvSpPr>
        <p:spPr>
          <a:xfrm>
            <a:off x="6869720" y="4564282"/>
            <a:ext cx="4684825" cy="442913"/>
          </a:xfrm>
          <a:prstGeom prst="rect">
            <a:avLst/>
          </a:prstGeom>
          <a:noFill/>
          <a:ln/>
        </p:spPr>
        <p:txBody>
          <a:bodyPr wrap="square" lIns="25400" tIns="25400" rIns="25400" bIns="25400" rtlCol="0" anchor="t">
            <a:normAutofit/>
          </a:bodyPr>
          <a:lstStyle/>
          <a:p>
            <a:pPr marL="0" indent="0" algn="l">
              <a:buNone/>
            </a:pPr>
            <a:r>
              <a:rPr lang="en-US" sz="2400" kern="0" spc="-12" dirty="0">
                <a:solidFill>
                  <a:srgbClr val="0F1419"/>
                </a:solidFill>
                <a:latin typeface="Arial" pitchFamily="34" charset="0"/>
                <a:ea typeface="Arial" pitchFamily="34" charset="-122"/>
                <a:cs typeface="Arial" pitchFamily="34" charset="-120"/>
              </a:rPr>
              <a:t>Search Results Page</a:t>
            </a:r>
            <a:endParaRPr lang="en-US" sz="2400" dirty="0"/>
          </a:p>
        </p:txBody>
      </p:sp>
      <p:sp>
        <p:nvSpPr>
          <p:cNvPr id="17" name="Text 15"/>
          <p:cNvSpPr/>
          <p:nvPr/>
        </p:nvSpPr>
        <p:spPr>
          <a:xfrm>
            <a:off x="6869720" y="5083321"/>
            <a:ext cx="4684825" cy="731267"/>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2A2F36"/>
                </a:solidFill>
                <a:latin typeface="-apple-system" pitchFamily="34" charset="0"/>
                <a:ea typeface="-apple-system" pitchFamily="34" charset="-122"/>
                <a:cs typeface="-apple-system" pitchFamily="34" charset="-120"/>
              </a:rPr>
              <a:t>Filter state in URL. Wires search APIs to the filter sidebar and result cards.</a:t>
            </a:r>
            <a:endParaRPr lang="en-US" sz="1950" dirty="0"/>
          </a:p>
        </p:txBody>
      </p:sp>
      <p:sp>
        <p:nvSpPr>
          <p:cNvPr id="18" name="Shape 16"/>
          <p:cNvSpPr/>
          <p:nvPr/>
        </p:nvSpPr>
        <p:spPr>
          <a:xfrm>
            <a:off x="6869720" y="6237297"/>
            <a:ext cx="4548374" cy="11906"/>
          </a:xfrm>
          <a:prstGeom prst="rect">
            <a:avLst/>
          </a:prstGeom>
          <a:solidFill>
            <a:srgbClr val="D8D1C0"/>
          </a:solidFill>
          <a:ln/>
        </p:spPr>
      </p:sp>
      <p:sp>
        <p:nvSpPr>
          <p:cNvPr id="19" name="Text 17"/>
          <p:cNvSpPr/>
          <p:nvPr/>
        </p:nvSpPr>
        <p:spPr>
          <a:xfrm>
            <a:off x="6869720" y="6382404"/>
            <a:ext cx="139091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6B6862"/>
                </a:solidFill>
                <a:latin typeface="Arial" pitchFamily="34" charset="0"/>
                <a:ea typeface="Arial" pitchFamily="34" charset="-122"/>
                <a:cs typeface="Arial" pitchFamily="34" charset="-120"/>
              </a:rPr>
              <a:t>WK 1</a:t>
            </a:r>
            <a:endParaRPr lang="en-US" sz="1800" dirty="0"/>
          </a:p>
        </p:txBody>
      </p:sp>
      <p:sp>
        <p:nvSpPr>
          <p:cNvPr id="21" name="Shape 19"/>
          <p:cNvSpPr/>
          <p:nvPr/>
        </p:nvSpPr>
        <p:spPr>
          <a:xfrm>
            <a:off x="12077588" y="4209513"/>
            <a:ext cx="5257726" cy="2751460"/>
          </a:xfrm>
          <a:prstGeom prst="rect">
            <a:avLst/>
          </a:prstGeom>
          <a:solidFill>
            <a:srgbClr val="FAF7F0"/>
          </a:solidFill>
          <a:ln w="11906">
            <a:solidFill>
              <a:srgbClr val="D8D1C0"/>
            </a:solidFill>
            <a:prstDash val="solid"/>
          </a:ln>
        </p:spPr>
      </p:sp>
      <p:sp>
        <p:nvSpPr>
          <p:cNvPr id="22" name="Text 20"/>
          <p:cNvSpPr/>
          <p:nvPr/>
        </p:nvSpPr>
        <p:spPr>
          <a:xfrm>
            <a:off x="12432357" y="4564282"/>
            <a:ext cx="4684633" cy="442913"/>
          </a:xfrm>
          <a:prstGeom prst="rect">
            <a:avLst/>
          </a:prstGeom>
          <a:noFill/>
          <a:ln/>
        </p:spPr>
        <p:txBody>
          <a:bodyPr wrap="square" lIns="25400" tIns="25400" rIns="25400" bIns="25400" rtlCol="0" anchor="t">
            <a:normAutofit/>
          </a:bodyPr>
          <a:lstStyle/>
          <a:p>
            <a:pPr marL="0" indent="0" algn="l">
              <a:buNone/>
            </a:pPr>
            <a:r>
              <a:rPr lang="en-US" sz="2400" kern="0" spc="-12" dirty="0">
                <a:solidFill>
                  <a:srgbClr val="0F1419"/>
                </a:solidFill>
                <a:latin typeface="Arial" pitchFamily="34" charset="0"/>
                <a:ea typeface="Arial" pitchFamily="34" charset="-122"/>
                <a:cs typeface="Arial" pitchFamily="34" charset="-120"/>
              </a:rPr>
              <a:t>Single Hotel Page</a:t>
            </a:r>
            <a:endParaRPr lang="en-US" sz="2400" dirty="0"/>
          </a:p>
        </p:txBody>
      </p:sp>
      <p:sp>
        <p:nvSpPr>
          <p:cNvPr id="23" name="Text 21"/>
          <p:cNvSpPr/>
          <p:nvPr/>
        </p:nvSpPr>
        <p:spPr>
          <a:xfrm>
            <a:off x="12432357" y="5083321"/>
            <a:ext cx="4684633" cy="731267"/>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2A2F36"/>
                </a:solidFill>
                <a:latin typeface="-apple-system" pitchFamily="34" charset="0"/>
                <a:ea typeface="-apple-system" pitchFamily="34" charset="-122"/>
                <a:cs typeface="-apple-system" pitchFamily="34" charset="-120"/>
              </a:rPr>
              <a:t>Wires hotel detail APIs into the detail layout. The conversion surface.</a:t>
            </a:r>
            <a:endParaRPr lang="en-US" sz="1950" dirty="0"/>
          </a:p>
        </p:txBody>
      </p:sp>
      <p:sp>
        <p:nvSpPr>
          <p:cNvPr id="24" name="Shape 22"/>
          <p:cNvSpPr/>
          <p:nvPr/>
        </p:nvSpPr>
        <p:spPr>
          <a:xfrm>
            <a:off x="12432357" y="6237297"/>
            <a:ext cx="4548188" cy="11906"/>
          </a:xfrm>
          <a:prstGeom prst="rect">
            <a:avLst/>
          </a:prstGeom>
          <a:solidFill>
            <a:srgbClr val="D8D1C0"/>
          </a:solidFill>
          <a:ln/>
        </p:spPr>
      </p:sp>
      <p:sp>
        <p:nvSpPr>
          <p:cNvPr id="25" name="Text 23"/>
          <p:cNvSpPr/>
          <p:nvPr/>
        </p:nvSpPr>
        <p:spPr>
          <a:xfrm>
            <a:off x="12432357" y="6382404"/>
            <a:ext cx="1390910" cy="300038"/>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6B6862"/>
                </a:solidFill>
                <a:latin typeface="Arial" pitchFamily="34" charset="0"/>
                <a:ea typeface="Arial" pitchFamily="34" charset="-122"/>
                <a:cs typeface="Arial" pitchFamily="34" charset="-120"/>
              </a:rPr>
              <a:t>WK 1</a:t>
            </a:r>
            <a:endParaRPr lang="en-US" sz="1800" dirty="0"/>
          </a:p>
        </p:txBody>
      </p:sp>
      <p:sp>
        <p:nvSpPr>
          <p:cNvPr id="27" name="Shape 25"/>
          <p:cNvSpPr/>
          <p:nvPr/>
        </p:nvSpPr>
        <p:spPr>
          <a:xfrm>
            <a:off x="952500" y="7094173"/>
            <a:ext cx="16383000" cy="275145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1906">
            <a:solidFill>
              <a:srgbClr val="D8D1C0"/>
            </a:solidFill>
            <a:prstDash val="solid"/>
          </a:ln>
        </p:spPr>
      </p:sp>
      <p:sp>
        <p:nvSpPr>
          <p:cNvPr id="33" name="Text 1">
            <a:extLst>
              <a:ext uri="{FF2B5EF4-FFF2-40B4-BE49-F238E27FC236}">
                <a16:creationId xmlns:a16="http://schemas.microsoft.com/office/drawing/2014/main" id="{6FDEF5BA-95FC-6B7E-F5E2-0B417D5EEB0B}"/>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21 / 22</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952500" y="857250"/>
            <a:ext cx="2124633" cy="347663"/>
          </a:xfrm>
          <a:prstGeom prst="rect">
            <a:avLst/>
          </a:prstGeom>
          <a:noFill/>
          <a:ln/>
        </p:spPr>
        <p:txBody>
          <a:bodyPr wrap="square" lIns="25400" tIns="25400" rIns="25400" bIns="25400" rtlCol="0" anchor="t">
            <a:normAutofit fontScale="85000" lnSpcReduction="10000"/>
          </a:bodyPr>
          <a:lstStyle/>
          <a:p>
            <a:pPr marL="0" indent="0" algn="l">
              <a:buNone/>
            </a:pPr>
            <a:r>
              <a:rPr lang="en-US" sz="1800" kern="0" spc="72" dirty="0">
                <a:solidFill>
                  <a:srgbClr val="0F1419"/>
                </a:solidFill>
                <a:latin typeface="Arial" pitchFamily="34" charset="0"/>
                <a:ea typeface="Arial" pitchFamily="34" charset="-122"/>
                <a:cs typeface="Arial" pitchFamily="34" charset="-120"/>
              </a:rPr>
              <a:t>HOTEL PLATFORM</a:t>
            </a:r>
            <a:endParaRPr lang="en-US" sz="1800" dirty="0"/>
          </a:p>
        </p:txBody>
      </p:sp>
      <p:sp>
        <p:nvSpPr>
          <p:cNvPr id="6" name="Text 4"/>
          <p:cNvSpPr/>
          <p:nvPr/>
        </p:nvSpPr>
        <p:spPr>
          <a:xfrm>
            <a:off x="952500" y="1623901"/>
            <a:ext cx="16874490" cy="34766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A8854A"/>
                </a:solidFill>
                <a:latin typeface="Arial" pitchFamily="34" charset="0"/>
                <a:ea typeface="Arial" pitchFamily="34" charset="-122"/>
                <a:cs typeface="Arial" pitchFamily="34" charset="-120"/>
              </a:rPr>
              <a:t>— CLOSE</a:t>
            </a:r>
            <a:endParaRPr lang="en-US" sz="1800" dirty="0"/>
          </a:p>
        </p:txBody>
      </p:sp>
      <p:sp>
        <p:nvSpPr>
          <p:cNvPr id="7" name="Text 5"/>
          <p:cNvSpPr/>
          <p:nvPr/>
        </p:nvSpPr>
        <p:spPr>
          <a:xfrm>
            <a:off x="952500" y="2200052"/>
            <a:ext cx="14716125" cy="91823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198" dirty="0">
                <a:solidFill>
                  <a:srgbClr val="0F1419"/>
                </a:solidFill>
                <a:latin typeface="-apple-system" pitchFamily="34" charset="0"/>
                <a:ea typeface="-apple-system" pitchFamily="34" charset="-122"/>
                <a:cs typeface="-apple-system" pitchFamily="34" charset="-120"/>
              </a:rPr>
              <a:t>Sequencing &amp; dependencies.</a:t>
            </a:r>
            <a:endParaRPr lang="en-US" sz="6600" dirty="0"/>
          </a:p>
        </p:txBody>
      </p:sp>
      <p:sp>
        <p:nvSpPr>
          <p:cNvPr id="9" name="Shape 7"/>
          <p:cNvSpPr/>
          <p:nvPr/>
        </p:nvSpPr>
        <p:spPr>
          <a:xfrm>
            <a:off x="952500" y="4027847"/>
            <a:ext cx="3154598" cy="1905000"/>
          </a:xfrm>
          <a:prstGeom prst="rect">
            <a:avLst/>
          </a:prstGeom>
          <a:solidFill>
            <a:srgbClr val="0F1419"/>
          </a:solidFill>
          <a:ln w="11906">
            <a:solidFill>
              <a:srgbClr val="0F1419"/>
            </a:solidFill>
            <a:prstDash val="solid"/>
          </a:ln>
        </p:spPr>
        <p:txBody>
          <a:bodyPr/>
          <a:lstStyle/>
          <a:p>
            <a:endParaRPr lang="en-US" dirty="0"/>
          </a:p>
        </p:txBody>
      </p:sp>
      <p:sp>
        <p:nvSpPr>
          <p:cNvPr id="10" name="Text 8"/>
          <p:cNvSpPr/>
          <p:nvPr/>
        </p:nvSpPr>
        <p:spPr>
          <a:xfrm>
            <a:off x="1154906" y="4306342"/>
            <a:ext cx="2832279" cy="300038"/>
          </a:xfrm>
          <a:prstGeom prst="rect">
            <a:avLst/>
          </a:prstGeom>
          <a:noFill/>
          <a:ln/>
        </p:spPr>
        <p:txBody>
          <a:bodyPr wrap="square" lIns="25400" tIns="25400" rIns="25400" bIns="25400" rtlCol="0" anchor="t">
            <a:normAutofit lnSpcReduction="10000"/>
          </a:bodyPr>
          <a:lstStyle/>
          <a:p>
            <a:pPr marL="0" indent="0" algn="l">
              <a:buNone/>
            </a:pPr>
            <a:r>
              <a:rPr lang="en-US" kern="0" spc="180" dirty="0">
                <a:solidFill>
                  <a:srgbClr val="C9A86A"/>
                </a:solidFill>
                <a:latin typeface="Arial" pitchFamily="34" charset="0"/>
                <a:ea typeface="Arial" pitchFamily="34" charset="-122"/>
                <a:cs typeface="Arial" pitchFamily="34" charset="-120"/>
              </a:rPr>
              <a:t>S</a:t>
            </a:r>
            <a:r>
              <a:rPr lang="en-US" sz="1800" kern="0" spc="180" dirty="0">
                <a:solidFill>
                  <a:srgbClr val="C9A86A"/>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1154906" y="4682505"/>
            <a:ext cx="2832279" cy="322734"/>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F5F1EA"/>
                </a:solidFill>
                <a:latin typeface="-apple-system" pitchFamily="34" charset="0"/>
                <a:ea typeface="-apple-system" pitchFamily="34" charset="-122"/>
                <a:cs typeface="-apple-system" pitchFamily="34" charset="-120"/>
              </a:rPr>
              <a:t>Database Schema</a:t>
            </a:r>
            <a:endParaRPr lang="en-US" sz="1950" dirty="0"/>
          </a:p>
        </p:txBody>
      </p:sp>
      <p:sp>
        <p:nvSpPr>
          <p:cNvPr id="12" name="Text 10"/>
          <p:cNvSpPr/>
          <p:nvPr/>
        </p:nvSpPr>
        <p:spPr>
          <a:xfrm>
            <a:off x="1154906" y="5392415"/>
            <a:ext cx="2832279" cy="300038"/>
          </a:xfrm>
          <a:prstGeom prst="rect">
            <a:avLst/>
          </a:prstGeom>
          <a:noFill/>
          <a:ln/>
        </p:spPr>
        <p:txBody>
          <a:bodyPr wrap="square" lIns="25400" tIns="25400" rIns="25400" bIns="25400" rtlCol="0" anchor="t">
            <a:normAutofit lnSpcReduction="10000"/>
          </a:bodyPr>
          <a:lstStyle/>
          <a:p>
            <a:pPr marL="0" indent="0" algn="l">
              <a:buNone/>
            </a:pPr>
            <a:r>
              <a:rPr lang="en-US" sz="1800" dirty="0" err="1">
                <a:solidFill>
                  <a:srgbClr val="F5F1EA">
                    <a:alpha val="60000"/>
                  </a:srgbClr>
                </a:solidFill>
                <a:latin typeface="Arial" pitchFamily="34" charset="0"/>
                <a:ea typeface="Arial" pitchFamily="34" charset="-122"/>
                <a:cs typeface="Arial" pitchFamily="34" charset="-120"/>
              </a:rPr>
              <a:t>Wk</a:t>
            </a:r>
            <a:r>
              <a:rPr lang="en-US" sz="1800" dirty="0">
                <a:solidFill>
                  <a:srgbClr val="F5F1EA">
                    <a:alpha val="60000"/>
                  </a:srgbClr>
                </a:solidFill>
                <a:latin typeface="Arial" pitchFamily="34" charset="0"/>
                <a:ea typeface="Arial" pitchFamily="34" charset="-122"/>
                <a:cs typeface="Arial" pitchFamily="34" charset="-120"/>
              </a:rPr>
              <a:t> 5 – 6</a:t>
            </a:r>
            <a:endParaRPr lang="en-US" sz="1800" dirty="0"/>
          </a:p>
        </p:txBody>
      </p:sp>
      <p:sp>
        <p:nvSpPr>
          <p:cNvPr id="13" name="Shape 11"/>
          <p:cNvSpPr/>
          <p:nvPr/>
        </p:nvSpPr>
        <p:spPr>
          <a:xfrm>
            <a:off x="4259461" y="4027847"/>
            <a:ext cx="3154784" cy="1905000"/>
          </a:xfrm>
          <a:prstGeom prst="rect">
            <a:avLst/>
          </a:prstGeom>
          <a:solidFill>
            <a:srgbClr val="FAF7F0"/>
          </a:solidFill>
          <a:ln w="11906">
            <a:solidFill>
              <a:srgbClr val="D8D1C0"/>
            </a:solidFill>
            <a:prstDash val="solid"/>
          </a:ln>
        </p:spPr>
      </p:sp>
      <p:sp>
        <p:nvSpPr>
          <p:cNvPr id="14" name="Text 12"/>
          <p:cNvSpPr/>
          <p:nvPr/>
        </p:nvSpPr>
        <p:spPr>
          <a:xfrm>
            <a:off x="4461867" y="4306342"/>
            <a:ext cx="2832471" cy="300038"/>
          </a:xfrm>
          <a:prstGeom prst="rect">
            <a:avLst/>
          </a:prstGeom>
          <a:noFill/>
          <a:ln/>
        </p:spPr>
        <p:txBody>
          <a:bodyPr wrap="square" lIns="25400" tIns="25400" rIns="25400" bIns="25400" rtlCol="0" anchor="t">
            <a:normAutofit lnSpcReduction="10000"/>
          </a:bodyPr>
          <a:lstStyle/>
          <a:p>
            <a:pPr marL="0" indent="0" algn="l">
              <a:buNone/>
            </a:pPr>
            <a:r>
              <a:rPr lang="en-US" kern="0" spc="180" dirty="0">
                <a:solidFill>
                  <a:srgbClr val="A8854A"/>
                </a:solidFill>
                <a:latin typeface="Arial" pitchFamily="34" charset="0"/>
                <a:ea typeface="Arial" pitchFamily="34" charset="-122"/>
                <a:cs typeface="Arial" pitchFamily="34" charset="-120"/>
              </a:rPr>
              <a:t>S2</a:t>
            </a:r>
            <a:endParaRPr lang="en-US" sz="1800" dirty="0"/>
          </a:p>
        </p:txBody>
      </p:sp>
      <p:sp>
        <p:nvSpPr>
          <p:cNvPr id="15" name="Text 13"/>
          <p:cNvSpPr/>
          <p:nvPr/>
        </p:nvSpPr>
        <p:spPr>
          <a:xfrm>
            <a:off x="4461867" y="4682505"/>
            <a:ext cx="2832471" cy="322734"/>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0F1419"/>
                </a:solidFill>
                <a:latin typeface="-apple-system" pitchFamily="34" charset="0"/>
                <a:ea typeface="-apple-system" pitchFamily="34" charset="-122"/>
                <a:cs typeface="-apple-system" pitchFamily="34" charset="-120"/>
              </a:rPr>
              <a:t>Admin CRUD</a:t>
            </a:r>
            <a:endParaRPr lang="en-US" sz="1950" dirty="0"/>
          </a:p>
        </p:txBody>
      </p:sp>
      <p:sp>
        <p:nvSpPr>
          <p:cNvPr id="16" name="Text 14"/>
          <p:cNvSpPr/>
          <p:nvPr/>
        </p:nvSpPr>
        <p:spPr>
          <a:xfrm>
            <a:off x="4461867" y="5392415"/>
            <a:ext cx="2832471" cy="300038"/>
          </a:xfrm>
          <a:prstGeom prst="rect">
            <a:avLst/>
          </a:prstGeom>
          <a:noFill/>
          <a:ln/>
        </p:spPr>
        <p:txBody>
          <a:bodyPr wrap="square" lIns="25400" tIns="25400" rIns="25400" bIns="25400" rtlCol="0" anchor="t">
            <a:normAutofit lnSpcReduction="10000"/>
          </a:bodyPr>
          <a:lstStyle/>
          <a:p>
            <a:pPr marL="0" indent="0" algn="l">
              <a:buNone/>
            </a:pPr>
            <a:r>
              <a:rPr lang="en-US" sz="1800" dirty="0" err="1">
                <a:solidFill>
                  <a:srgbClr val="6B6862"/>
                </a:solidFill>
                <a:latin typeface="Arial" pitchFamily="34" charset="0"/>
                <a:ea typeface="Arial" pitchFamily="34" charset="-122"/>
                <a:cs typeface="Arial" pitchFamily="34" charset="-120"/>
              </a:rPr>
              <a:t>Wk</a:t>
            </a:r>
            <a:r>
              <a:rPr lang="en-US" sz="1800" dirty="0">
                <a:solidFill>
                  <a:srgbClr val="6B6862"/>
                </a:solidFill>
                <a:latin typeface="Arial" pitchFamily="34" charset="0"/>
                <a:ea typeface="Arial" pitchFamily="34" charset="-122"/>
                <a:cs typeface="Arial" pitchFamily="34" charset="-120"/>
              </a:rPr>
              <a:t> 6 – 10</a:t>
            </a:r>
            <a:endParaRPr lang="en-US" sz="1800" dirty="0"/>
          </a:p>
        </p:txBody>
      </p:sp>
      <p:sp>
        <p:nvSpPr>
          <p:cNvPr id="17" name="Shape 15"/>
          <p:cNvSpPr/>
          <p:nvPr/>
        </p:nvSpPr>
        <p:spPr>
          <a:xfrm>
            <a:off x="7566608" y="4027847"/>
            <a:ext cx="3154598" cy="1905000"/>
          </a:xfrm>
          <a:prstGeom prst="rect">
            <a:avLst/>
          </a:prstGeom>
          <a:solidFill>
            <a:srgbClr val="FAF7F0"/>
          </a:solidFill>
          <a:ln w="11906">
            <a:solidFill>
              <a:srgbClr val="D8D1C0"/>
            </a:solidFill>
            <a:prstDash val="solid"/>
          </a:ln>
        </p:spPr>
      </p:sp>
      <p:sp>
        <p:nvSpPr>
          <p:cNvPr id="18" name="Text 16"/>
          <p:cNvSpPr/>
          <p:nvPr/>
        </p:nvSpPr>
        <p:spPr>
          <a:xfrm>
            <a:off x="7769014" y="4306342"/>
            <a:ext cx="2832279" cy="300038"/>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A8854A"/>
                </a:solidFill>
                <a:latin typeface="Arial" pitchFamily="34" charset="0"/>
                <a:ea typeface="Arial" pitchFamily="34" charset="-122"/>
                <a:cs typeface="Arial" pitchFamily="34" charset="-120"/>
              </a:rPr>
              <a:t>S3</a:t>
            </a:r>
            <a:endParaRPr lang="en-US" sz="1800" dirty="0"/>
          </a:p>
        </p:txBody>
      </p:sp>
      <p:sp>
        <p:nvSpPr>
          <p:cNvPr id="19" name="Text 17"/>
          <p:cNvSpPr/>
          <p:nvPr/>
        </p:nvSpPr>
        <p:spPr>
          <a:xfrm>
            <a:off x="7769014" y="4682505"/>
            <a:ext cx="2832279" cy="322734"/>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0F1419"/>
                </a:solidFill>
                <a:latin typeface="-apple-system" pitchFamily="34" charset="0"/>
                <a:ea typeface="-apple-system" pitchFamily="34" charset="-122"/>
                <a:cs typeface="-apple-system" pitchFamily="34" charset="-120"/>
              </a:rPr>
              <a:t>Frontend Library</a:t>
            </a:r>
            <a:endParaRPr lang="en-US" sz="1950" dirty="0"/>
          </a:p>
        </p:txBody>
      </p:sp>
      <p:sp>
        <p:nvSpPr>
          <p:cNvPr id="20" name="Text 18"/>
          <p:cNvSpPr/>
          <p:nvPr/>
        </p:nvSpPr>
        <p:spPr>
          <a:xfrm>
            <a:off x="7769014" y="5392415"/>
            <a:ext cx="2832279" cy="300038"/>
          </a:xfrm>
          <a:prstGeom prst="rect">
            <a:avLst/>
          </a:prstGeom>
          <a:noFill/>
          <a:ln/>
        </p:spPr>
        <p:txBody>
          <a:bodyPr wrap="square" lIns="25400" tIns="25400" rIns="25400" bIns="25400" rtlCol="0" anchor="t">
            <a:normAutofit lnSpcReduction="10000"/>
          </a:bodyPr>
          <a:lstStyle/>
          <a:p>
            <a:pPr marL="0" indent="0" algn="l">
              <a:buNone/>
            </a:pPr>
            <a:r>
              <a:rPr lang="en-US" sz="1800" dirty="0" err="1">
                <a:solidFill>
                  <a:srgbClr val="6B6862"/>
                </a:solidFill>
                <a:latin typeface="Arial" pitchFamily="34" charset="0"/>
                <a:ea typeface="Arial" pitchFamily="34" charset="-122"/>
                <a:cs typeface="Arial" pitchFamily="34" charset="-120"/>
              </a:rPr>
              <a:t>Wk</a:t>
            </a:r>
            <a:r>
              <a:rPr lang="en-US" sz="1800" dirty="0">
                <a:solidFill>
                  <a:srgbClr val="6B6862"/>
                </a:solidFill>
                <a:latin typeface="Arial" pitchFamily="34" charset="0"/>
                <a:ea typeface="Arial" pitchFamily="34" charset="-122"/>
                <a:cs typeface="Arial" pitchFamily="34" charset="-120"/>
              </a:rPr>
              <a:t> 7 – 10</a:t>
            </a:r>
            <a:endParaRPr lang="en-US" sz="1800" dirty="0"/>
          </a:p>
        </p:txBody>
      </p:sp>
      <p:sp>
        <p:nvSpPr>
          <p:cNvPr id="21" name="Shape 19"/>
          <p:cNvSpPr/>
          <p:nvPr/>
        </p:nvSpPr>
        <p:spPr>
          <a:xfrm>
            <a:off x="10873569" y="4027847"/>
            <a:ext cx="3154784" cy="1905000"/>
          </a:xfrm>
          <a:prstGeom prst="rect">
            <a:avLst/>
          </a:prstGeom>
          <a:solidFill>
            <a:srgbClr val="FAF7F0"/>
          </a:solidFill>
          <a:ln w="11906">
            <a:solidFill>
              <a:srgbClr val="D8D1C0"/>
            </a:solidFill>
            <a:prstDash val="solid"/>
          </a:ln>
        </p:spPr>
      </p:sp>
      <p:sp>
        <p:nvSpPr>
          <p:cNvPr id="22" name="Text 20"/>
          <p:cNvSpPr/>
          <p:nvPr/>
        </p:nvSpPr>
        <p:spPr>
          <a:xfrm>
            <a:off x="11075975" y="4306342"/>
            <a:ext cx="2832471" cy="300038"/>
          </a:xfrm>
          <a:prstGeom prst="rect">
            <a:avLst/>
          </a:prstGeom>
          <a:noFill/>
          <a:ln/>
        </p:spPr>
        <p:txBody>
          <a:bodyPr wrap="square" lIns="25400" tIns="25400" rIns="25400" bIns="25400" rtlCol="0" anchor="t">
            <a:normAutofit lnSpcReduction="10000"/>
          </a:bodyPr>
          <a:lstStyle/>
          <a:p>
            <a:pPr marL="0" indent="0" algn="l">
              <a:buNone/>
            </a:pPr>
            <a:r>
              <a:rPr lang="en-US" kern="0" spc="180" dirty="0">
                <a:solidFill>
                  <a:srgbClr val="A8854A"/>
                </a:solidFill>
                <a:latin typeface="Arial" pitchFamily="34" charset="0"/>
                <a:ea typeface="Arial" pitchFamily="34" charset="-122"/>
                <a:cs typeface="Arial" pitchFamily="34" charset="-120"/>
              </a:rPr>
              <a:t>S</a:t>
            </a:r>
            <a:r>
              <a:rPr lang="en-US" sz="1800" kern="0" spc="180" dirty="0">
                <a:solidFill>
                  <a:srgbClr val="A8854A"/>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11075975" y="4682505"/>
            <a:ext cx="2832471" cy="322734"/>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0F1419"/>
                </a:solidFill>
                <a:latin typeface="-apple-system" pitchFamily="34" charset="0"/>
                <a:ea typeface="-apple-system" pitchFamily="34" charset="-122"/>
                <a:cs typeface="-apple-system" pitchFamily="34" charset="-120"/>
              </a:rPr>
              <a:t>Public APIs</a:t>
            </a:r>
            <a:endParaRPr lang="en-US" sz="1950" dirty="0"/>
          </a:p>
        </p:txBody>
      </p:sp>
      <p:sp>
        <p:nvSpPr>
          <p:cNvPr id="24" name="Text 22"/>
          <p:cNvSpPr/>
          <p:nvPr/>
        </p:nvSpPr>
        <p:spPr>
          <a:xfrm>
            <a:off x="11075975" y="5392415"/>
            <a:ext cx="2832471" cy="300038"/>
          </a:xfrm>
          <a:prstGeom prst="rect">
            <a:avLst/>
          </a:prstGeom>
          <a:noFill/>
          <a:ln/>
        </p:spPr>
        <p:txBody>
          <a:bodyPr wrap="square" lIns="25400" tIns="25400" rIns="25400" bIns="25400" rtlCol="0" anchor="t">
            <a:normAutofit lnSpcReduction="10000"/>
          </a:bodyPr>
          <a:lstStyle/>
          <a:p>
            <a:pPr marL="0" indent="0" algn="l">
              <a:buNone/>
            </a:pPr>
            <a:r>
              <a:rPr lang="en-US" sz="1800" dirty="0" err="1">
                <a:solidFill>
                  <a:srgbClr val="6B6862"/>
                </a:solidFill>
                <a:latin typeface="Arial" pitchFamily="34" charset="0"/>
                <a:ea typeface="Arial" pitchFamily="34" charset="-122"/>
                <a:cs typeface="Arial" pitchFamily="34" charset="-120"/>
              </a:rPr>
              <a:t>Wk</a:t>
            </a:r>
            <a:r>
              <a:rPr lang="en-US" sz="1800" dirty="0">
                <a:solidFill>
                  <a:srgbClr val="6B6862"/>
                </a:solidFill>
                <a:latin typeface="Arial" pitchFamily="34" charset="0"/>
                <a:ea typeface="Arial" pitchFamily="34" charset="-122"/>
                <a:cs typeface="Arial" pitchFamily="34" charset="-120"/>
              </a:rPr>
              <a:t> 3 – 6</a:t>
            </a:r>
            <a:endParaRPr lang="en-US" sz="1800" dirty="0"/>
          </a:p>
        </p:txBody>
      </p:sp>
      <p:sp>
        <p:nvSpPr>
          <p:cNvPr id="25" name="Shape 23"/>
          <p:cNvSpPr/>
          <p:nvPr/>
        </p:nvSpPr>
        <p:spPr>
          <a:xfrm>
            <a:off x="14180716" y="4027847"/>
            <a:ext cx="3154598" cy="1905000"/>
          </a:xfrm>
          <a:prstGeom prst="rect">
            <a:avLst/>
          </a:prstGeom>
          <a:solidFill>
            <a:srgbClr val="FAF7F0"/>
          </a:solidFill>
          <a:ln w="11906">
            <a:solidFill>
              <a:srgbClr val="D8D1C0"/>
            </a:solidFill>
            <a:prstDash val="solid"/>
          </a:ln>
        </p:spPr>
      </p:sp>
      <p:sp>
        <p:nvSpPr>
          <p:cNvPr id="26" name="Text 24"/>
          <p:cNvSpPr/>
          <p:nvPr/>
        </p:nvSpPr>
        <p:spPr>
          <a:xfrm>
            <a:off x="14383122" y="4306342"/>
            <a:ext cx="2832279" cy="300038"/>
          </a:xfrm>
          <a:prstGeom prst="rect">
            <a:avLst/>
          </a:prstGeom>
          <a:noFill/>
          <a:ln/>
        </p:spPr>
        <p:txBody>
          <a:bodyPr wrap="square" lIns="25400" tIns="25400" rIns="25400" bIns="25400" rtlCol="0" anchor="t">
            <a:normAutofit lnSpcReduction="10000"/>
          </a:bodyPr>
          <a:lstStyle/>
          <a:p>
            <a:pPr marL="0" indent="0" algn="l">
              <a:buNone/>
            </a:pPr>
            <a:r>
              <a:rPr lang="en-US" kern="0" spc="180" dirty="0">
                <a:solidFill>
                  <a:srgbClr val="A8854A"/>
                </a:solidFill>
                <a:latin typeface="Arial" pitchFamily="34" charset="0"/>
                <a:ea typeface="Arial" pitchFamily="34" charset="-122"/>
                <a:cs typeface="Arial" pitchFamily="34" charset="-120"/>
              </a:rPr>
              <a:t>S</a:t>
            </a:r>
            <a:r>
              <a:rPr lang="en-US" sz="1800" kern="0" spc="180" dirty="0">
                <a:solidFill>
                  <a:srgbClr val="A8854A"/>
                </a:solidFill>
                <a:latin typeface="Arial" pitchFamily="34" charset="0"/>
                <a:ea typeface="Arial" pitchFamily="34" charset="-122"/>
                <a:cs typeface="Arial" pitchFamily="34" charset="-120"/>
              </a:rPr>
              <a:t>5</a:t>
            </a:r>
            <a:endParaRPr lang="en-US" sz="1800" dirty="0"/>
          </a:p>
        </p:txBody>
      </p:sp>
      <p:sp>
        <p:nvSpPr>
          <p:cNvPr id="27" name="Text 25"/>
          <p:cNvSpPr/>
          <p:nvPr/>
        </p:nvSpPr>
        <p:spPr>
          <a:xfrm>
            <a:off x="14383122" y="4682505"/>
            <a:ext cx="2832279" cy="322734"/>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b="1" kern="0" spc="-19" dirty="0">
                <a:solidFill>
                  <a:srgbClr val="0F1419"/>
                </a:solidFill>
                <a:latin typeface="-apple-system" pitchFamily="34" charset="0"/>
                <a:ea typeface="-apple-system" pitchFamily="34" charset="-122"/>
                <a:cs typeface="-apple-system" pitchFamily="34" charset="-120"/>
              </a:rPr>
              <a:t>Page Integration</a:t>
            </a:r>
            <a:endParaRPr lang="en-US" sz="1950" dirty="0"/>
          </a:p>
        </p:txBody>
      </p:sp>
      <p:sp>
        <p:nvSpPr>
          <p:cNvPr id="28" name="Text 26"/>
          <p:cNvSpPr/>
          <p:nvPr/>
        </p:nvSpPr>
        <p:spPr>
          <a:xfrm>
            <a:off x="14383122" y="5392415"/>
            <a:ext cx="2832279" cy="300038"/>
          </a:xfrm>
          <a:prstGeom prst="rect">
            <a:avLst/>
          </a:prstGeom>
          <a:noFill/>
          <a:ln/>
        </p:spPr>
        <p:txBody>
          <a:bodyPr wrap="square" lIns="25400" tIns="25400" rIns="25400" bIns="25400" rtlCol="0" anchor="t">
            <a:normAutofit lnSpcReduction="10000"/>
          </a:bodyPr>
          <a:lstStyle/>
          <a:p>
            <a:pPr marL="0" indent="0" algn="l">
              <a:buNone/>
            </a:pPr>
            <a:r>
              <a:rPr lang="en-US" sz="1800" dirty="0" err="1">
                <a:solidFill>
                  <a:srgbClr val="6B6862"/>
                </a:solidFill>
                <a:latin typeface="Arial" pitchFamily="34" charset="0"/>
                <a:ea typeface="Arial" pitchFamily="34" charset="-122"/>
                <a:cs typeface="Arial" pitchFamily="34" charset="-120"/>
              </a:rPr>
              <a:t>Wk</a:t>
            </a:r>
            <a:r>
              <a:rPr lang="en-US" sz="1800" dirty="0">
                <a:solidFill>
                  <a:srgbClr val="6B6862"/>
                </a:solidFill>
                <a:latin typeface="Arial" pitchFamily="34" charset="0"/>
                <a:ea typeface="Arial" pitchFamily="34" charset="-122"/>
                <a:cs typeface="Arial" pitchFamily="34" charset="-120"/>
              </a:rPr>
              <a:t> </a:t>
            </a:r>
            <a:r>
              <a:rPr lang="en-US" dirty="0">
                <a:solidFill>
                  <a:srgbClr val="6B6862"/>
                </a:solidFill>
                <a:latin typeface="Arial" pitchFamily="34" charset="0"/>
                <a:ea typeface="Arial" pitchFamily="34" charset="-122"/>
                <a:cs typeface="Arial" pitchFamily="34" charset="-120"/>
              </a:rPr>
              <a:t>3</a:t>
            </a:r>
            <a:r>
              <a:rPr lang="en-US" sz="1800" dirty="0">
                <a:solidFill>
                  <a:srgbClr val="6B6862"/>
                </a:solidFill>
                <a:latin typeface="Arial" pitchFamily="34" charset="0"/>
                <a:ea typeface="Arial" pitchFamily="34" charset="-122"/>
                <a:cs typeface="Arial" pitchFamily="34" charset="-120"/>
              </a:rPr>
              <a:t> – </a:t>
            </a:r>
            <a:r>
              <a:rPr lang="en-US" dirty="0">
                <a:solidFill>
                  <a:srgbClr val="6B6862"/>
                </a:solidFill>
                <a:latin typeface="Arial" pitchFamily="34" charset="0"/>
                <a:ea typeface="Arial" pitchFamily="34" charset="-122"/>
                <a:cs typeface="Arial" pitchFamily="34" charset="-120"/>
              </a:rPr>
              <a:t>6</a:t>
            </a:r>
            <a:endParaRPr lang="en-US" sz="1800" dirty="0"/>
          </a:p>
        </p:txBody>
      </p:sp>
      <p:sp>
        <p:nvSpPr>
          <p:cNvPr id="29" name="Shape 27"/>
          <p:cNvSpPr/>
          <p:nvPr/>
        </p:nvSpPr>
        <p:spPr>
          <a:xfrm>
            <a:off x="952500" y="6389936"/>
            <a:ext cx="16383000" cy="11906"/>
          </a:xfrm>
          <a:prstGeom prst="rect">
            <a:avLst/>
          </a:prstGeom>
          <a:solidFill>
            <a:srgbClr val="D8D1C0"/>
          </a:solidFill>
          <a:ln/>
        </p:spPr>
      </p:sp>
      <p:sp>
        <p:nvSpPr>
          <p:cNvPr id="30" name="Shape 28"/>
          <p:cNvSpPr/>
          <p:nvPr/>
        </p:nvSpPr>
        <p:spPr>
          <a:xfrm>
            <a:off x="5036344" y="6401842"/>
            <a:ext cx="11906" cy="1519163"/>
          </a:xfrm>
          <a:prstGeom prst="rect">
            <a:avLst/>
          </a:prstGeom>
          <a:solidFill>
            <a:srgbClr val="D8D1C0"/>
          </a:solidFill>
          <a:ln/>
        </p:spPr>
      </p:sp>
      <p:sp>
        <p:nvSpPr>
          <p:cNvPr id="31" name="Text 29"/>
          <p:cNvSpPr/>
          <p:nvPr/>
        </p:nvSpPr>
        <p:spPr>
          <a:xfrm>
            <a:off x="952500" y="6706567"/>
            <a:ext cx="3892492" cy="876374"/>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98" dirty="0">
                <a:solidFill>
                  <a:srgbClr val="0F1419"/>
                </a:solidFill>
                <a:latin typeface="-apple-system" pitchFamily="34" charset="0"/>
                <a:ea typeface="-apple-system" pitchFamily="34" charset="-122"/>
                <a:cs typeface="-apple-system" pitchFamily="34" charset="-120"/>
              </a:rPr>
              <a:t>23</a:t>
            </a:r>
            <a:endParaRPr lang="en-US" sz="6600" dirty="0"/>
          </a:p>
        </p:txBody>
      </p:sp>
      <p:sp>
        <p:nvSpPr>
          <p:cNvPr id="32" name="Text 30"/>
          <p:cNvSpPr/>
          <p:nvPr/>
        </p:nvSpPr>
        <p:spPr>
          <a:xfrm>
            <a:off x="952500" y="7659067"/>
            <a:ext cx="389249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B6862"/>
                </a:solidFill>
                <a:latin typeface="Arial" pitchFamily="34" charset="0"/>
                <a:ea typeface="Arial" pitchFamily="34" charset="-122"/>
                <a:cs typeface="Arial" pitchFamily="34" charset="-120"/>
              </a:rPr>
              <a:t>TABLES · CRUD</a:t>
            </a:r>
            <a:endParaRPr lang="en-US" sz="1800" dirty="0"/>
          </a:p>
        </p:txBody>
      </p:sp>
      <p:sp>
        <p:nvSpPr>
          <p:cNvPr id="33" name="Shape 31"/>
          <p:cNvSpPr/>
          <p:nvPr/>
        </p:nvSpPr>
        <p:spPr>
          <a:xfrm>
            <a:off x="9132094" y="6401842"/>
            <a:ext cx="11906" cy="1519163"/>
          </a:xfrm>
          <a:prstGeom prst="rect">
            <a:avLst/>
          </a:prstGeom>
          <a:solidFill>
            <a:srgbClr val="D8D1C0"/>
          </a:solidFill>
          <a:ln/>
        </p:spPr>
      </p:sp>
      <p:sp>
        <p:nvSpPr>
          <p:cNvPr id="34" name="Text 32"/>
          <p:cNvSpPr/>
          <p:nvPr/>
        </p:nvSpPr>
        <p:spPr>
          <a:xfrm>
            <a:off x="5048250" y="6706567"/>
            <a:ext cx="3892492" cy="876374"/>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98" dirty="0">
                <a:solidFill>
                  <a:srgbClr val="0F1419"/>
                </a:solidFill>
                <a:latin typeface="-apple-system" pitchFamily="34" charset="0"/>
                <a:ea typeface="-apple-system" pitchFamily="34" charset="-122"/>
                <a:cs typeface="-apple-system" pitchFamily="34" charset="-120"/>
              </a:rPr>
              <a:t>33</a:t>
            </a:r>
            <a:endParaRPr lang="en-US" sz="6600" dirty="0"/>
          </a:p>
        </p:txBody>
      </p:sp>
      <p:sp>
        <p:nvSpPr>
          <p:cNvPr id="35" name="Text 33"/>
          <p:cNvSpPr/>
          <p:nvPr/>
        </p:nvSpPr>
        <p:spPr>
          <a:xfrm>
            <a:off x="5048250" y="7659067"/>
            <a:ext cx="389249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B6862"/>
                </a:solidFill>
                <a:latin typeface="Arial" pitchFamily="34" charset="0"/>
                <a:ea typeface="Arial" pitchFamily="34" charset="-122"/>
                <a:cs typeface="Arial" pitchFamily="34" charset="-120"/>
              </a:rPr>
              <a:t>FE COMPONENTS</a:t>
            </a:r>
            <a:endParaRPr lang="en-US" sz="1800" dirty="0"/>
          </a:p>
        </p:txBody>
      </p:sp>
      <p:sp>
        <p:nvSpPr>
          <p:cNvPr id="36" name="Shape 34"/>
          <p:cNvSpPr/>
          <p:nvPr/>
        </p:nvSpPr>
        <p:spPr>
          <a:xfrm>
            <a:off x="13227844" y="6401842"/>
            <a:ext cx="11906" cy="1519163"/>
          </a:xfrm>
          <a:prstGeom prst="rect">
            <a:avLst/>
          </a:prstGeom>
          <a:solidFill>
            <a:srgbClr val="D8D1C0"/>
          </a:solidFill>
          <a:ln/>
        </p:spPr>
      </p:sp>
      <p:sp>
        <p:nvSpPr>
          <p:cNvPr id="37" name="Text 35"/>
          <p:cNvSpPr/>
          <p:nvPr/>
        </p:nvSpPr>
        <p:spPr>
          <a:xfrm>
            <a:off x="9144000" y="6706567"/>
            <a:ext cx="3892492" cy="876374"/>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98" dirty="0">
                <a:solidFill>
                  <a:srgbClr val="0F1419"/>
                </a:solidFill>
                <a:latin typeface="-apple-system" pitchFamily="34" charset="0"/>
                <a:ea typeface="-apple-system" pitchFamily="34" charset="-122"/>
                <a:cs typeface="-apple-system" pitchFamily="34" charset="-120"/>
              </a:rPr>
              <a:t>19</a:t>
            </a:r>
            <a:endParaRPr lang="en-US" sz="6600" dirty="0"/>
          </a:p>
        </p:txBody>
      </p:sp>
      <p:sp>
        <p:nvSpPr>
          <p:cNvPr id="38" name="Text 36"/>
          <p:cNvSpPr/>
          <p:nvPr/>
        </p:nvSpPr>
        <p:spPr>
          <a:xfrm>
            <a:off x="9144000" y="7659067"/>
            <a:ext cx="3892492" cy="300038"/>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B6862"/>
                </a:solidFill>
                <a:latin typeface="Arial" pitchFamily="34" charset="0"/>
                <a:ea typeface="Arial" pitchFamily="34" charset="-122"/>
                <a:cs typeface="Arial" pitchFamily="34" charset="-120"/>
              </a:rPr>
              <a:t>PUBLIC APIS</a:t>
            </a:r>
            <a:endParaRPr lang="en-US" sz="1800" dirty="0"/>
          </a:p>
        </p:txBody>
      </p:sp>
      <p:sp>
        <p:nvSpPr>
          <p:cNvPr id="39" name="Text 37"/>
          <p:cNvSpPr/>
          <p:nvPr/>
        </p:nvSpPr>
        <p:spPr>
          <a:xfrm>
            <a:off x="13239750" y="6706567"/>
            <a:ext cx="3904755" cy="876374"/>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98" dirty="0">
                <a:solidFill>
                  <a:srgbClr val="0F1419"/>
                </a:solidFill>
                <a:latin typeface="-apple-system" pitchFamily="34" charset="0"/>
                <a:ea typeface="-apple-system" pitchFamily="34" charset="-122"/>
                <a:cs typeface="-apple-system" pitchFamily="34" charset="-120"/>
              </a:rPr>
              <a:t>27 – 38 </a:t>
            </a:r>
            <a:r>
              <a:rPr lang="en-US" sz="6600" b="1" kern="0" spc="-198" dirty="0" err="1">
                <a:solidFill>
                  <a:srgbClr val="0F1419"/>
                </a:solidFill>
                <a:latin typeface="-apple-system" pitchFamily="34" charset="0"/>
                <a:ea typeface="-apple-system" pitchFamily="34" charset="-122"/>
                <a:cs typeface="-apple-system" pitchFamily="34" charset="-120"/>
              </a:rPr>
              <a:t>Wk</a:t>
            </a:r>
            <a:endParaRPr lang="en-US" sz="6600" dirty="0"/>
          </a:p>
        </p:txBody>
      </p:sp>
      <p:sp>
        <p:nvSpPr>
          <p:cNvPr id="40" name="Text 38"/>
          <p:cNvSpPr/>
          <p:nvPr/>
        </p:nvSpPr>
        <p:spPr>
          <a:xfrm>
            <a:off x="13239750" y="7659067"/>
            <a:ext cx="3904755" cy="1004032"/>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6B6862"/>
                </a:solidFill>
                <a:latin typeface="Arial" pitchFamily="34" charset="0"/>
                <a:ea typeface="Arial" pitchFamily="34" charset="-122"/>
                <a:cs typeface="Arial" pitchFamily="34" charset="-120"/>
              </a:rPr>
              <a:t>10 – 16 FRONTEND.</a:t>
            </a:r>
          </a:p>
          <a:p>
            <a:r>
              <a:rPr lang="en-US" kern="0" spc="180" dirty="0">
                <a:solidFill>
                  <a:srgbClr val="6B6862"/>
                </a:solidFill>
                <a:latin typeface="Arial" pitchFamily="34" charset="0"/>
                <a:cs typeface="Arial" pitchFamily="34" charset="-120"/>
              </a:rPr>
              <a:t>17 </a:t>
            </a:r>
            <a:r>
              <a:rPr lang="en-US" kern="0" spc="180" dirty="0">
                <a:solidFill>
                  <a:srgbClr val="6B6862"/>
                </a:solidFill>
                <a:latin typeface="Arial" pitchFamily="34" charset="0"/>
                <a:ea typeface="Arial" pitchFamily="34" charset="-122"/>
                <a:cs typeface="Arial" pitchFamily="34" charset="-120"/>
              </a:rPr>
              <a:t>–</a:t>
            </a:r>
            <a:r>
              <a:rPr lang="en-US" kern="0" spc="180" dirty="0">
                <a:solidFill>
                  <a:srgbClr val="6B6862"/>
                </a:solidFill>
                <a:latin typeface="Arial" pitchFamily="34" charset="0"/>
                <a:cs typeface="Arial" pitchFamily="34" charset="-120"/>
              </a:rPr>
              <a:t> 28 BACKEND</a:t>
            </a:r>
            <a:endParaRPr lang="en-US" sz="1800" dirty="0"/>
          </a:p>
        </p:txBody>
      </p:sp>
      <p:sp>
        <p:nvSpPr>
          <p:cNvPr id="43" name="Text 1">
            <a:extLst>
              <a:ext uri="{FF2B5EF4-FFF2-40B4-BE49-F238E27FC236}">
                <a16:creationId xmlns:a16="http://schemas.microsoft.com/office/drawing/2014/main" id="{39C625FF-064B-281D-AE00-AA74AFF142F8}"/>
              </a:ext>
            </a:extLst>
          </p:cNvPr>
          <p:cNvSpPr/>
          <p:nvPr/>
        </p:nvSpPr>
        <p:spPr>
          <a:xfrm>
            <a:off x="16395821" y="881063"/>
            <a:ext cx="839316" cy="300038"/>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6B6862"/>
                </a:solidFill>
                <a:latin typeface="Arial" pitchFamily="34" charset="0"/>
                <a:ea typeface="Arial" pitchFamily="34" charset="-122"/>
                <a:cs typeface="Arial" pitchFamily="34" charset="-120"/>
              </a:rPr>
              <a:t>22 / 22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3913</Words>
  <Application>Microsoft Office PowerPoint</Application>
  <PresentationFormat>Custom</PresentationFormat>
  <Paragraphs>456</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-apple-system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cp:revision>
  <dcterms:created xsi:type="dcterms:W3CDTF">2026-05-05T08:28:18Z</dcterms:created>
  <dcterms:modified xsi:type="dcterms:W3CDTF">2026-05-05T11:17:08Z</dcterms:modified>
</cp:coreProperties>
</file>